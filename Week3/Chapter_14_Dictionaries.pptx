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62" r:id="rId3"/>
    <p:sldId id="263" r:id="rId4"/>
    <p:sldId id="292" r:id="rId5"/>
    <p:sldId id="297" r:id="rId6"/>
    <p:sldId id="333" r:id="rId7"/>
    <p:sldId id="332" r:id="rId8"/>
    <p:sldId id="261" r:id="rId9"/>
    <p:sldId id="298" r:id="rId10"/>
    <p:sldId id="335" r:id="rId11"/>
    <p:sldId id="336" r:id="rId12"/>
    <p:sldId id="337" r:id="rId13"/>
    <p:sldId id="340" r:id="rId14"/>
    <p:sldId id="339" r:id="rId15"/>
    <p:sldId id="334" r:id="rId16"/>
    <p:sldId id="341" r:id="rId17"/>
    <p:sldId id="342" r:id="rId18"/>
    <p:sldId id="344" r:id="rId19"/>
    <p:sldId id="343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7" r:id="rId33"/>
    <p:sldId id="359" r:id="rId34"/>
    <p:sldId id="358" r:id="rId35"/>
    <p:sldId id="291" r:id="rId36"/>
    <p:sldId id="289" r:id="rId37"/>
    <p:sldId id="290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3C1"/>
    <a:srgbClr val="00B050"/>
    <a:srgbClr val="775F55"/>
    <a:srgbClr val="EBD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0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0BCDD-61A2-4B3C-B3D8-3AFB7640D0CC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305E3-1791-489D-8957-14272FFA6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55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F4CAB-E960-721F-7E65-FEB14CE1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A46754-CF45-59D0-EB1F-38906F49B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5CE38-F06D-B74E-D651-06C837EAD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E88FA9-980B-7E3B-9931-C6864A3F9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14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E10C3-4C86-E4BA-1E9E-36D883BA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82FD83-CEB8-CFB6-3839-3790219FB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C44471-0261-880B-3699-4AED5EF86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BDC368-A14B-B450-EDCF-74C0B04DA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39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2521-3965-FFD3-5C45-13EF38E4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A2CA5D-5223-74E7-753D-ED0E55F9C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C393AE-5C34-E04E-21AB-C4DAD99BF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977A6-BAC3-83D4-82FD-E8CD755B3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31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73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7CA9-B33E-E833-4F27-8BF92CDA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B55296-ED8E-943C-9DAC-031B1E966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703347-8F1C-70BF-FAB8-0CD4CA2C8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18B43A-049E-0845-3692-383B0150E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70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95C27-AD7B-1689-F964-E5F788DA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EF1343-76DE-E30F-FE5A-46ABF1007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D3FC1A-AFEC-1CAA-58C5-5B3D31997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F5F7E-6C27-B2AE-BF09-F6DF8DDEF7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89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BF53A-D2B2-275D-E32C-4DB0436C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7DC880-5605-01F0-502D-B59BB17FF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5D8E33-9140-DDC2-BDE6-1F4869586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C45A9-9D20-4485-6551-F7E24066F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74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E6A5C-5E65-B522-8B52-BF32169A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C3694A-503C-92B8-005A-9D2161146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5C618F-28F9-BDE6-FCBC-94B995D73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2B103D-9AA7-2F3E-CDD8-4A663FE49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85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7E70-C579-03BB-DED1-9F7914E0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68E258-E965-737E-990D-D870A6D2F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D5AF24-CB8C-93D3-84DE-B2E13E767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74EEE1-7FA4-1324-0A8A-332A9C58F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06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C4E7B-0AFC-B7F0-28BF-08DC982A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8BEAF2-98C4-6BE6-6AE2-01436BE72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9A2FFC-2C63-348A-1DA9-60E02BA3D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ED2806-7E15-7C51-29A6-289E919248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28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0AD6-D892-061F-1A97-EB117896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B740D8-C182-8B6C-0EDA-590499527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5F286F-6F8C-A40E-E2AF-5298C8A46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4080F-E644-F9A6-4DE5-3A7F747E1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74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0F5A-B1A3-8737-427A-30E956C93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2F3ABD-7D62-167D-54F0-169FE4741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4C1BE1-EF3A-E8B1-D5E3-9D6E13C6F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0E5A25-E676-9D2F-DAB1-4AD75AFF7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80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4D5EF-B843-AD73-1804-E65495F07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E0D3C6-8221-1455-B9E5-317C0C8A1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1506E2-C28B-5138-F8D3-6D7A47175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07B93-544A-B44B-5E65-D03BDD194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10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0A49-9601-4E05-8F44-63AAFC655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D912ED-D8F0-35B6-1427-929C9300F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108183-BD92-6551-ACC7-290FF0D0C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EE401D-820C-97DD-5DBE-7A8A623456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71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8092D-3480-EB77-61BF-1ECE2FA1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093E75-9029-6CCD-2D9A-C666F2201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6E8C93-C53F-5F97-0C49-AEE04E2A4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3C3C52-35F6-B3C0-9E36-A9DD4C7D6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73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A809-CFF7-E4AE-25CC-97E220F8C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E0E30E-1763-7D69-0C90-3F57302C7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C2702C-8326-42A6-47B0-6B6B1ACE7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952D8-5610-4EB4-F896-1EC8D7049A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522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1A09-58DE-4C7D-1C71-92575E84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3A47E0-DB15-B527-2717-224EA1EAD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DE0639-954B-D672-C9D9-B07140D3B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24ADE4-ED0C-B902-205A-B5AFD00B3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980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8599-1B34-1E6A-F5C8-7E3755B0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3DA79A-1B4B-E493-0CAC-1BE9BF646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1FAF4F-9D5C-B829-C763-D0CD49A9B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DF75C-027C-C64C-1EE1-FDBCCC851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01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69F4-56DE-41EC-F651-2B5FE4A3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EC155F-B759-A43E-BC32-ED503A769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410640-9507-6F87-6985-2FD8B0D0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91D6FF-1FCC-DC55-0701-4C289758C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03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39F8A-84A3-20D9-B89C-FD2C55D0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447CF3-35C2-CB6E-780D-D67D76D4B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0AA9D9-5C68-53BA-02A9-758E0CBC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D815F-EED6-14ED-2D0F-17DA468654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829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B900-8F52-350F-5E2B-9294E909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4084AC-D53E-7813-469B-38F3A18FF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5F355E-DD89-BA6D-44C0-1CD969B36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B583F8-1548-FFB9-643F-A73866F8D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14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17D7-B328-8BAA-BF7E-5CBB7052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6489D0-BFA3-2CD9-D2CF-415B227A4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DD47CA-BFF6-AD44-ABBB-D68A19135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AA2DC-1626-42E2-C347-58A7B543D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321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D202-E6F8-12C9-39A3-4EAF2049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DE2264-5FCB-7CE5-8ECD-3ED07A78E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EA33FB-E115-628F-94B8-3FA54CC9B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99982E-2DA6-B8A6-AC38-4087D9F8A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897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F6634-C2BA-7801-10B8-EAF3375EF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248497-1A58-54A7-562B-4B3741004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867B45-B6F9-7D21-C5EF-4FD5FEC43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D1F49C-43C4-5C5D-3A47-38418E478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67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A6DA5-2E80-CF96-9715-607AD76B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01B537-B7DB-8C49-89E2-6FD5E671E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2F0B16-EECD-829F-B2ED-40BC2244E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958B6B-E5EE-4EC8-F033-7D37E14D5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476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36A8-EB74-FD92-855B-2C910D65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D23514-2BCF-B356-DF4A-C3979809E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09C8B9-92ED-620B-A14D-63A8AE42B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CB19E-88E3-BDAC-9E89-9F985E742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053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EF32-1B62-E425-54AF-F080EC39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A077E-1173-C689-AD71-D21762D7A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02B1BB-0364-869C-9E82-C6E5B26B0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8722AC-05AB-A915-3542-8B5704B890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890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4DA7-2284-0036-FC9F-C59AC8A63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645F30-FC94-20E0-D7A4-3FCAC8CF1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B591E9-3FB5-CB2F-1510-8B36A50B4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D557E-37EB-CD27-2F6D-682034568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985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126A9-74EF-3E4B-168A-62121A36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AF0170-8777-215B-DF76-A6AB92387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80B3B6-B5A6-3B62-3D1B-444B84335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680CFC-52C2-9905-A05C-182C59F5E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14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AB3A-9630-5C16-AA0D-C3F96156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2383A2-354B-12AC-EF59-7790C5EEF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548156-D4E6-1FBC-8C33-D4C60E7E3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5B9A9-EADD-AD0C-B5B8-FD9D984DC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17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CE099-902C-F51A-218D-377A90D7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45FF39-B954-278C-9AFB-01FDE0DC4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59900F-0A6E-B294-4341-C7F7019DB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E3DFE7-241A-C478-13F7-A3CB29751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643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413D4-A3C0-B4C8-F578-CC27F1E8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3D107E-763D-8B48-CABA-240E3E91B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4FFB6B-3A0C-EA5C-E332-E1B53D516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5FA134-05D3-C17D-D870-92122C909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533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7FC13-CB95-188E-CBAB-9ACF7B818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13E546-0E7F-F2FD-9076-E6272FC53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57DAD2-D198-6BCA-D6E6-F16BF1DA7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46798C-9F66-49B2-7CDC-72BCD92A9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305E3-1791-489D-8957-14272FFA66A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7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5F55">
            <a:alpha val="9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165" y="3587736"/>
            <a:ext cx="7772400" cy="1470025"/>
          </a:xfrm>
        </p:spPr>
        <p:txBody>
          <a:bodyPr>
            <a:normAutofit/>
          </a:bodyPr>
          <a:lstStyle/>
          <a:p>
            <a:r>
              <a:rPr lang="en-US" cap="all" dirty="0">
                <a:solidFill>
                  <a:srgbClr val="EBDDC3"/>
                </a:solidFill>
              </a:rPr>
              <a:t>Chapter 14 Tuples, Sets, and </a:t>
            </a:r>
            <a:br>
              <a:rPr lang="en-US" cap="all" dirty="0">
                <a:solidFill>
                  <a:srgbClr val="EBDDC3"/>
                </a:solidFill>
              </a:rPr>
            </a:br>
            <a:r>
              <a:rPr lang="en-US" cap="all" dirty="0">
                <a:solidFill>
                  <a:srgbClr val="EBDDC3"/>
                </a:solidFill>
              </a:rPr>
              <a:t>     Dictionaries</a:t>
            </a:r>
            <a:endParaRPr cap="all" dirty="0">
              <a:solidFill>
                <a:srgbClr val="EBDDC3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225948"/>
            <a:ext cx="6400800" cy="859637"/>
          </a:xfrm>
        </p:spPr>
        <p:txBody>
          <a:bodyPr/>
          <a:lstStyle/>
          <a:p>
            <a:r>
              <a:rPr dirty="0">
                <a:solidFill>
                  <a:srgbClr val="00B0F0"/>
                </a:solidFill>
              </a:rPr>
              <a:t>C</a:t>
            </a:r>
            <a:r>
              <a:rPr lang="en-US" dirty="0">
                <a:solidFill>
                  <a:srgbClr val="00B0F0"/>
                </a:solidFill>
              </a:rPr>
              <a:t>OSC 221</a:t>
            </a:r>
            <a:r>
              <a:rPr dirty="0">
                <a:solidFill>
                  <a:srgbClr val="00B0F0"/>
                </a:solidFill>
              </a:rPr>
              <a:t> (Computer Science </a:t>
            </a:r>
            <a:r>
              <a:rPr lang="en-US" dirty="0">
                <a:solidFill>
                  <a:srgbClr val="00B0F0"/>
                </a:solidFill>
              </a:rPr>
              <a:t>B</a:t>
            </a:r>
            <a:r>
              <a:rPr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C650F1E7-045D-4528-CA56-F78790D32B63}"/>
              </a:ext>
            </a:extLst>
          </p:cNvPr>
          <p:cNvSpPr/>
          <p:nvPr/>
        </p:nvSpPr>
        <p:spPr>
          <a:xfrm>
            <a:off x="381762" y="5107685"/>
            <a:ext cx="8380730" cy="18415"/>
          </a:xfrm>
          <a:custGeom>
            <a:avLst/>
            <a:gdLst/>
            <a:ahLst/>
            <a:cxnLst/>
            <a:rect l="l" t="t" r="r" b="b"/>
            <a:pathLst>
              <a:path w="8380730" h="18414">
                <a:moveTo>
                  <a:pt x="0" y="18287"/>
                </a:moveTo>
                <a:lnTo>
                  <a:pt x="8380476" y="0"/>
                </a:lnTo>
              </a:path>
            </a:pathLst>
          </a:cu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2900-7118-B842-F1AD-9063F8B1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82EB-1196-91C7-23B6-81E2150ED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26648"/>
            <a:ext cx="8229600" cy="382793"/>
          </a:xfrm>
        </p:spPr>
        <p:txBody>
          <a:bodyPr>
            <a:noAutofit/>
          </a:bodyPr>
          <a:lstStyle/>
          <a:p>
            <a:r>
              <a:rPr lang="en-US" sz="4000" u="sng" dirty="0">
                <a:latin typeface="+mn-lt"/>
                <a:ea typeface="+mn-ea"/>
                <a:cs typeface="+mn-cs"/>
              </a:rPr>
              <a:t>Section 2</a:t>
            </a:r>
            <a:endParaRPr sz="4000" u="sng" dirty="0"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492896-89B6-2815-87C3-24ECE426E6B2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ardrop 16">
            <a:extLst>
              <a:ext uri="{FF2B5EF4-FFF2-40B4-BE49-F238E27FC236}">
                <a16:creationId xmlns:a16="http://schemas.microsoft.com/office/drawing/2014/main" id="{A74088C3-33EC-A6E2-0656-670A7EC316FB}"/>
              </a:ext>
            </a:extLst>
          </p:cNvPr>
          <p:cNvSpPr/>
          <p:nvPr/>
        </p:nvSpPr>
        <p:spPr>
          <a:xfrm>
            <a:off x="2240524" y="2487345"/>
            <a:ext cx="3591235" cy="2615598"/>
          </a:xfrm>
          <a:prstGeom prst="teardrop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1103C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BAD51F-D948-E156-1536-06BEF35D4DD9}"/>
              </a:ext>
            </a:extLst>
          </p:cNvPr>
          <p:cNvSpPr txBox="1"/>
          <p:nvPr/>
        </p:nvSpPr>
        <p:spPr>
          <a:xfrm>
            <a:off x="2416275" y="3146666"/>
            <a:ext cx="35912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1103C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3417874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1E371-ACC0-547D-A930-70E22BEF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093A-9FF8-6426-6C84-40331E7C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6142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CDA33-5BE0-F36A-040A-E2045C07F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7642"/>
            <a:ext cx="8470490" cy="5020035"/>
          </a:xfrm>
        </p:spPr>
        <p:txBody>
          <a:bodyPr>
            <a:normAutofit/>
          </a:bodyPr>
          <a:lstStyle/>
          <a:p>
            <a:r>
              <a:rPr lang="en-US" u="sng" dirty="0"/>
              <a:t>Introduction</a:t>
            </a:r>
          </a:p>
          <a:p>
            <a:r>
              <a:rPr lang="en-US" u="sng" dirty="0"/>
              <a:t>14.6.1. Creating Dictionaries</a:t>
            </a:r>
          </a:p>
          <a:p>
            <a:r>
              <a:rPr lang="en-US" u="sng" dirty="0"/>
              <a:t>14.6.2 . Adding, Modifying, and Retrieving Elements</a:t>
            </a:r>
          </a:p>
          <a:p>
            <a:r>
              <a:rPr lang="en-US" u="sng" dirty="0"/>
              <a:t>14.6.3. Deleting Items</a:t>
            </a:r>
          </a:p>
          <a:p>
            <a:r>
              <a:rPr lang="en-US" u="sng" dirty="0"/>
              <a:t>14.6.8. Dictionary Methods</a:t>
            </a:r>
          </a:p>
          <a:p>
            <a:r>
              <a:rPr lang="en-US" u="sng" dirty="0"/>
              <a:t>14.7. Applications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0E02C1-2167-0B96-F9AD-949A7621FA0D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228C9-121D-7F27-AA67-AD1DEDB2A06C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3992E6-A18D-324D-93C1-7070E2367030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08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DD927-AD97-FF98-1BCF-154FBE28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73F6-D2E7-20C5-71B5-05D635CD0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7652"/>
            <a:ext cx="8229600" cy="363128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3C51D-FBE6-7A64-838B-EB5F80E42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7582"/>
            <a:ext cx="8229600" cy="5020035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understand the concept and structure of dictionaries.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create and initialize dictionaries.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add, modify, and retrieve elements in a dictionary.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delete items from a dictionary using the del keyword.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utilize essential dictionary methods like keys(), values(), items(), get(), pop(), </a:t>
            </a:r>
            <a:r>
              <a:rPr lang="en-US" dirty="0" err="1"/>
              <a:t>popitem</a:t>
            </a:r>
            <a:r>
              <a:rPr lang="en-US" dirty="0"/>
              <a:t>(), and clear().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apply dictionaries in practical applications, such as data organization and word frequency counts.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7D56A3-32F9-84CC-43DD-D3FFD8588E8C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225C98-E0BF-D28A-043E-ACCF3821046B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C2BFB9-78D6-8554-415D-D559F9A4FEDC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09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025F5-5921-2A27-13CC-549C6AB7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1753-F3B3-4070-B761-2DE0D9CA9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61534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04040"/>
                </a:solidFill>
                <a:cs typeface="Calibri"/>
              </a:rPr>
              <a:t>Introduction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5F249B-5C69-9B09-380F-39E307F495E3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77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916A-0ABB-129E-7225-F65F4E09D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575CA-4865-6A70-E845-5542CA8C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74" y="145308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404040"/>
                </a:solidFill>
                <a:cs typeface="Calibri"/>
              </a:rPr>
              <a:t>Introduction</a:t>
            </a:r>
            <a:endParaRPr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642604-E686-1A22-3620-5394F26E1F9A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9E9CE2-6D35-ACB2-5E6B-3FD0F9292D23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57E867-1D95-FC66-DA98-DDDF57179077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65F3C1-9891-5845-4F7B-5E43ABF57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290" y="1064008"/>
            <a:ext cx="7349612" cy="2340644"/>
          </a:xfrm>
        </p:spPr>
        <p:txBody>
          <a:bodyPr>
            <a:noAutofit/>
          </a:bodyPr>
          <a:lstStyle/>
          <a:p>
            <a:r>
              <a:rPr lang="en-US" sz="2400" dirty="0"/>
              <a:t>Used to store key/value pairs.</a:t>
            </a:r>
          </a:p>
          <a:p>
            <a:r>
              <a:rPr lang="en-US" sz="2400" dirty="0"/>
              <a:t>Provides quick access to elements using keys.</a:t>
            </a:r>
          </a:p>
          <a:p>
            <a:r>
              <a:rPr lang="en-US" sz="2400" dirty="0"/>
              <a:t>A dictionary </a:t>
            </a:r>
            <a:r>
              <a:rPr lang="en-US" sz="2400" dirty="0">
                <a:solidFill>
                  <a:srgbClr val="00B0F0"/>
                </a:solidFill>
              </a:rPr>
              <a:t>cannot contain duplicate </a:t>
            </a:r>
            <a:r>
              <a:rPr lang="en-US" sz="2400" dirty="0"/>
              <a:t>keys</a:t>
            </a:r>
          </a:p>
          <a:p>
            <a:r>
              <a:rPr lang="en-US" sz="2400" dirty="0"/>
              <a:t>Example: </a:t>
            </a:r>
            <a:r>
              <a:rPr lang="en-US" sz="2400" dirty="0" err="1">
                <a:solidFill>
                  <a:srgbClr val="00B050"/>
                </a:solidFill>
              </a:rPr>
              <a:t>my_dict</a:t>
            </a:r>
            <a:r>
              <a:rPr lang="en-US" sz="2400" dirty="0">
                <a:solidFill>
                  <a:srgbClr val="00B050"/>
                </a:solidFill>
              </a:rPr>
              <a:t> = {"name": "Alice", "age": 25} g data</a:t>
            </a:r>
          </a:p>
        </p:txBody>
      </p:sp>
    </p:spTree>
    <p:extLst>
      <p:ext uri="{BB962C8B-B14F-4D97-AF65-F5344CB8AC3E}">
        <p14:creationId xmlns:p14="http://schemas.microsoft.com/office/powerpoint/2010/main" val="199725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CA5F-41D1-97F9-151C-D7BF94D3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433F-55B5-5199-56A2-CB1E8FD7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374" y="145308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404040"/>
                </a:solidFill>
                <a:cs typeface="Calibri"/>
              </a:rPr>
              <a:t>Introduction</a:t>
            </a:r>
            <a:endParaRPr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7EAC5E-7DFF-B021-E06E-304A1E84AFBA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5CB1C-95FE-A8AE-7579-673564924AAB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FBDC41-5AFF-B201-74B2-BB6EEEB96CE3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F00399-5630-DE52-E1DA-B1DEB6EC4D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1" t="10095" r="4742" b="6383"/>
          <a:stretch/>
        </p:blipFill>
        <p:spPr>
          <a:xfrm>
            <a:off x="556007" y="1757515"/>
            <a:ext cx="8031986" cy="3709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215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1534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04040"/>
                </a:solidFill>
                <a:cs typeface="Calibri"/>
              </a:rPr>
              <a:t>14.6.1 Creating Dictionaries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5FEDB-9E7B-D0C1-3C1C-4B4BC211BBC6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923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A5BC-5CC9-994E-3790-64E36DA2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6A62-02B1-D01B-0E0B-37985A33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404040"/>
                </a:solidFill>
                <a:cs typeface="Calibri"/>
              </a:rPr>
              <a:t>Creating Dictionaries</a:t>
            </a:r>
            <a:endParaRPr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52BE4-839F-AC94-DCDD-FA9A6A40D99C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D9CD2-B2B2-8383-117B-CF5FB228851B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233B37-6F80-5AF7-93E0-671FE7EF9A59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3FDAA-DB22-29F6-0252-F19BF4638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7138"/>
            <a:ext cx="8509819" cy="3182300"/>
          </a:xfrm>
        </p:spPr>
        <p:txBody>
          <a:bodyPr>
            <a:normAutofit/>
          </a:bodyPr>
          <a:lstStyle/>
          <a:p>
            <a:r>
              <a:rPr lang="en-US" sz="2800" dirty="0"/>
              <a:t>A dictionary is created by enclosing </a:t>
            </a:r>
            <a:r>
              <a:rPr lang="en-US" sz="2800" dirty="0">
                <a:solidFill>
                  <a:srgbClr val="00B0F0"/>
                </a:solidFill>
              </a:rPr>
              <a:t>key-value pairs </a:t>
            </a:r>
            <a:r>
              <a:rPr lang="en-US" sz="2800" dirty="0"/>
              <a:t>within </a:t>
            </a:r>
            <a:r>
              <a:rPr lang="en-US" sz="2800" dirty="0">
                <a:solidFill>
                  <a:srgbClr val="00B0F0"/>
                </a:solidFill>
              </a:rPr>
              <a:t>curly braces {}. </a:t>
            </a:r>
            <a:r>
              <a:rPr lang="en-US" sz="2800" dirty="0"/>
              <a:t>Each item consists of:</a:t>
            </a:r>
          </a:p>
          <a:p>
            <a:pPr lvl="1"/>
            <a:r>
              <a:rPr lang="en-US" sz="2400" dirty="0"/>
              <a:t>A key followed by a colon </a:t>
            </a:r>
            <a:r>
              <a:rPr lang="en-US" sz="2400" dirty="0">
                <a:solidFill>
                  <a:srgbClr val="00B0F0"/>
                </a:solidFill>
              </a:rPr>
              <a:t>:</a:t>
            </a:r>
          </a:p>
          <a:p>
            <a:pPr lvl="1"/>
            <a:r>
              <a:rPr lang="en-US" sz="2400" dirty="0"/>
              <a:t>A corresponding </a:t>
            </a:r>
            <a:r>
              <a:rPr lang="en-US" sz="2400" dirty="0">
                <a:solidFill>
                  <a:srgbClr val="00B0F0"/>
                </a:solidFill>
              </a:rPr>
              <a:t>value</a:t>
            </a:r>
          </a:p>
          <a:p>
            <a:pPr marL="571500" indent="-457200">
              <a:buFont typeface="Arial" panose="020B0604020202020204" pitchFamily="34" charset="0"/>
              <a:buChar char="•"/>
            </a:pPr>
            <a:r>
              <a:rPr lang="en-US" sz="2800" dirty="0"/>
              <a:t>Items are separated by commas </a:t>
            </a:r>
            <a:r>
              <a:rPr lang="en-US" sz="4400" dirty="0">
                <a:solidFill>
                  <a:srgbClr val="00B0F0"/>
                </a:solidFill>
              </a:rPr>
              <a:t>,</a:t>
            </a:r>
          </a:p>
          <a:p>
            <a:pPr marL="114300" indent="0">
              <a:buNone/>
            </a:pPr>
            <a:r>
              <a:rPr lang="en-US" sz="2800" u="sng" dirty="0"/>
              <a:t>Example</a:t>
            </a:r>
            <a:r>
              <a:rPr lang="en-US" sz="2800" dirty="0"/>
              <a:t>:</a:t>
            </a:r>
          </a:p>
          <a:p>
            <a:pPr marL="571500" indent="-457200">
              <a:buFont typeface="Arial" panose="020B0604020202020204" pitchFamily="34" charset="0"/>
              <a:buChar char="•"/>
            </a:pP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671FF8-FD8A-8BB7-D15A-BA3E31BBE6E8}"/>
              </a:ext>
            </a:extLst>
          </p:cNvPr>
          <p:cNvSpPr txBox="1"/>
          <p:nvPr/>
        </p:nvSpPr>
        <p:spPr>
          <a:xfrm>
            <a:off x="722671" y="4639863"/>
            <a:ext cx="8195186" cy="46166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students</a:t>
            </a:r>
            <a:r>
              <a:rPr lang="en-US" sz="2400" dirty="0"/>
              <a:t> = {"111-34-3434": "John", "132-56-6290": "Peter"}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717B1-6407-45A4-4AB4-BFC607FC277D}"/>
              </a:ext>
            </a:extLst>
          </p:cNvPr>
          <p:cNvSpPr txBox="1"/>
          <p:nvPr/>
        </p:nvSpPr>
        <p:spPr>
          <a:xfrm>
            <a:off x="722671" y="5577115"/>
            <a:ext cx="3151239" cy="83099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Key: 111-34-3434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Value: "John"</a:t>
            </a:r>
          </a:p>
        </p:txBody>
      </p:sp>
    </p:spTree>
    <p:extLst>
      <p:ext uri="{BB962C8B-B14F-4D97-AF65-F5344CB8AC3E}">
        <p14:creationId xmlns:p14="http://schemas.microsoft.com/office/powerpoint/2010/main" val="294736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5CECB-6C8B-FCC0-0AAF-E6446298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A20D-79C2-08ED-AC0F-D614E6221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404040"/>
                </a:solidFill>
                <a:cs typeface="Calibri"/>
              </a:rPr>
              <a:t>Creating Dictionaries</a:t>
            </a:r>
            <a:endParaRPr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570EBC-9BA7-1246-812B-B0EA7799D7F6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90B47B-7D06-9020-33ED-ABC71460F876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DE5457-C75B-BE53-074F-88457259B4CA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5EB7474-9675-6ED8-C9E3-CA21A6431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84" y="1052727"/>
            <a:ext cx="839183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u="sng" dirty="0">
                <a:solidFill>
                  <a:srgbClr val="00B050"/>
                </a:solidFill>
              </a:rPr>
              <a:t>Note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Curly braces {} are used for both dictionaries and sets.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{} denotes an empty dictionary.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To create an empty set, use </a:t>
            </a:r>
            <a:r>
              <a:rPr lang="en-US" altLang="en-US" sz="2800" dirty="0">
                <a:solidFill>
                  <a:srgbClr val="00B050"/>
                </a:solidFill>
              </a:rPr>
              <a:t>set().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792633-F3C5-6D28-C26E-73EEBA4DA1A4}"/>
              </a:ext>
            </a:extLst>
          </p:cNvPr>
          <p:cNvSpPr txBox="1"/>
          <p:nvPr/>
        </p:nvSpPr>
        <p:spPr>
          <a:xfrm>
            <a:off x="376084" y="3734471"/>
            <a:ext cx="83107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Key 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Hashable</a:t>
            </a:r>
            <a:r>
              <a:rPr lang="en-US" sz="2800" dirty="0"/>
              <a:t> Keys: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/>
              <a:t>Keys must be </a:t>
            </a:r>
            <a:r>
              <a:rPr lang="en-US" sz="2400" dirty="0" err="1"/>
              <a:t>hashable</a:t>
            </a:r>
            <a:r>
              <a:rPr lang="en-US" sz="2400" dirty="0"/>
              <a:t> (e.g., numbers, strings).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US" sz="2400" dirty="0"/>
              <a:t>Flexible Values: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Values can be of any type.</a:t>
            </a:r>
          </a:p>
        </p:txBody>
      </p:sp>
    </p:spTree>
    <p:extLst>
      <p:ext uri="{BB962C8B-B14F-4D97-AF65-F5344CB8AC3E}">
        <p14:creationId xmlns:p14="http://schemas.microsoft.com/office/powerpoint/2010/main" val="3054499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80B56-8C47-2403-1CF3-49B4B497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F9B0-02F7-F3A8-E5DB-936F826E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404040"/>
                </a:solidFill>
                <a:cs typeface="Calibri"/>
              </a:rPr>
              <a:t>Creating Dictionaries</a:t>
            </a:r>
            <a:endParaRPr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5D072B-3E7D-3046-7374-F8642868613A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83350-0F5C-9F7D-2CBF-69EA7256E50B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12455F-4DE9-79E7-15DF-6ED9E3633987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19CDC-7F0D-847E-C4D5-9FC3B260CC4E}"/>
              </a:ext>
            </a:extLst>
          </p:cNvPr>
          <p:cNvSpPr txBox="1"/>
          <p:nvPr/>
        </p:nvSpPr>
        <p:spPr>
          <a:xfrm>
            <a:off x="349046" y="895475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/>
              <a:t>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6DD051-0B4F-F258-EC1B-D423018C3598}"/>
              </a:ext>
            </a:extLst>
          </p:cNvPr>
          <p:cNvSpPr txBox="1"/>
          <p:nvPr/>
        </p:nvSpPr>
        <p:spPr>
          <a:xfrm>
            <a:off x="703008" y="1560229"/>
            <a:ext cx="4626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Valid Keys (</a:t>
            </a:r>
            <a:r>
              <a:rPr lang="en-US" sz="2400" dirty="0" err="1"/>
              <a:t>Hashable</a:t>
            </a:r>
            <a:r>
              <a:rPr lang="en-US" sz="2400" dirty="0"/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71BC69-D3F5-10E1-08D8-66F2965C39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11" t="66830" r="8779" b="13165"/>
          <a:stretch/>
        </p:blipFill>
        <p:spPr>
          <a:xfrm>
            <a:off x="457200" y="2467340"/>
            <a:ext cx="7837229" cy="482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0C2CE6-7BCB-0780-3F68-4DE9EFD20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26" y="3546526"/>
            <a:ext cx="7874151" cy="5693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DD109C-1FD1-C468-5C16-FDB31FE3D1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5669"/>
          <a:stretch/>
        </p:blipFill>
        <p:spPr>
          <a:xfrm>
            <a:off x="501625" y="4555255"/>
            <a:ext cx="7874151" cy="665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5025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9904-FA73-0E88-CD73-47A5C05F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3678-1331-A76E-9749-FF69E604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600" dirty="0">
                <a:solidFill>
                  <a:srgbClr val="404040"/>
                </a:solidFill>
                <a:cs typeface="Calibri"/>
              </a:rPr>
              <a:t>Creating Dictionaries</a:t>
            </a:r>
            <a:endParaRPr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27FAA5-1AC5-4394-4A47-32946696D27B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69B51-854F-1691-0282-1034A4A9A532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234067-77BF-D98C-D158-C4C8799C8FFE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10F6E-10ED-D346-6B9F-FF782F56AC48}"/>
              </a:ext>
            </a:extLst>
          </p:cNvPr>
          <p:cNvSpPr txBox="1"/>
          <p:nvPr/>
        </p:nvSpPr>
        <p:spPr>
          <a:xfrm>
            <a:off x="349046" y="895475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/>
              <a:t>Example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B37287-2688-2037-B5B8-1242CE5AC162}"/>
              </a:ext>
            </a:extLst>
          </p:cNvPr>
          <p:cNvSpPr txBox="1"/>
          <p:nvPr/>
        </p:nvSpPr>
        <p:spPr>
          <a:xfrm>
            <a:off x="572730" y="1514062"/>
            <a:ext cx="4626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Invalid Keys (Not </a:t>
            </a:r>
            <a:r>
              <a:rPr lang="en-US" sz="2400" dirty="0" err="1"/>
              <a:t>Hashable</a:t>
            </a:r>
            <a:r>
              <a:rPr lang="en-US" sz="2400" dirty="0"/>
              <a:t>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4D4094C-E1B6-7F24-58D3-553FE09C7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67" y="2286790"/>
            <a:ext cx="7916463" cy="377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DF123C-1ABF-258E-E14F-85AB72929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28" y="3367529"/>
            <a:ext cx="7957501" cy="3147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04BFA2-75DC-F0BD-4823-B4AA1333B092}"/>
              </a:ext>
            </a:extLst>
          </p:cNvPr>
          <p:cNvSpPr txBox="1"/>
          <p:nvPr/>
        </p:nvSpPr>
        <p:spPr>
          <a:xfrm>
            <a:off x="722671" y="4238288"/>
            <a:ext cx="7807560" cy="193899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the </a:t>
            </a:r>
            <a:r>
              <a:rPr lang="en-US" sz="2400" dirty="0">
                <a:solidFill>
                  <a:srgbClr val="00B050"/>
                </a:solidFill>
              </a:rPr>
              <a:t>key can change </a:t>
            </a:r>
            <a:r>
              <a:rPr lang="en-US" sz="2400" dirty="0"/>
              <a:t>(like a list or dictionary), it cannot be used as a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the </a:t>
            </a:r>
            <a:r>
              <a:rPr lang="en-US" sz="2400" dirty="0">
                <a:solidFill>
                  <a:srgbClr val="00B050"/>
                </a:solidFill>
              </a:rPr>
              <a:t>key cannot change </a:t>
            </a:r>
            <a:r>
              <a:rPr lang="en-US" sz="2400" dirty="0"/>
              <a:t>(like a number, string, or tuple), it can be used.</a:t>
            </a:r>
          </a:p>
        </p:txBody>
      </p:sp>
    </p:spTree>
    <p:extLst>
      <p:ext uri="{BB962C8B-B14F-4D97-AF65-F5344CB8AC3E}">
        <p14:creationId xmlns:p14="http://schemas.microsoft.com/office/powerpoint/2010/main" val="4056843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35FBA-ED6F-3A63-1FA0-67A73385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9266-E497-0449-741C-CFEE1895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42" y="2666334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solidFill>
                  <a:srgbClr val="404040"/>
                </a:solidFill>
                <a:cs typeface="Calibri"/>
              </a:rPr>
              <a:t>Creating Dictionaries Demo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4A474-DB3A-50F2-E2B1-53214F218BC3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982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04555-CCA9-6016-D529-3E2131DC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91BC-6E9A-42EA-9892-62711EC4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61534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04040"/>
                </a:solidFill>
                <a:cs typeface="Calibri"/>
              </a:rPr>
              <a:t>14.6.2 . Adding, Modifying, and Retrieving Elements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E2E532-27F3-4640-BB7A-E18EF058EDFA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94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74C9-D174-1177-9F13-ADE29D8AD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27BD-F887-1DBC-F531-762E5F03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404040"/>
                </a:solidFill>
                <a:cs typeface="Calibri"/>
              </a:rPr>
              <a:t>Adding, Modifying, and Retrieving Elements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EFFC68-460D-0920-949A-9E5BC5AD79A0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CA924-DB7F-8A4D-73FD-E03772A8E5A2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86F4C-4BFF-C8DC-7897-AB8E287947B2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417C5-D866-AEF8-B2E5-0AA33670606A}"/>
              </a:ext>
            </a:extLst>
          </p:cNvPr>
          <p:cNvSpPr txBox="1"/>
          <p:nvPr/>
        </p:nvSpPr>
        <p:spPr>
          <a:xfrm>
            <a:off x="457200" y="995205"/>
            <a:ext cx="4626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en-US" sz="32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Adding</a:t>
            </a:r>
            <a:endParaRPr lang="en-US" sz="3200" dirty="0">
              <a:solidFill>
                <a:srgbClr val="404040"/>
              </a:solidFill>
              <a:latin typeface="+mj-lt"/>
              <a:ea typeface="+mj-ea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05C54-BD03-8072-B320-E420B0F66769}"/>
              </a:ext>
            </a:extLst>
          </p:cNvPr>
          <p:cNvSpPr txBox="1"/>
          <p:nvPr/>
        </p:nvSpPr>
        <p:spPr>
          <a:xfrm>
            <a:off x="985683" y="1685971"/>
            <a:ext cx="66834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You can add a new key-value pair to a dictionary using the syntax:</a:t>
            </a:r>
          </a:p>
          <a:p>
            <a:endParaRPr lang="en-US" sz="2400" dirty="0"/>
          </a:p>
          <a:p>
            <a:pPr algn="ctr"/>
            <a:r>
              <a:rPr lang="en-US" sz="2400" dirty="0" err="1">
                <a:solidFill>
                  <a:srgbClr val="00B0F0"/>
                </a:solidFill>
              </a:rPr>
              <a:t>dictionaryName</a:t>
            </a:r>
            <a:r>
              <a:rPr lang="en-US" sz="2400" dirty="0">
                <a:solidFill>
                  <a:srgbClr val="00B0F0"/>
                </a:solidFill>
              </a:rPr>
              <a:t>[key] =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105AC-D09A-DE37-EBE9-4D903AD0D18D}"/>
              </a:ext>
            </a:extLst>
          </p:cNvPr>
          <p:cNvSpPr txBox="1"/>
          <p:nvPr/>
        </p:nvSpPr>
        <p:spPr>
          <a:xfrm>
            <a:off x="703008" y="3602370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3148C8-1664-BECC-D3CD-159804865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07" y="4472329"/>
            <a:ext cx="8634517" cy="12697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4284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FCAA2-8ADC-8BB2-AC32-4C88D84F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12DE-BBC6-231B-3B66-12E0E367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404040"/>
                </a:solidFill>
                <a:cs typeface="Calibri"/>
              </a:rPr>
              <a:t>Adding, Modifying, and Retrieving Elements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B853E-7A3B-58BC-6DF9-63CEEE79B4BD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6169B-61BA-2EF5-D4E4-9859BC2DDE18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79531-7F61-A5CD-E7AC-56F7ECAE0EFC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05F3C-3E8B-B287-B37E-27F16AB5F52D}"/>
              </a:ext>
            </a:extLst>
          </p:cNvPr>
          <p:cNvSpPr txBox="1"/>
          <p:nvPr/>
        </p:nvSpPr>
        <p:spPr>
          <a:xfrm>
            <a:off x="358877" y="962695"/>
            <a:ext cx="4626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2. Modifying Items</a:t>
            </a:r>
            <a:endParaRPr lang="en-US" sz="3200" dirty="0">
              <a:solidFill>
                <a:srgbClr val="404040"/>
              </a:solidFill>
              <a:latin typeface="+mj-lt"/>
              <a:ea typeface="+mj-ea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8684C-E302-399D-8FA0-7DFC2661D0F6}"/>
              </a:ext>
            </a:extLst>
          </p:cNvPr>
          <p:cNvSpPr txBox="1"/>
          <p:nvPr/>
        </p:nvSpPr>
        <p:spPr>
          <a:xfrm>
            <a:off x="550606" y="1735553"/>
            <a:ext cx="81361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the key already exists, assigning a new value to the key will replace the old value.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F80241-B7B5-8ECB-E20E-52F4EDE177E6}"/>
              </a:ext>
            </a:extLst>
          </p:cNvPr>
          <p:cNvSpPr txBox="1"/>
          <p:nvPr/>
        </p:nvSpPr>
        <p:spPr>
          <a:xfrm>
            <a:off x="550606" y="2988582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AFAAC6-2F1C-7125-6984-0B4AA4881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92" y="3856815"/>
            <a:ext cx="8480777" cy="915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358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47253-84BD-4878-C0FC-4A51E790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97AB2-D9E5-37F3-C0AF-9924E5E9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404040"/>
                </a:solidFill>
                <a:cs typeface="Calibri"/>
              </a:rPr>
              <a:t>Adding, Modifying, and Retrieving Elements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61A31F-699D-2BBB-34BD-9FA97EBF9BA1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9529CA-CFC5-1667-5853-0A9769B4D138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257C33-B8D3-6F16-B111-A5E7BB38903F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38D9FB-6F66-0DC3-05F8-72A8D5F5080C}"/>
              </a:ext>
            </a:extLst>
          </p:cNvPr>
          <p:cNvSpPr txBox="1"/>
          <p:nvPr/>
        </p:nvSpPr>
        <p:spPr>
          <a:xfrm>
            <a:off x="358877" y="962695"/>
            <a:ext cx="4626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altLang="en-US" sz="32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Retrieving Values</a:t>
            </a:r>
            <a:endParaRPr lang="en-US" sz="3200" dirty="0">
              <a:solidFill>
                <a:srgbClr val="404040"/>
              </a:solidFill>
              <a:latin typeface="+mj-lt"/>
              <a:ea typeface="+mj-ea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CE3EDC-E151-35DC-75FE-0F21041B0EBE}"/>
              </a:ext>
            </a:extLst>
          </p:cNvPr>
          <p:cNvSpPr txBox="1"/>
          <p:nvPr/>
        </p:nvSpPr>
        <p:spPr>
          <a:xfrm>
            <a:off x="1133167" y="1562031"/>
            <a:ext cx="7361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retrieve a value, use the syntax:</a:t>
            </a:r>
          </a:p>
          <a:p>
            <a:pPr algn="ctr"/>
            <a:r>
              <a:rPr lang="en-US" sz="2400" dirty="0" err="1">
                <a:solidFill>
                  <a:srgbClr val="00B0F0"/>
                </a:solidFill>
              </a:rPr>
              <a:t>dictionaryName</a:t>
            </a:r>
            <a:r>
              <a:rPr lang="en-US" sz="2400" dirty="0">
                <a:solidFill>
                  <a:srgbClr val="00B0F0"/>
                </a:solidFill>
              </a:rPr>
              <a:t>[key]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the key exists, the corresponding value is returned.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D8E1B-6AC4-2F54-FAD7-20464B5748AB}"/>
              </a:ext>
            </a:extLst>
          </p:cNvPr>
          <p:cNvSpPr txBox="1"/>
          <p:nvPr/>
        </p:nvSpPr>
        <p:spPr>
          <a:xfrm>
            <a:off x="550606" y="2988582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840C09-D47F-F07F-E450-2F0437C00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67" y="3941862"/>
            <a:ext cx="6533177" cy="523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7757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59B07-BD5B-2647-89B2-CCF91D01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A030-C7AD-8033-B1A6-CDF78231B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87906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solidFill>
                  <a:srgbClr val="404040"/>
                </a:solidFill>
                <a:cs typeface="Calibri"/>
              </a:rPr>
              <a:t>Adding, Modifying, and Retrieving Elements: Demo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7813E-DF8F-B725-D753-CF2AF542D2DA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01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E52D7-CC26-7964-D321-37C2CA835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C56D-9C9F-2841-B897-0CBCE236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87906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04040"/>
                </a:solidFill>
                <a:cs typeface="Calibri"/>
              </a:rPr>
              <a:t>14.6.3. Deleting Items</a:t>
            </a:r>
            <a:br>
              <a:rPr lang="en-US" altLang="en-US" dirty="0">
                <a:solidFill>
                  <a:srgbClr val="404040"/>
                </a:solidFill>
                <a:cs typeface="Calibri"/>
              </a:rPr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5E415-4EF2-9196-04C5-C38274740CD6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57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60871-5543-AAA2-9691-94B0F5A1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BECB-2DB2-62BC-2863-642F3E8F0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404040"/>
                </a:solidFill>
                <a:cs typeface="Calibri"/>
              </a:rPr>
              <a:t> Deleting Items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A643C3-8147-F196-835E-868A3E024B5D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4126F6-8ED8-B8D6-BBFB-E9F634477974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5F3425-20A3-C098-62E7-2CB16CFBEDD9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B25B6-E1E1-E78D-7979-469EA0E11FBE}"/>
              </a:ext>
            </a:extLst>
          </p:cNvPr>
          <p:cNvSpPr txBox="1"/>
          <p:nvPr/>
        </p:nvSpPr>
        <p:spPr>
          <a:xfrm>
            <a:off x="530942" y="1112345"/>
            <a:ext cx="770848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To delete a key-value pair from a dictionary, use the </a:t>
            </a:r>
            <a:r>
              <a:rPr lang="en-US" sz="2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Calibri"/>
              </a:rPr>
              <a:t>del</a:t>
            </a:r>
            <a:r>
              <a:rPr lang="en-US" sz="26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 statement with the key.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Syntax: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9CDB4-A4D3-11C7-63EE-45B4FAF78323}"/>
              </a:ext>
            </a:extLst>
          </p:cNvPr>
          <p:cNvSpPr txBox="1"/>
          <p:nvPr/>
        </p:nvSpPr>
        <p:spPr>
          <a:xfrm>
            <a:off x="1349478" y="2574793"/>
            <a:ext cx="46260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rgbClr val="7030A0"/>
                </a:solidFill>
              </a:rPr>
              <a:t>del</a:t>
            </a:r>
            <a:r>
              <a:rPr lang="en-US" sz="2600" dirty="0">
                <a:solidFill>
                  <a:srgbClr val="00B0F0"/>
                </a:solidFill>
              </a:rPr>
              <a:t> </a:t>
            </a:r>
            <a:r>
              <a:rPr lang="en-US" sz="2600" dirty="0" err="1">
                <a:solidFill>
                  <a:srgbClr val="00B0F0"/>
                </a:solidFill>
              </a:rPr>
              <a:t>dictionaryName</a:t>
            </a:r>
            <a:r>
              <a:rPr lang="en-US" sz="2600" dirty="0">
                <a:solidFill>
                  <a:srgbClr val="00B0F0"/>
                </a:solidFill>
              </a:rPr>
              <a:t>[key]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F77B6-53EB-E2F4-76C8-48B50CB4EB84}"/>
              </a:ext>
            </a:extLst>
          </p:cNvPr>
          <p:cNvSpPr txBox="1"/>
          <p:nvPr/>
        </p:nvSpPr>
        <p:spPr>
          <a:xfrm>
            <a:off x="550606" y="3237022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E43CE7-0A82-82A8-BC87-BBA2D6F34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08" y="4065342"/>
            <a:ext cx="8674813" cy="1529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3321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A8033-1E77-79CB-19C7-CEE453F0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443E6-E778-77AB-0F54-5E586EE5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404040"/>
                </a:solidFill>
                <a:cs typeface="Calibri"/>
              </a:rPr>
              <a:t> Deleting Items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9CAE1F-846E-062C-F0E3-A3841B326D1B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E07202-0BD6-3F4A-1FA1-4458191A405B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B83267-EFB2-B628-22C1-EFAE7E6B9138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قاعدة If الشرطية مع أمثلة - تعلم اللغة الإنجليزية">
            <a:extLst>
              <a:ext uri="{FF2B5EF4-FFF2-40B4-BE49-F238E27FC236}">
                <a16:creationId xmlns:a16="http://schemas.microsoft.com/office/drawing/2014/main" id="{F9A2917A-736A-15C5-94A0-A287960D4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4" y="2111324"/>
            <a:ext cx="451485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1FFCF1-9C5C-69DA-D6A8-C7F5A4137604}"/>
              </a:ext>
            </a:extLst>
          </p:cNvPr>
          <p:cNvSpPr txBox="1"/>
          <p:nvPr/>
        </p:nvSpPr>
        <p:spPr>
          <a:xfrm>
            <a:off x="3016046" y="1187336"/>
            <a:ext cx="4626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Discussion Question</a:t>
            </a:r>
          </a:p>
        </p:txBody>
      </p:sp>
    </p:spTree>
    <p:extLst>
      <p:ext uri="{BB962C8B-B14F-4D97-AF65-F5344CB8AC3E}">
        <p14:creationId xmlns:p14="http://schemas.microsoft.com/office/powerpoint/2010/main" val="4174783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EAB8A-3488-DE7C-3061-570E6B58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F66B-DE6E-94FE-81B9-587DCC50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altLang="en-US" sz="3200" dirty="0">
                <a:solidFill>
                  <a:srgbClr val="404040"/>
                </a:solidFill>
                <a:cs typeface="Calibri"/>
              </a:rPr>
              <a:t> Deleting Items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1939E1-6149-4F6B-1214-EFEF231ED98B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D1A3A-F6B2-954B-BBC9-B8A67C9E046B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60022F-A6DC-ACE9-2F23-AF6D801518C7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5890D-1DFB-081F-10BD-39EDC549ADE4}"/>
              </a:ext>
            </a:extLst>
          </p:cNvPr>
          <p:cNvSpPr txBox="1"/>
          <p:nvPr/>
        </p:nvSpPr>
        <p:spPr>
          <a:xfrm>
            <a:off x="722671" y="1251471"/>
            <a:ext cx="7467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u="sng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Safe Way to Delete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To avoid a </a:t>
            </a:r>
            <a:r>
              <a:rPr lang="en-US" sz="2600" dirty="0" err="1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KeyError</a:t>
            </a:r>
            <a:r>
              <a:rPr lang="en-US" sz="26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, check if the key exists in the dictionary before deleting it: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1E8A88-009B-F417-A5FB-38E46792D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361" y="3018565"/>
            <a:ext cx="6825277" cy="1577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1A8019-4A57-C15F-2F94-5144C405E790}"/>
              </a:ext>
            </a:extLst>
          </p:cNvPr>
          <p:cNvSpPr txBox="1"/>
          <p:nvPr/>
        </p:nvSpPr>
        <p:spPr>
          <a:xfrm>
            <a:off x="607141" y="5405138"/>
            <a:ext cx="7929716" cy="101566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Notes</a:t>
            </a:r>
          </a:p>
          <a:p>
            <a:r>
              <a:rPr lang="en-US" sz="2000" dirty="0"/>
              <a:t>Use del carefully to avoid accidentally removing the wrong key-value pair.</a:t>
            </a:r>
          </a:p>
          <a:p>
            <a:r>
              <a:rPr lang="en-US" sz="2000" dirty="0"/>
              <a:t>Always verify that the key exists if there is uncertainty.</a:t>
            </a:r>
          </a:p>
        </p:txBody>
      </p:sp>
    </p:spTree>
    <p:extLst>
      <p:ext uri="{BB962C8B-B14F-4D97-AF65-F5344CB8AC3E}">
        <p14:creationId xmlns:p14="http://schemas.microsoft.com/office/powerpoint/2010/main" val="410364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5E128-8575-90EA-ECEB-3078C894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FF97B-FC10-5BBE-87E7-FEDCE35C3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87906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404040"/>
                </a:solidFill>
                <a:cs typeface="Calibri"/>
              </a:rPr>
              <a:t>14.6.3. Deleting Items: Demo</a:t>
            </a:r>
            <a:br>
              <a:rPr lang="en-US" altLang="en-US" dirty="0">
                <a:solidFill>
                  <a:srgbClr val="404040"/>
                </a:solidFill>
                <a:cs typeface="Calibri"/>
              </a:rPr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DE4EE-D32A-A3D1-E1F3-33FBC327C496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882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5A846-06BB-4890-43FE-FB57C154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3C01-101B-34F8-087B-E27C5320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87906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dirty="0"/>
              <a:t>14.6.8. Dictionary Methods</a:t>
            </a:r>
            <a:br>
              <a:rPr lang="en-US" dirty="0"/>
            </a:br>
            <a:br>
              <a:rPr lang="en-US" altLang="en-US" dirty="0">
                <a:solidFill>
                  <a:srgbClr val="404040"/>
                </a:solidFill>
                <a:cs typeface="Calibri"/>
              </a:rPr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F6F8-5610-76EF-C2FD-E3481C41B8D5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60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BA1F9-44B5-B555-117B-A5F60C68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4EE1-16C2-40B3-60C0-6EC22647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sz="3200" dirty="0"/>
              <a:t>Dictionary Methods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035D-6A12-878C-A5C8-E33307A6DCAF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6B82F-D994-E22F-55D9-0A3753FBEBC7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956D99-D6F7-E2BE-E342-0E66B581EB78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692A8-70F2-25DB-47B0-179ACED75281}"/>
              </a:ext>
            </a:extLst>
          </p:cNvPr>
          <p:cNvSpPr txBox="1"/>
          <p:nvPr/>
        </p:nvSpPr>
        <p:spPr>
          <a:xfrm>
            <a:off x="457200" y="766411"/>
            <a:ext cx="81361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The Python dictionary class </a:t>
            </a:r>
            <a:r>
              <a:rPr lang="en-US" sz="2400" dirty="0">
                <a:solidFill>
                  <a:srgbClr val="00B0F0"/>
                </a:solidFill>
                <a:latin typeface="+mj-lt"/>
                <a:ea typeface="+mj-ea"/>
                <a:cs typeface="Calibri"/>
              </a:rPr>
              <a:t>(</a:t>
            </a:r>
            <a:r>
              <a:rPr lang="en-US" sz="2400" dirty="0" err="1">
                <a:solidFill>
                  <a:srgbClr val="00B0F0"/>
                </a:solidFill>
                <a:latin typeface="+mj-lt"/>
                <a:ea typeface="+mj-ea"/>
                <a:cs typeface="Calibri"/>
              </a:rPr>
              <a:t>dict</a:t>
            </a:r>
            <a:r>
              <a:rPr lang="en-US" sz="2400" dirty="0">
                <a:solidFill>
                  <a:srgbClr val="00B0F0"/>
                </a:solidFill>
                <a:latin typeface="+mj-lt"/>
                <a:ea typeface="+mj-ea"/>
                <a:cs typeface="Calibri"/>
              </a:rPr>
              <a:t>) </a:t>
            </a: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provides several useful methods for manipulating dictionaries.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Below are the methods and examples: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9D8C9A-CC5B-4979-6D72-3CC2DDFC6127}"/>
              </a:ext>
            </a:extLst>
          </p:cNvPr>
          <p:cNvSpPr txBox="1"/>
          <p:nvPr/>
        </p:nvSpPr>
        <p:spPr>
          <a:xfrm>
            <a:off x="411150" y="1894011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1. keys()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314DE-879C-55A4-790A-8F8BFCE0F78E}"/>
              </a:ext>
            </a:extLst>
          </p:cNvPr>
          <p:cNvSpPr txBox="1"/>
          <p:nvPr/>
        </p:nvSpPr>
        <p:spPr>
          <a:xfrm>
            <a:off x="821646" y="2438598"/>
            <a:ext cx="75192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Returns: A sequence of the dictionary's keys as a tuple.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400" dirty="0"/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89FBFC-DB04-2EE3-4AAA-68E3AB33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90" y="3398974"/>
            <a:ext cx="8136194" cy="663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EA753C-E432-D164-74C4-BE2C6E780E39}"/>
              </a:ext>
            </a:extLst>
          </p:cNvPr>
          <p:cNvSpPr txBox="1"/>
          <p:nvPr/>
        </p:nvSpPr>
        <p:spPr>
          <a:xfrm>
            <a:off x="561090" y="4301566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values()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F2E025-2356-C41E-0B0D-1F03A087D704}"/>
              </a:ext>
            </a:extLst>
          </p:cNvPr>
          <p:cNvSpPr txBox="1"/>
          <p:nvPr/>
        </p:nvSpPr>
        <p:spPr>
          <a:xfrm>
            <a:off x="925536" y="4884042"/>
            <a:ext cx="7875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Returns: A sequence of the dictionary's values as a tuple.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04040"/>
              </a:solidFill>
              <a:latin typeface="+mj-lt"/>
              <a:ea typeface="+mj-ea"/>
              <a:cs typeface="Calibr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8BF61DC-0D92-5123-F95C-440DE63B0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90" y="5893482"/>
            <a:ext cx="8294598" cy="5273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9661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CE862-F7D8-61D9-7895-3A3625E5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83A4-FDDF-464B-E34E-442DDE8BB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sz="3200" dirty="0"/>
              <a:t>Dictionary Methods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31AFB4-7816-4C14-F746-B188BB515D29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AB3F31-F9DE-F366-6951-F09A7A0B2860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9B56E8-A9B8-012F-048A-3320567E0E41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EEDA5B-7F2C-B4BC-41E2-39D728329DCA}"/>
              </a:ext>
            </a:extLst>
          </p:cNvPr>
          <p:cNvSpPr txBox="1"/>
          <p:nvPr/>
        </p:nvSpPr>
        <p:spPr>
          <a:xfrm>
            <a:off x="332492" y="980716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items()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03FD7-41E1-6CDA-262A-6D2FC17A3D54}"/>
              </a:ext>
            </a:extLst>
          </p:cNvPr>
          <p:cNvSpPr txBox="1"/>
          <p:nvPr/>
        </p:nvSpPr>
        <p:spPr>
          <a:xfrm>
            <a:off x="722671" y="1544257"/>
            <a:ext cx="7519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Returns: A sequence of tuples, where each tuple is in the form (key, value).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400" dirty="0"/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B791D5-3165-827E-94B4-E5D4EF31C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56" y="2862410"/>
            <a:ext cx="8076944" cy="6461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6A0EE4-041E-DB82-92E2-E46A669F4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310" y="3644073"/>
            <a:ext cx="3464490" cy="64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43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D837-792B-B7A9-F2C3-16C547BA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C431-C74F-8D42-E0F6-0D06E487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sz="3200" dirty="0"/>
              <a:t>Dictionary Methods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FDFD9-F59F-A87D-57F9-97EB0FC2ED54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E3A781-ED09-3C84-05AF-EF9991B5DF7E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6AF124-3D5E-45B8-F24E-A7983ED5285D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EDAAE-9FB9-2BBB-E0F0-35F98CF3A8E8}"/>
              </a:ext>
            </a:extLst>
          </p:cNvPr>
          <p:cNvSpPr txBox="1"/>
          <p:nvPr/>
        </p:nvSpPr>
        <p:spPr>
          <a:xfrm>
            <a:off x="332492" y="778488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get(key)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81CABD-2AD8-6744-12D7-76BCB14B4CE8}"/>
              </a:ext>
            </a:extLst>
          </p:cNvPr>
          <p:cNvSpPr txBox="1"/>
          <p:nvPr/>
        </p:nvSpPr>
        <p:spPr>
          <a:xfrm>
            <a:off x="722671" y="1321024"/>
            <a:ext cx="75192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Returns: The value for the specified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If the key does not exist, it returns None instead of raising a </a:t>
            </a:r>
            <a:r>
              <a:rPr lang="en-US" sz="2400" dirty="0" err="1">
                <a:solidFill>
                  <a:srgbClr val="C00000"/>
                </a:solidFill>
                <a:latin typeface="+mj-lt"/>
                <a:ea typeface="+mj-ea"/>
                <a:cs typeface="Calibri"/>
              </a:rPr>
              <a:t>KeyError</a:t>
            </a: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400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8F8DBE-BD1F-877B-1BE0-D1F2A75FA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17" y="2909693"/>
            <a:ext cx="6607175" cy="90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490440-892D-0D2C-4922-933B9D82CA85}"/>
              </a:ext>
            </a:extLst>
          </p:cNvPr>
          <p:cNvSpPr txBox="1"/>
          <p:nvPr/>
        </p:nvSpPr>
        <p:spPr>
          <a:xfrm>
            <a:off x="332492" y="3901296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pop(key)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79D8D-359B-DBCB-91DE-3B3FA46DBDAB}"/>
              </a:ext>
            </a:extLst>
          </p:cNvPr>
          <p:cNvSpPr txBox="1"/>
          <p:nvPr/>
        </p:nvSpPr>
        <p:spPr>
          <a:xfrm>
            <a:off x="722671" y="4446421"/>
            <a:ext cx="7519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Returns: The value for the specified key, and removes the item from the dictionary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400" dirty="0"/>
              <a:t>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DF9B35-10A4-CF0D-5158-F9E0774D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59" y="5668655"/>
            <a:ext cx="6977012" cy="842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4333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B0408-9689-A1E7-2DAB-D061AD508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9212-1036-23E7-3D2C-D0117449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sz="3200" dirty="0"/>
              <a:t>Dictionary Methods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C9C9D1-0D6A-A5D9-1E5A-5723912C7407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06550-1053-CB55-C3B5-544228DB2780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515F34-D878-6C66-ECED-92CCF63F8F81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5F4AA-5A6D-2D2D-2DD6-494D6E3E7F38}"/>
              </a:ext>
            </a:extLst>
          </p:cNvPr>
          <p:cNvSpPr txBox="1"/>
          <p:nvPr/>
        </p:nvSpPr>
        <p:spPr>
          <a:xfrm>
            <a:off x="332492" y="800992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2800" dirty="0" err="1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popitem</a:t>
            </a: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DBBA8-0D0C-9432-9FEA-ADD4D1A7004A}"/>
              </a:ext>
            </a:extLst>
          </p:cNvPr>
          <p:cNvSpPr txBox="1"/>
          <p:nvPr/>
        </p:nvSpPr>
        <p:spPr>
          <a:xfrm>
            <a:off x="722671" y="1346117"/>
            <a:ext cx="75192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Returns: A randomly selected (key, value) pair as a tuple, and removes the selected item from the dictionary.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400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E32F26-50BF-09F5-D890-577B38F66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83" y="2577112"/>
            <a:ext cx="7658207" cy="7887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73EE8A-1296-0562-790C-2DE181A9B318}"/>
              </a:ext>
            </a:extLst>
          </p:cNvPr>
          <p:cNvSpPr txBox="1"/>
          <p:nvPr/>
        </p:nvSpPr>
        <p:spPr>
          <a:xfrm>
            <a:off x="457200" y="3631992"/>
            <a:ext cx="4626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clear()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F3255-44DF-19D9-4B8A-646B6E7E32A9}"/>
              </a:ext>
            </a:extLst>
          </p:cNvPr>
          <p:cNvSpPr txBox="1"/>
          <p:nvPr/>
        </p:nvSpPr>
        <p:spPr>
          <a:xfrm>
            <a:off x="875071" y="4175440"/>
            <a:ext cx="75192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Returns: removes all items from the dictionary.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Example</a:t>
            </a:r>
            <a:r>
              <a:rPr lang="en-US" sz="2400" dirty="0"/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F31CB1-48C8-4191-C557-948BC3507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49" y="5254306"/>
            <a:ext cx="5019247" cy="8896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5433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FA858-1216-BC0B-FE2C-28B079CD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76F1-4B25-DF27-615A-D82D3AF7B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87906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dirty="0"/>
              <a:t>14.6.8</a:t>
            </a:r>
            <a:r>
              <a:rPr lang="en-US" altLang="en-US" dirty="0">
                <a:solidFill>
                  <a:srgbClr val="404040"/>
                </a:solidFill>
                <a:cs typeface="Calibri"/>
              </a:rPr>
              <a:t>. Dictionary Methods: Demo</a:t>
            </a:r>
            <a:br>
              <a:rPr lang="en-US" altLang="en-US" dirty="0">
                <a:solidFill>
                  <a:srgbClr val="404040"/>
                </a:solidFill>
                <a:cs typeface="Calibri"/>
              </a:rPr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68C34-20B6-6EE2-8B18-26AEA8FA0447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18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3">
              <a:lumMod val="60000"/>
              <a:lumOff val="40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52410-5088-4DB0-2441-370A8155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FD87-6F11-811A-573E-0AFEF66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87906"/>
            <a:ext cx="8229600" cy="39508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14.7. Applications</a:t>
            </a:r>
            <a:br>
              <a:rPr lang="en-US" u="sng" dirty="0"/>
            </a:br>
            <a:br>
              <a:rPr lang="en-US" altLang="en-US" dirty="0">
                <a:solidFill>
                  <a:srgbClr val="404040"/>
                </a:solidFill>
                <a:cs typeface="Calibri"/>
              </a:rPr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F587B-883C-7E4C-33C5-FA16CAB1BDE0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28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DE317-AE40-5239-26CC-12A7054CD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8F7D-842A-7B11-942D-A7CC11297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sz="3200" dirty="0"/>
              <a:t>Applications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6B187-CABD-27E6-C44E-141B3B57D93D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98ECA-F3D9-AC95-8485-9A2C5A008FA7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AB55BD-067A-4110-B16A-F351F4AB5228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12937-973A-F801-B613-53C115055EDD}"/>
              </a:ext>
            </a:extLst>
          </p:cNvPr>
          <p:cNvSpPr txBox="1"/>
          <p:nvPr/>
        </p:nvSpPr>
        <p:spPr>
          <a:xfrm>
            <a:off x="533400" y="972179"/>
            <a:ext cx="815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Dictionaries are powerful and versatile data structures that are widely used in many real-world applications.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Below are some common applications where dictionaries can be effectively utilized: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8E56B1-012F-3691-3A58-1858C41FD10B}"/>
              </a:ext>
            </a:extLst>
          </p:cNvPr>
          <p:cNvSpPr txBox="1"/>
          <p:nvPr/>
        </p:nvSpPr>
        <p:spPr>
          <a:xfrm>
            <a:off x="277760" y="2707006"/>
            <a:ext cx="4626076" cy="3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</a:pP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 1. Employee directory: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01758E-7D81-64A6-24B9-ACCA17A19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23" y="3113742"/>
            <a:ext cx="5719225" cy="1217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AE1A06-FD97-E5B6-5882-D9722E2191ED}"/>
              </a:ext>
            </a:extLst>
          </p:cNvPr>
          <p:cNvSpPr txBox="1"/>
          <p:nvPr/>
        </p:nvSpPr>
        <p:spPr>
          <a:xfrm>
            <a:off x="457200" y="4066169"/>
            <a:ext cx="7401233" cy="16618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025"/>
              </a:lnSpc>
              <a:defRPr sz="2800">
                <a:solidFill>
                  <a:srgbClr val="404040"/>
                </a:solidFill>
                <a:latin typeface="+mj-lt"/>
                <a:ea typeface="+mj-ea"/>
                <a:cs typeface="Calibri"/>
              </a:defRPr>
            </a:lvl1pPr>
          </a:lstStyle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 Web Scraping and Data Organization</a:t>
            </a:r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01B8896-4A02-80CD-03D3-F01EB30C7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63" y="5004979"/>
            <a:ext cx="6886769" cy="1347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9977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0C170-1E8D-1033-94D6-BE6A3475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F1D4-62DC-83A5-7F18-D2A4A4EC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sz="3200" dirty="0"/>
              <a:t>Applications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0A3104-1BCC-4B1E-AB0F-DCFB1221820A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6FE8D3-1841-0E4D-9CFF-10D80869620F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5F5FC0-043D-9265-B6F5-793D30E1D757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39DF33-A65A-ABD5-3BCE-8E542A38D912}"/>
              </a:ext>
            </a:extLst>
          </p:cNvPr>
          <p:cNvSpPr txBox="1"/>
          <p:nvPr/>
        </p:nvSpPr>
        <p:spPr>
          <a:xfrm>
            <a:off x="277760" y="1281329"/>
            <a:ext cx="4626076" cy="3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ts val="2025"/>
              </a:lnSpc>
              <a:buFont typeface="+mj-lt"/>
              <a:buAutoNum type="arabicPeriod" startAt="3"/>
            </a:pP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Other Application: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442C2-DA18-447C-0FE5-AFC6DC9C314C}"/>
              </a:ext>
            </a:extLst>
          </p:cNvPr>
          <p:cNvSpPr txBox="1"/>
          <p:nvPr/>
        </p:nvSpPr>
        <p:spPr>
          <a:xfrm>
            <a:off x="457200" y="1843950"/>
            <a:ext cx="8229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Tracking User Activity</a:t>
            </a:r>
            <a:r>
              <a:rPr lang="en-US" sz="2000" dirty="0"/>
              <a:t>: In web applications, dictionaries can track how many times each user visits the site, stores their preferences, or logs events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4E8165-B555-D624-E5AC-1403A5311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828" y="2772905"/>
            <a:ext cx="2963507" cy="3318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5138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236B-7D79-6DAC-2558-0B7258B8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DF01-E872-9A0B-3818-C167425F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sz="3200" dirty="0"/>
              <a:t>Applications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E4B462-0914-D542-CDC5-D7EA29940549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592D8-3381-E701-8A81-50B041EB3C15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AB0CA1-F388-F434-D745-526EFB814A21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CABC35-18D0-3E7B-625F-FC9B11706A70}"/>
              </a:ext>
            </a:extLst>
          </p:cNvPr>
          <p:cNvSpPr txBox="1"/>
          <p:nvPr/>
        </p:nvSpPr>
        <p:spPr>
          <a:xfrm>
            <a:off x="277760" y="1281329"/>
            <a:ext cx="4626076" cy="3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ts val="2025"/>
              </a:lnSpc>
              <a:buFont typeface="+mj-lt"/>
              <a:buAutoNum type="arabicPeriod" startAt="3"/>
            </a:pPr>
            <a:r>
              <a:rPr lang="en-US" sz="28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Other Application: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A8F08-E28B-69C9-572C-1D217FE8A2B4}"/>
              </a:ext>
            </a:extLst>
          </p:cNvPr>
          <p:cNvSpPr txBox="1"/>
          <p:nvPr/>
        </p:nvSpPr>
        <p:spPr>
          <a:xfrm>
            <a:off x="457200" y="1843950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Word Frequency Counter</a:t>
            </a:r>
            <a:r>
              <a:rPr lang="en-US" sz="2000" dirty="0"/>
              <a:t>: In text processing, dictionaries are often used to count the occurrences of each word in a document, which is a common task in Natural Language Processing (NLP).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u="sng" dirty="0"/>
              <a:t>Example</a:t>
            </a:r>
            <a:r>
              <a:rPr lang="en-US" sz="2000" dirty="0"/>
              <a:t>: If the word "NLP" appears frequently, we can infer the document is about Natural Language Processing.</a:t>
            </a:r>
          </a:p>
        </p:txBody>
      </p:sp>
    </p:spTree>
    <p:extLst>
      <p:ext uri="{BB962C8B-B14F-4D97-AF65-F5344CB8AC3E}">
        <p14:creationId xmlns:p14="http://schemas.microsoft.com/office/powerpoint/2010/main" val="16335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D51F-CD83-0450-3BC3-E84123279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B786-B286-4676-2A64-C52305AA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92"/>
            <a:ext cx="8229600" cy="395083"/>
          </a:xfrm>
        </p:spPr>
        <p:txBody>
          <a:bodyPr>
            <a:noAutofit/>
          </a:bodyPr>
          <a:lstStyle/>
          <a:p>
            <a:r>
              <a:rPr lang="en-US" sz="3200" dirty="0"/>
              <a:t>Mini Exercise</a:t>
            </a:r>
            <a:endParaRPr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6E6F4-0CD9-A424-009E-4A0CD592523F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2652D1-0759-31A6-0A36-482E943592A1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8989A-D00C-926C-0D8C-E8028FA91155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65443-37A4-4208-6ABC-06BF98599148}"/>
              </a:ext>
            </a:extLst>
          </p:cNvPr>
          <p:cNvSpPr txBox="1"/>
          <p:nvPr/>
        </p:nvSpPr>
        <p:spPr>
          <a:xfrm>
            <a:off x="309716" y="978473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dictionary with the following student grades: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B0069-03F5-A8EE-E300-74ADC10F69FE}"/>
              </a:ext>
            </a:extLst>
          </p:cNvPr>
          <p:cNvSpPr txBox="1"/>
          <p:nvPr/>
        </p:nvSpPr>
        <p:spPr>
          <a:xfrm>
            <a:off x="3559278" y="1455400"/>
            <a:ext cx="1892706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"John": 85, </a:t>
            </a:r>
          </a:p>
          <a:p>
            <a:pPr algn="ctr"/>
            <a:r>
              <a:rPr lang="en-US" dirty="0"/>
              <a:t>"Sarah": 92,</a:t>
            </a:r>
          </a:p>
          <a:p>
            <a:pPr algn="ctr"/>
            <a:r>
              <a:rPr lang="en-US" dirty="0"/>
              <a:t> "Alex": 78, </a:t>
            </a:r>
          </a:p>
          <a:p>
            <a:pPr algn="ctr"/>
            <a:r>
              <a:rPr lang="en-US" dirty="0"/>
              <a:t>"Linda": 88, </a:t>
            </a:r>
          </a:p>
          <a:p>
            <a:pPr algn="ctr"/>
            <a:r>
              <a:rPr lang="en-US" dirty="0"/>
              <a:t>"David": 95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65E1-7430-4E5D-80E6-2DB0BB2F13B0}"/>
              </a:ext>
            </a:extLst>
          </p:cNvPr>
          <p:cNvSpPr txBox="1"/>
          <p:nvPr/>
        </p:nvSpPr>
        <p:spPr>
          <a:xfrm>
            <a:off x="457199" y="3026866"/>
            <a:ext cx="65237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dirty="0"/>
              <a:t>Add a new student</a:t>
            </a:r>
            <a:r>
              <a:rPr lang="en-US" dirty="0">
                <a:solidFill>
                  <a:srgbClr val="00B0F0"/>
                </a:solidFill>
              </a:rPr>
              <a:t>, "Emily", with a grade of 91.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Modify Sarah's grade to </a:t>
            </a:r>
            <a:r>
              <a:rPr lang="en-US" dirty="0">
                <a:solidFill>
                  <a:srgbClr val="00B0F0"/>
                </a:solidFill>
              </a:rPr>
              <a:t>95.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Remove </a:t>
            </a:r>
            <a:r>
              <a:rPr lang="en-US" dirty="0">
                <a:solidFill>
                  <a:srgbClr val="00B0F0"/>
                </a:solidFill>
              </a:rPr>
              <a:t>"Alex" </a:t>
            </a:r>
            <a:r>
              <a:rPr lang="en-US" dirty="0"/>
              <a:t>from the dictionary.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dirty="0"/>
              <a:t>Print the names of all students who scored above </a:t>
            </a:r>
            <a:r>
              <a:rPr lang="en-US" dirty="0">
                <a:solidFill>
                  <a:srgbClr val="00B0F0"/>
                </a:solidFill>
              </a:rPr>
              <a:t>90.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153AB-4E56-FA51-1318-07870F4762EB}"/>
              </a:ext>
            </a:extLst>
          </p:cNvPr>
          <p:cNvSpPr txBox="1"/>
          <p:nvPr/>
        </p:nvSpPr>
        <p:spPr>
          <a:xfrm>
            <a:off x="457200" y="5152329"/>
            <a:ext cx="4626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Expected Outcome: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4E4DCD-0443-95C9-9CD8-43CB1655A7FF}"/>
              </a:ext>
            </a:extLst>
          </p:cNvPr>
          <p:cNvSpPr txBox="1"/>
          <p:nvPr/>
        </p:nvSpPr>
        <p:spPr>
          <a:xfrm>
            <a:off x="2027905" y="5491713"/>
            <a:ext cx="86278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Sarah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David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Emily</a:t>
            </a:r>
          </a:p>
        </p:txBody>
      </p:sp>
    </p:spTree>
    <p:extLst>
      <p:ext uri="{BB962C8B-B14F-4D97-AF65-F5344CB8AC3E}">
        <p14:creationId xmlns:p14="http://schemas.microsoft.com/office/powerpoint/2010/main" val="2451014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9805-ABFD-1215-9311-29CA5FBA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4275-8BE3-ECAD-E404-1EB1E2A9B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654"/>
            <a:ext cx="8229600" cy="395083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rgbClr val="404040"/>
                </a:solidFill>
                <a:cs typeface="Calibri"/>
              </a:rPr>
              <a:t>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98AC33-F1AC-90EE-7506-92CD2D69C7C1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749F67-8C79-6A83-0E1E-6DAAC7711531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41D279-5AD5-A986-49CF-A11B90227CB8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3EA0C-436C-EBB5-EF4A-8D4AF3CF777C}"/>
              </a:ext>
            </a:extLst>
          </p:cNvPr>
          <p:cNvSpPr txBox="1"/>
          <p:nvPr/>
        </p:nvSpPr>
        <p:spPr>
          <a:xfrm>
            <a:off x="599768" y="1081927"/>
            <a:ext cx="808703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300" i="1" dirty="0"/>
              <a:t>In this chapter:</a:t>
            </a:r>
            <a:endParaRPr lang="km-KH" sz="2300" i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/>
              <a:t>In the Dictionary chapter, you learned how to store data using </a:t>
            </a:r>
            <a:r>
              <a:rPr lang="en-US" sz="2300" dirty="0">
                <a:solidFill>
                  <a:schemeClr val="accent1"/>
                </a:solidFill>
              </a:rPr>
              <a:t>key-value</a:t>
            </a:r>
            <a:r>
              <a:rPr lang="en-US" sz="2300" dirty="0"/>
              <a:t> pairs in Python dictionaries.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/>
              <a:t>Keys must be </a:t>
            </a:r>
            <a:r>
              <a:rPr lang="en-US" sz="2300" dirty="0" err="1">
                <a:solidFill>
                  <a:srgbClr val="00B0F0"/>
                </a:solidFill>
              </a:rPr>
              <a:t>hashable</a:t>
            </a:r>
            <a:r>
              <a:rPr lang="en-US" sz="2300" dirty="0"/>
              <a:t> (e.g., strings or numbers), while values can be of any type. You can add, modify, retrieve, or delete items using simple syntax.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/>
              <a:t>Important methods include keys(), values(), items(), get(), and pop().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/>
              <a:t>Dictionaries are versatile and used in real-world applications such as contact management, configuration settings, and route mapping for algorithms, providing efficient data storage and access.</a:t>
            </a:r>
          </a:p>
        </p:txBody>
      </p:sp>
      <p:pic>
        <p:nvPicPr>
          <p:cNvPr id="11" name="Picture 2" descr="Company summary icon, simple style 14523058 Vector Art at Vecteezy">
            <a:extLst>
              <a:ext uri="{FF2B5EF4-FFF2-40B4-BE49-F238E27FC236}">
                <a16:creationId xmlns:a16="http://schemas.microsoft.com/office/drawing/2014/main" id="{28C18413-4EED-7037-EE1F-A0DF2C05F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26" y="0"/>
            <a:ext cx="1064342" cy="106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2ED915-041B-F6DC-F3ED-C8BFCA670747}"/>
              </a:ext>
            </a:extLst>
          </p:cNvPr>
          <p:cNvSpPr/>
          <p:nvPr/>
        </p:nvSpPr>
        <p:spPr>
          <a:xfrm>
            <a:off x="4449095" y="3291681"/>
            <a:ext cx="825909" cy="27463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3A2927-7937-A480-DC29-B1114FBB0BF4}"/>
              </a:ext>
            </a:extLst>
          </p:cNvPr>
          <p:cNvSpPr/>
          <p:nvPr/>
        </p:nvSpPr>
        <p:spPr>
          <a:xfrm>
            <a:off x="5336454" y="3291681"/>
            <a:ext cx="897198" cy="27463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873CD6-E635-8C03-FBC4-A03A80BF84D4}"/>
              </a:ext>
            </a:extLst>
          </p:cNvPr>
          <p:cNvSpPr/>
          <p:nvPr/>
        </p:nvSpPr>
        <p:spPr>
          <a:xfrm>
            <a:off x="6376216" y="3291681"/>
            <a:ext cx="897198" cy="27463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2C18982-9EC4-93F5-2CD7-A2C37D462A8B}"/>
              </a:ext>
            </a:extLst>
          </p:cNvPr>
          <p:cNvSpPr/>
          <p:nvPr/>
        </p:nvSpPr>
        <p:spPr>
          <a:xfrm>
            <a:off x="7415978" y="3291681"/>
            <a:ext cx="557983" cy="27463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79F719-FCB1-B490-CF11-269CFE031B5C}"/>
              </a:ext>
            </a:extLst>
          </p:cNvPr>
          <p:cNvSpPr/>
          <p:nvPr/>
        </p:nvSpPr>
        <p:spPr>
          <a:xfrm>
            <a:off x="1053280" y="3635033"/>
            <a:ext cx="647701" cy="27463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675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E517-BDE0-B136-5317-1F9E61AD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4C46-31DE-235C-5C21-60E5358E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654"/>
            <a:ext cx="8229600" cy="395083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rgbClr val="404040"/>
                </a:solidFill>
                <a:cs typeface="Calibri"/>
              </a:rPr>
              <a:t>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F448B9-8AA9-1779-55D9-FDCFBAA9487F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962063-5749-86D7-9BEC-E83A9D922DCB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B620AF-B56E-6FC8-A269-EBE8DAC36A19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CF950-31F5-14EC-B601-F32BB07DD16E}"/>
              </a:ext>
            </a:extLst>
          </p:cNvPr>
          <p:cNvSpPr txBox="1"/>
          <p:nvPr/>
        </p:nvSpPr>
        <p:spPr>
          <a:xfrm>
            <a:off x="457200" y="1358998"/>
            <a:ext cx="7516761" cy="137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lvl="1" indent="-457200">
              <a:spcBef>
                <a:spcPts val="10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6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Text-book code practice</a:t>
            </a:r>
          </a:p>
          <a:p>
            <a:pPr marL="1384300" lvl="2" indent="-457200">
              <a:spcBef>
                <a:spcPts val="1095"/>
              </a:spcBef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86385" algn="l"/>
              </a:tabLst>
            </a:pPr>
            <a:r>
              <a:rPr lang="en-US" sz="2400" dirty="0"/>
              <a:t>14.7 Case Study: Occurrences of Words, page 492 </a:t>
            </a:r>
          </a:p>
        </p:txBody>
      </p:sp>
    </p:spTree>
    <p:extLst>
      <p:ext uri="{BB962C8B-B14F-4D97-AF65-F5344CB8AC3E}">
        <p14:creationId xmlns:p14="http://schemas.microsoft.com/office/powerpoint/2010/main" val="686072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4B5A1-1880-30E2-D1CE-78493AEB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0A4F4-8269-5A12-1F30-6147A04A3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654"/>
            <a:ext cx="8229600" cy="395083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rgbClr val="404040"/>
                </a:solidFill>
                <a:cs typeface="Calibri"/>
              </a:rPr>
              <a:t>Q &amp;A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E8059B-C637-C2B1-43E7-4F665EAA87B7}"/>
              </a:ext>
            </a:extLst>
          </p:cNvPr>
          <p:cNvSpPr/>
          <p:nvPr/>
        </p:nvSpPr>
        <p:spPr>
          <a:xfrm>
            <a:off x="0" y="6583363"/>
            <a:ext cx="9144000" cy="274638"/>
          </a:xfrm>
          <a:prstGeom prst="rect">
            <a:avLst/>
          </a:prstGeom>
          <a:solidFill>
            <a:srgbClr val="775F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D4007-91EB-3E78-130E-1BF527526BF8}"/>
              </a:ext>
            </a:extLst>
          </p:cNvPr>
          <p:cNvSpPr/>
          <p:nvPr/>
        </p:nvSpPr>
        <p:spPr>
          <a:xfrm>
            <a:off x="0" y="618766"/>
            <a:ext cx="1445342" cy="113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461F2-C010-F350-5A72-8293925D52EA}"/>
              </a:ext>
            </a:extLst>
          </p:cNvPr>
          <p:cNvSpPr/>
          <p:nvPr/>
        </p:nvSpPr>
        <p:spPr>
          <a:xfrm>
            <a:off x="1514168" y="618766"/>
            <a:ext cx="7629832" cy="113071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52C414-F13E-313B-163A-596CA4B2F27F}"/>
              </a:ext>
            </a:extLst>
          </p:cNvPr>
          <p:cNvSpPr txBox="1"/>
          <p:nvPr/>
        </p:nvSpPr>
        <p:spPr>
          <a:xfrm>
            <a:off x="703007" y="1358998"/>
            <a:ext cx="5127521" cy="106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9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86385" algn="l"/>
              </a:tabLst>
            </a:pPr>
            <a:r>
              <a:rPr lang="en-US" sz="2600" dirty="0">
                <a:solidFill>
                  <a:srgbClr val="404040"/>
                </a:solidFill>
                <a:latin typeface="+mj-lt"/>
                <a:ea typeface="+mj-ea"/>
                <a:cs typeface="Calibri"/>
              </a:rPr>
              <a:t>Lecture-Code:</a:t>
            </a:r>
          </a:p>
          <a:p>
            <a:pPr marL="927100" lvl="1" indent="-457200">
              <a:spcBef>
                <a:spcPts val="1095"/>
              </a:spcBef>
              <a:buClr>
                <a:schemeClr val="tx1"/>
              </a:buClr>
              <a:buFont typeface="Wingdings" panose="05000000000000000000" pitchFamily="2" charset="2"/>
              <a:buChar char="Ø"/>
              <a:tabLst>
                <a:tab pos="286385" algn="l"/>
              </a:tabLst>
            </a:pPr>
            <a:r>
              <a:rPr lang="en-US" sz="2800" dirty="0"/>
              <a:t>13.1 - 13.7</a:t>
            </a:r>
            <a:endParaRPr lang="en-US" sz="2600" dirty="0">
              <a:solidFill>
                <a:srgbClr val="404040"/>
              </a:solidFill>
              <a:latin typeface="+mj-lt"/>
              <a:ea typeface="+mj-ea"/>
              <a:cs typeface="Calibri"/>
            </a:endParaRPr>
          </a:p>
        </p:txBody>
      </p:sp>
      <p:pic>
        <p:nvPicPr>
          <p:cNvPr id="9" name="Picture 4" descr="PPT - Overview of DBMS recovery and concurrency control: PowerPoint ...">
            <a:extLst>
              <a:ext uri="{FF2B5EF4-FFF2-40B4-BE49-F238E27FC236}">
                <a16:creationId xmlns:a16="http://schemas.microsoft.com/office/drawing/2014/main" id="{0BE0CBE3-5602-83CF-07E3-6D469864D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0" y="1371600"/>
            <a:ext cx="4038600" cy="30289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026" name="Picture 2" descr="Funny Questions Comments or Concern Signs">
            <a:extLst>
              <a:ext uri="{FF2B5EF4-FFF2-40B4-BE49-F238E27FC236}">
                <a16:creationId xmlns:a16="http://schemas.microsoft.com/office/drawing/2014/main" id="{B9E24801-7EC9-7611-BA3B-321EE91F9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3373"/>
            <a:ext cx="3811254" cy="381125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94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4178</TotalTime>
  <Words>1132</Words>
  <Application>Microsoft Office PowerPoint</Application>
  <PresentationFormat>On-screen Show (4:3)</PresentationFormat>
  <Paragraphs>201</Paragraphs>
  <Slides>37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Wingdings</vt:lpstr>
      <vt:lpstr>Office Theme</vt:lpstr>
      <vt:lpstr>Chapter 14 Tuples, Sets, and       Dictionaries</vt:lpstr>
      <vt:lpstr>Section 2</vt:lpstr>
      <vt:lpstr>Contents</vt:lpstr>
      <vt:lpstr>Objective</vt:lpstr>
      <vt:lpstr>Introduction</vt:lpstr>
      <vt:lpstr>Introduction</vt:lpstr>
      <vt:lpstr>Introduction</vt:lpstr>
      <vt:lpstr>14.6.1 Creating Dictionaries</vt:lpstr>
      <vt:lpstr>Creating Dictionaries</vt:lpstr>
      <vt:lpstr>Creating Dictionaries</vt:lpstr>
      <vt:lpstr>Creating Dictionaries</vt:lpstr>
      <vt:lpstr>Creating Dictionaries</vt:lpstr>
      <vt:lpstr>Creating Dictionaries Demo</vt:lpstr>
      <vt:lpstr>14.6.2 . Adding, Modifying, and Retrieving Elements</vt:lpstr>
      <vt:lpstr>Adding, Modifying, and Retrieving Elements</vt:lpstr>
      <vt:lpstr>Adding, Modifying, and Retrieving Elements</vt:lpstr>
      <vt:lpstr>Adding, Modifying, and Retrieving Elements</vt:lpstr>
      <vt:lpstr>Adding, Modifying, and Retrieving Elements: Demo</vt:lpstr>
      <vt:lpstr>14.6.3. Deleting Items </vt:lpstr>
      <vt:lpstr> Deleting Items</vt:lpstr>
      <vt:lpstr> Deleting Items</vt:lpstr>
      <vt:lpstr> Deleting Items</vt:lpstr>
      <vt:lpstr>14.6.3. Deleting Items: Demo </vt:lpstr>
      <vt:lpstr>14.6.8. Dictionary Methods  </vt:lpstr>
      <vt:lpstr>Dictionary Methods</vt:lpstr>
      <vt:lpstr>Dictionary Methods</vt:lpstr>
      <vt:lpstr>Dictionary Methods</vt:lpstr>
      <vt:lpstr>Dictionary Methods</vt:lpstr>
      <vt:lpstr>14.6.8. Dictionary Methods: Demo </vt:lpstr>
      <vt:lpstr>14.7. Applications  </vt:lpstr>
      <vt:lpstr>Applications</vt:lpstr>
      <vt:lpstr>Applications</vt:lpstr>
      <vt:lpstr>Applications</vt:lpstr>
      <vt:lpstr>Mini Exercise</vt:lpstr>
      <vt:lpstr>Summary</vt:lpstr>
      <vt:lpstr>End</vt:lpstr>
      <vt:lpstr>Q 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13: Files and Exception Handling</dc:title>
  <dc:subject/>
  <dc:creator>PC</dc:creator>
  <cp:keywords/>
  <dc:description>generated using python-pptx</dc:description>
  <cp:lastModifiedBy>Mat Nab</cp:lastModifiedBy>
  <cp:revision>273</cp:revision>
  <dcterms:created xsi:type="dcterms:W3CDTF">2013-01-27T09:14:16Z</dcterms:created>
  <dcterms:modified xsi:type="dcterms:W3CDTF">2025-01-26T05:19:58Z</dcterms:modified>
  <cp:category/>
</cp:coreProperties>
</file>