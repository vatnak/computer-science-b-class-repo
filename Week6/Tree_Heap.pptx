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5"/>
  </p:notesMasterIdLst>
  <p:sldIdLst>
    <p:sldId id="256" r:id="rId2"/>
    <p:sldId id="257" r:id="rId3"/>
    <p:sldId id="258" r:id="rId4"/>
    <p:sldId id="259" r:id="rId5"/>
    <p:sldId id="307" r:id="rId6"/>
    <p:sldId id="308" r:id="rId7"/>
    <p:sldId id="309" r:id="rId8"/>
    <p:sldId id="262" r:id="rId9"/>
    <p:sldId id="310" r:id="rId10"/>
    <p:sldId id="311" r:id="rId11"/>
    <p:sldId id="317" r:id="rId12"/>
    <p:sldId id="312" r:id="rId13"/>
    <p:sldId id="264" r:id="rId14"/>
    <p:sldId id="321" r:id="rId15"/>
    <p:sldId id="322" r:id="rId16"/>
    <p:sldId id="314" r:id="rId17"/>
    <p:sldId id="313" r:id="rId18"/>
    <p:sldId id="315" r:id="rId19"/>
    <p:sldId id="319" r:id="rId20"/>
    <p:sldId id="320" r:id="rId21"/>
    <p:sldId id="323" r:id="rId22"/>
    <p:sldId id="327" r:id="rId23"/>
    <p:sldId id="316" r:id="rId24"/>
    <p:sldId id="328" r:id="rId25"/>
    <p:sldId id="265" r:id="rId26"/>
    <p:sldId id="352" r:id="rId27"/>
    <p:sldId id="329" r:id="rId28"/>
    <p:sldId id="266" r:id="rId29"/>
    <p:sldId id="353" r:id="rId30"/>
    <p:sldId id="330" r:id="rId31"/>
    <p:sldId id="331" r:id="rId32"/>
    <p:sldId id="332" r:id="rId33"/>
    <p:sldId id="333" r:id="rId34"/>
    <p:sldId id="334" r:id="rId35"/>
    <p:sldId id="338" r:id="rId36"/>
    <p:sldId id="336" r:id="rId37"/>
    <p:sldId id="339" r:id="rId38"/>
    <p:sldId id="340" r:id="rId39"/>
    <p:sldId id="341" r:id="rId40"/>
    <p:sldId id="342" r:id="rId41"/>
    <p:sldId id="343" r:id="rId42"/>
    <p:sldId id="344" r:id="rId43"/>
    <p:sldId id="345" r:id="rId44"/>
    <p:sldId id="346" r:id="rId45"/>
    <p:sldId id="347" r:id="rId46"/>
    <p:sldId id="348" r:id="rId47"/>
    <p:sldId id="304" r:id="rId48"/>
    <p:sldId id="349" r:id="rId49"/>
    <p:sldId id="268" r:id="rId50"/>
    <p:sldId id="350" r:id="rId51"/>
    <p:sldId id="269" r:id="rId52"/>
    <p:sldId id="351" r:id="rId53"/>
    <p:sldId id="296" r:id="rId54"/>
  </p:sldIdLst>
  <p:sldSz cx="9144000" cy="6858000" type="screen4x3"/>
  <p:notesSz cx="6858000" cy="9144000"/>
  <p:embeddedFontLst>
    <p:embeddedFont>
      <p:font typeface="Bahnschrift" panose="020B0502040204020203" pitchFamily="34" charset="0"/>
      <p:regular r:id="rId56"/>
      <p:bold r:id="rId57"/>
    </p:embeddedFont>
    <p:embeddedFont>
      <p:font typeface="Cambria Math" panose="02040503050406030204" pitchFamily="18" charset="0"/>
      <p:regular r:id="rId58"/>
    </p:embeddedFont>
    <p:embeddedFont>
      <p:font typeface="Inter" panose="02000503000000020004" pitchFamily="2" charset="0"/>
      <p:regular r:id="rId59"/>
      <p:bold r:id="rId60"/>
      <p:italic r:id="rId61"/>
      <p:boldItalic r:id="rId6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2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3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6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1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5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A7D1C858-C825-5693-E15F-7C51D1C85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>
            <a:extLst>
              <a:ext uri="{FF2B5EF4-FFF2-40B4-BE49-F238E27FC236}">
                <a16:creationId xmlns:a16="http://schemas.microsoft.com/office/drawing/2014/main" id="{5C95C960-3F43-21DB-DCFF-366D80F171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5:notes">
            <a:extLst>
              <a:ext uri="{FF2B5EF4-FFF2-40B4-BE49-F238E27FC236}">
                <a16:creationId xmlns:a16="http://schemas.microsoft.com/office/drawing/2014/main" id="{E155A4E6-CC50-A162-1E7D-A92AD66CEF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>
            <a:extLst>
              <a:ext uri="{FF2B5EF4-FFF2-40B4-BE49-F238E27FC236}">
                <a16:creationId xmlns:a16="http://schemas.microsoft.com/office/drawing/2014/main" id="{1BB7700A-1AA9-3030-FB78-2661635365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4530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B516B8C6-822C-05B0-141D-A4CCEA496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>
            <a:extLst>
              <a:ext uri="{FF2B5EF4-FFF2-40B4-BE49-F238E27FC236}">
                <a16:creationId xmlns:a16="http://schemas.microsoft.com/office/drawing/2014/main" id="{1C6A5BC5-B3AE-A9EB-6777-512DF5FA58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>
            <a:extLst>
              <a:ext uri="{FF2B5EF4-FFF2-40B4-BE49-F238E27FC236}">
                <a16:creationId xmlns:a16="http://schemas.microsoft.com/office/drawing/2014/main" id="{0DDED770-089D-F686-D955-C6BE44DCDA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:notes">
            <a:extLst>
              <a:ext uri="{FF2B5EF4-FFF2-40B4-BE49-F238E27FC236}">
                <a16:creationId xmlns:a16="http://schemas.microsoft.com/office/drawing/2014/main" id="{5194BDED-EDE4-DD81-4354-0B75E08090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0558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A5E062F6-3EBF-0F05-D6CF-F42FF121E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>
            <a:extLst>
              <a:ext uri="{FF2B5EF4-FFF2-40B4-BE49-F238E27FC236}">
                <a16:creationId xmlns:a16="http://schemas.microsoft.com/office/drawing/2014/main" id="{672F5D70-B820-96A3-F28D-03A51B8BC2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>
            <a:extLst>
              <a:ext uri="{FF2B5EF4-FFF2-40B4-BE49-F238E27FC236}">
                <a16:creationId xmlns:a16="http://schemas.microsoft.com/office/drawing/2014/main" id="{693CEC26-6B43-6691-1242-618EB9AE58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:notes">
            <a:extLst>
              <a:ext uri="{FF2B5EF4-FFF2-40B4-BE49-F238E27FC236}">
                <a16:creationId xmlns:a16="http://schemas.microsoft.com/office/drawing/2014/main" id="{F2581DA7-50C5-A47E-BF31-DC9FDA4D8E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70360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2CB0ED71-8DF2-D1EB-75B3-DCD4D13AA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>
            <a:extLst>
              <a:ext uri="{FF2B5EF4-FFF2-40B4-BE49-F238E27FC236}">
                <a16:creationId xmlns:a16="http://schemas.microsoft.com/office/drawing/2014/main" id="{805C06C7-B263-98BF-93A1-A71438765F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>
            <a:extLst>
              <a:ext uri="{FF2B5EF4-FFF2-40B4-BE49-F238E27FC236}">
                <a16:creationId xmlns:a16="http://schemas.microsoft.com/office/drawing/2014/main" id="{DB100B34-CD3E-09CE-9A91-3CCA0224F3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:notes">
            <a:extLst>
              <a:ext uri="{FF2B5EF4-FFF2-40B4-BE49-F238E27FC236}">
                <a16:creationId xmlns:a16="http://schemas.microsoft.com/office/drawing/2014/main" id="{67472093-3406-0E15-F0A1-D5F675A72DA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10222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D4D248E6-5A38-58D6-F60F-1AC8B14B7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>
            <a:extLst>
              <a:ext uri="{FF2B5EF4-FFF2-40B4-BE49-F238E27FC236}">
                <a16:creationId xmlns:a16="http://schemas.microsoft.com/office/drawing/2014/main" id="{1DEE2447-48FA-8B2E-3EEE-6BA0E51F03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>
            <a:extLst>
              <a:ext uri="{FF2B5EF4-FFF2-40B4-BE49-F238E27FC236}">
                <a16:creationId xmlns:a16="http://schemas.microsoft.com/office/drawing/2014/main" id="{8B40EAA6-9ADC-B819-2EED-CF2150C70B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:notes">
            <a:extLst>
              <a:ext uri="{FF2B5EF4-FFF2-40B4-BE49-F238E27FC236}">
                <a16:creationId xmlns:a16="http://schemas.microsoft.com/office/drawing/2014/main" id="{CF391AC0-F7A2-4FF1-8E82-6C69BC48D8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9983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F395C5CB-257F-4348-1EB0-BF38CADCC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>
            <a:extLst>
              <a:ext uri="{FF2B5EF4-FFF2-40B4-BE49-F238E27FC236}">
                <a16:creationId xmlns:a16="http://schemas.microsoft.com/office/drawing/2014/main" id="{D5D4277E-CF7C-43FE-6933-E5B72C2CD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9:notes">
            <a:extLst>
              <a:ext uri="{FF2B5EF4-FFF2-40B4-BE49-F238E27FC236}">
                <a16:creationId xmlns:a16="http://schemas.microsoft.com/office/drawing/2014/main" id="{7157DBA9-38EE-5C7E-9706-40A266BA85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>
            <a:extLst>
              <a:ext uri="{FF2B5EF4-FFF2-40B4-BE49-F238E27FC236}">
                <a16:creationId xmlns:a16="http://schemas.microsoft.com/office/drawing/2014/main" id="{4D2CF7DE-2EDF-D887-8A66-EE2C9541ABA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92151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21B668EB-2AF8-2070-23C3-E0A63A6CA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>
            <a:extLst>
              <a:ext uri="{FF2B5EF4-FFF2-40B4-BE49-F238E27FC236}">
                <a16:creationId xmlns:a16="http://schemas.microsoft.com/office/drawing/2014/main" id="{ADE2BEF6-2FD5-BAEE-D42A-9D1CE7B2FF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9:notes">
            <a:extLst>
              <a:ext uri="{FF2B5EF4-FFF2-40B4-BE49-F238E27FC236}">
                <a16:creationId xmlns:a16="http://schemas.microsoft.com/office/drawing/2014/main" id="{87B7C58D-C45C-4B6F-B911-2E57B1F518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>
            <a:extLst>
              <a:ext uri="{FF2B5EF4-FFF2-40B4-BE49-F238E27FC236}">
                <a16:creationId xmlns:a16="http://schemas.microsoft.com/office/drawing/2014/main" id="{9C659DF9-E4C0-D9FB-DABF-D882025430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9412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39123AE4-E5E8-F4E6-1AF4-8B7BBD81C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>
            <a:extLst>
              <a:ext uri="{FF2B5EF4-FFF2-40B4-BE49-F238E27FC236}">
                <a16:creationId xmlns:a16="http://schemas.microsoft.com/office/drawing/2014/main" id="{88C2C71E-52EA-B553-EC4D-63C09E5706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9:notes">
            <a:extLst>
              <a:ext uri="{FF2B5EF4-FFF2-40B4-BE49-F238E27FC236}">
                <a16:creationId xmlns:a16="http://schemas.microsoft.com/office/drawing/2014/main" id="{553ABAD8-DE87-BAC3-9C19-9BFFE3A11F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>
            <a:extLst>
              <a:ext uri="{FF2B5EF4-FFF2-40B4-BE49-F238E27FC236}">
                <a16:creationId xmlns:a16="http://schemas.microsoft.com/office/drawing/2014/main" id="{76C820E9-6D33-13FB-EB72-2B3BB9C8FE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86809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18C823CF-FE80-8DA7-A426-8F4E7817F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>
            <a:extLst>
              <a:ext uri="{FF2B5EF4-FFF2-40B4-BE49-F238E27FC236}">
                <a16:creationId xmlns:a16="http://schemas.microsoft.com/office/drawing/2014/main" id="{6A6D217E-EFDF-42C2-9F89-4C6CE7F520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9:notes">
            <a:extLst>
              <a:ext uri="{FF2B5EF4-FFF2-40B4-BE49-F238E27FC236}">
                <a16:creationId xmlns:a16="http://schemas.microsoft.com/office/drawing/2014/main" id="{C56F1C6E-1A77-446C-6C13-DA09955A84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>
            <a:extLst>
              <a:ext uri="{FF2B5EF4-FFF2-40B4-BE49-F238E27FC236}">
                <a16:creationId xmlns:a16="http://schemas.microsoft.com/office/drawing/2014/main" id="{B9BA39DA-9930-0B7B-CE76-191B74FA30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80276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0B84688E-7C5F-D3BA-4063-1B8DFE2F9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>
            <a:extLst>
              <a:ext uri="{FF2B5EF4-FFF2-40B4-BE49-F238E27FC236}">
                <a16:creationId xmlns:a16="http://schemas.microsoft.com/office/drawing/2014/main" id="{A7C33ABB-9061-8362-B5BD-3BB1E6820F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9:notes">
            <a:extLst>
              <a:ext uri="{FF2B5EF4-FFF2-40B4-BE49-F238E27FC236}">
                <a16:creationId xmlns:a16="http://schemas.microsoft.com/office/drawing/2014/main" id="{FF6EBF90-D94C-996E-168B-38F503693E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>
            <a:extLst>
              <a:ext uri="{FF2B5EF4-FFF2-40B4-BE49-F238E27FC236}">
                <a16:creationId xmlns:a16="http://schemas.microsoft.com/office/drawing/2014/main" id="{0D86C436-96CE-E487-0D0B-9451C6471E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47543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CE005B25-5168-E172-89C4-0C3F02DAD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>
            <a:extLst>
              <a:ext uri="{FF2B5EF4-FFF2-40B4-BE49-F238E27FC236}">
                <a16:creationId xmlns:a16="http://schemas.microsoft.com/office/drawing/2014/main" id="{BA33E1F2-92F9-AF1A-D99B-95EC6C14E2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9:notes">
            <a:extLst>
              <a:ext uri="{FF2B5EF4-FFF2-40B4-BE49-F238E27FC236}">
                <a16:creationId xmlns:a16="http://schemas.microsoft.com/office/drawing/2014/main" id="{40956F68-0F34-D016-A274-7D6BDB4452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>
            <a:extLst>
              <a:ext uri="{FF2B5EF4-FFF2-40B4-BE49-F238E27FC236}">
                <a16:creationId xmlns:a16="http://schemas.microsoft.com/office/drawing/2014/main" id="{921805E6-EE35-A63E-C548-625DFB3B85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11034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1FE14D55-1C4F-97E8-2A99-AA5C60717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>
            <a:extLst>
              <a:ext uri="{FF2B5EF4-FFF2-40B4-BE49-F238E27FC236}">
                <a16:creationId xmlns:a16="http://schemas.microsoft.com/office/drawing/2014/main" id="{27D8D917-91DC-789E-9B86-091B54B74D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9:notes">
            <a:extLst>
              <a:ext uri="{FF2B5EF4-FFF2-40B4-BE49-F238E27FC236}">
                <a16:creationId xmlns:a16="http://schemas.microsoft.com/office/drawing/2014/main" id="{D56467FC-3F1B-1FD0-C1EF-DCF9E988B1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>
            <a:extLst>
              <a:ext uri="{FF2B5EF4-FFF2-40B4-BE49-F238E27FC236}">
                <a16:creationId xmlns:a16="http://schemas.microsoft.com/office/drawing/2014/main" id="{D19C3BE4-865F-E7F0-ECB1-E0C30E9AC6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71112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B389E3D0-C6AC-6229-49FA-D557AFC72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>
            <a:extLst>
              <a:ext uri="{FF2B5EF4-FFF2-40B4-BE49-F238E27FC236}">
                <a16:creationId xmlns:a16="http://schemas.microsoft.com/office/drawing/2014/main" id="{1F04FE61-653C-7E0A-2AED-F95A04D702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9:notes">
            <a:extLst>
              <a:ext uri="{FF2B5EF4-FFF2-40B4-BE49-F238E27FC236}">
                <a16:creationId xmlns:a16="http://schemas.microsoft.com/office/drawing/2014/main" id="{A56C2206-09A7-C2B2-A226-C03C42038B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>
            <a:extLst>
              <a:ext uri="{FF2B5EF4-FFF2-40B4-BE49-F238E27FC236}">
                <a16:creationId xmlns:a16="http://schemas.microsoft.com/office/drawing/2014/main" id="{ADC69070-7D8D-B33D-365B-23E17FE051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43150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651160D7-A617-8AF1-530E-7E7856129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>
            <a:extLst>
              <a:ext uri="{FF2B5EF4-FFF2-40B4-BE49-F238E27FC236}">
                <a16:creationId xmlns:a16="http://schemas.microsoft.com/office/drawing/2014/main" id="{1EBC91EE-F7CB-2A40-1083-BC21E3FAA5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9:notes">
            <a:extLst>
              <a:ext uri="{FF2B5EF4-FFF2-40B4-BE49-F238E27FC236}">
                <a16:creationId xmlns:a16="http://schemas.microsoft.com/office/drawing/2014/main" id="{A19FBD14-2961-F058-9FBD-C0B0CA3E08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>
            <a:extLst>
              <a:ext uri="{FF2B5EF4-FFF2-40B4-BE49-F238E27FC236}">
                <a16:creationId xmlns:a16="http://schemas.microsoft.com/office/drawing/2014/main" id="{23E76F09-9B0A-ED30-F10B-CB96DB7FAC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39569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F5A7AD63-DB97-D149-E112-6C846F78D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>
            <a:extLst>
              <a:ext uri="{FF2B5EF4-FFF2-40B4-BE49-F238E27FC236}">
                <a16:creationId xmlns:a16="http://schemas.microsoft.com/office/drawing/2014/main" id="{DCEE1309-E27A-C97E-67FE-76B4ADCB30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9:notes">
            <a:extLst>
              <a:ext uri="{FF2B5EF4-FFF2-40B4-BE49-F238E27FC236}">
                <a16:creationId xmlns:a16="http://schemas.microsoft.com/office/drawing/2014/main" id="{DF7C3421-593E-A5A8-AF1F-122E0D20D1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>
            <a:extLst>
              <a:ext uri="{FF2B5EF4-FFF2-40B4-BE49-F238E27FC236}">
                <a16:creationId xmlns:a16="http://schemas.microsoft.com/office/drawing/2014/main" id="{8FD47416-2A4A-C0DD-619A-1F8A79CBA3A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62201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6C515DBC-BBF7-583E-470D-7822C94F4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>
            <a:extLst>
              <a:ext uri="{FF2B5EF4-FFF2-40B4-BE49-F238E27FC236}">
                <a16:creationId xmlns:a16="http://schemas.microsoft.com/office/drawing/2014/main" id="{A599B117-1E62-34C1-2AFB-056408B15E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9:notes">
            <a:extLst>
              <a:ext uri="{FF2B5EF4-FFF2-40B4-BE49-F238E27FC236}">
                <a16:creationId xmlns:a16="http://schemas.microsoft.com/office/drawing/2014/main" id="{F683C3F5-AA05-A83D-4EF0-B305B6291A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>
            <a:extLst>
              <a:ext uri="{FF2B5EF4-FFF2-40B4-BE49-F238E27FC236}">
                <a16:creationId xmlns:a16="http://schemas.microsoft.com/office/drawing/2014/main" id="{8209A039-79E4-6F2F-0C1D-03E41249E0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68436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B3D6FDAA-FF70-8F32-0F1B-C87EFFCAA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>
            <a:extLst>
              <a:ext uri="{FF2B5EF4-FFF2-40B4-BE49-F238E27FC236}">
                <a16:creationId xmlns:a16="http://schemas.microsoft.com/office/drawing/2014/main" id="{91234DA5-935D-E970-4474-0501A85859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10:notes">
            <a:extLst>
              <a:ext uri="{FF2B5EF4-FFF2-40B4-BE49-F238E27FC236}">
                <a16:creationId xmlns:a16="http://schemas.microsoft.com/office/drawing/2014/main" id="{383FED8E-05C5-606E-6505-7C69FF24B2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0:notes">
            <a:extLst>
              <a:ext uri="{FF2B5EF4-FFF2-40B4-BE49-F238E27FC236}">
                <a16:creationId xmlns:a16="http://schemas.microsoft.com/office/drawing/2014/main" id="{01514CEC-3308-7110-AB83-32B2D134BB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85760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745F245E-DA33-1C7F-A8CC-07593EE02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>
            <a:extLst>
              <a:ext uri="{FF2B5EF4-FFF2-40B4-BE49-F238E27FC236}">
                <a16:creationId xmlns:a16="http://schemas.microsoft.com/office/drawing/2014/main" id="{8F1B88F4-A168-29E3-9AC6-10BCE9FE1B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1:notes">
            <a:extLst>
              <a:ext uri="{FF2B5EF4-FFF2-40B4-BE49-F238E27FC236}">
                <a16:creationId xmlns:a16="http://schemas.microsoft.com/office/drawing/2014/main" id="{D4A721C3-A73F-8AF4-EDCB-BB5ACD67FC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>
            <a:extLst>
              <a:ext uri="{FF2B5EF4-FFF2-40B4-BE49-F238E27FC236}">
                <a16:creationId xmlns:a16="http://schemas.microsoft.com/office/drawing/2014/main" id="{4215E4C1-E2A1-EF77-A70E-32C9D2D74D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52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0CB0AFA3-B1CA-C977-7189-3ED830DBF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>
            <a:extLst>
              <a:ext uri="{FF2B5EF4-FFF2-40B4-BE49-F238E27FC236}">
                <a16:creationId xmlns:a16="http://schemas.microsoft.com/office/drawing/2014/main" id="{E1E4A257-740C-52DD-6BB5-301EBEF018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1:notes">
            <a:extLst>
              <a:ext uri="{FF2B5EF4-FFF2-40B4-BE49-F238E27FC236}">
                <a16:creationId xmlns:a16="http://schemas.microsoft.com/office/drawing/2014/main" id="{7F03E444-9527-021A-EBBD-0A316C23B7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>
            <a:extLst>
              <a:ext uri="{FF2B5EF4-FFF2-40B4-BE49-F238E27FC236}">
                <a16:creationId xmlns:a16="http://schemas.microsoft.com/office/drawing/2014/main" id="{43C6AF2C-2A26-2A00-E751-52C2ED3AD1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73935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B0513D1C-6487-0AB5-4C4A-CF29383B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>
            <a:extLst>
              <a:ext uri="{FF2B5EF4-FFF2-40B4-BE49-F238E27FC236}">
                <a16:creationId xmlns:a16="http://schemas.microsoft.com/office/drawing/2014/main" id="{7BF13608-57BE-6003-4197-D41767F82F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1:notes">
            <a:extLst>
              <a:ext uri="{FF2B5EF4-FFF2-40B4-BE49-F238E27FC236}">
                <a16:creationId xmlns:a16="http://schemas.microsoft.com/office/drawing/2014/main" id="{3A96F2DF-18A3-F667-888E-E6D9E3AACB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>
            <a:extLst>
              <a:ext uri="{FF2B5EF4-FFF2-40B4-BE49-F238E27FC236}">
                <a16:creationId xmlns:a16="http://schemas.microsoft.com/office/drawing/2014/main" id="{AB0D2B35-560F-5708-6DC2-146893713A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72169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054870EC-09CB-5405-7EBE-DE5261B96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>
            <a:extLst>
              <a:ext uri="{FF2B5EF4-FFF2-40B4-BE49-F238E27FC236}">
                <a16:creationId xmlns:a16="http://schemas.microsoft.com/office/drawing/2014/main" id="{A1F6B44A-F5CE-DA76-717A-E1FB24E5A8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1:notes">
            <a:extLst>
              <a:ext uri="{FF2B5EF4-FFF2-40B4-BE49-F238E27FC236}">
                <a16:creationId xmlns:a16="http://schemas.microsoft.com/office/drawing/2014/main" id="{AB2EB1F5-080C-B198-A492-8409DBC705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>
            <a:extLst>
              <a:ext uri="{FF2B5EF4-FFF2-40B4-BE49-F238E27FC236}">
                <a16:creationId xmlns:a16="http://schemas.microsoft.com/office/drawing/2014/main" id="{E1F4DE74-0699-33DD-B2D1-AC240E5A13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39079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2823E5A1-D54B-C8D9-ED35-F598ECE5D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>
            <a:extLst>
              <a:ext uri="{FF2B5EF4-FFF2-40B4-BE49-F238E27FC236}">
                <a16:creationId xmlns:a16="http://schemas.microsoft.com/office/drawing/2014/main" id="{93979D07-1258-1993-9790-51708C9B85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1:notes">
            <a:extLst>
              <a:ext uri="{FF2B5EF4-FFF2-40B4-BE49-F238E27FC236}">
                <a16:creationId xmlns:a16="http://schemas.microsoft.com/office/drawing/2014/main" id="{9AF04519-2808-4204-0A1E-7FEDBAC42B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>
            <a:extLst>
              <a:ext uri="{FF2B5EF4-FFF2-40B4-BE49-F238E27FC236}">
                <a16:creationId xmlns:a16="http://schemas.microsoft.com/office/drawing/2014/main" id="{74278F16-85D9-A500-0B94-F3C26EED54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59793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340FC1B5-ED0F-13D4-3934-0AF9828F4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>
            <a:extLst>
              <a:ext uri="{FF2B5EF4-FFF2-40B4-BE49-F238E27FC236}">
                <a16:creationId xmlns:a16="http://schemas.microsoft.com/office/drawing/2014/main" id="{8293828D-9714-566A-49B6-ED5A6DB480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1:notes">
            <a:extLst>
              <a:ext uri="{FF2B5EF4-FFF2-40B4-BE49-F238E27FC236}">
                <a16:creationId xmlns:a16="http://schemas.microsoft.com/office/drawing/2014/main" id="{6FDCF040-7F92-21D5-04A2-3A68AABA62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>
            <a:extLst>
              <a:ext uri="{FF2B5EF4-FFF2-40B4-BE49-F238E27FC236}">
                <a16:creationId xmlns:a16="http://schemas.microsoft.com/office/drawing/2014/main" id="{C1A33141-3A6B-3FFC-9AF9-A8DF5A3287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31952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08BA1559-62BC-4346-147E-4A21C42DB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>
            <a:extLst>
              <a:ext uri="{FF2B5EF4-FFF2-40B4-BE49-F238E27FC236}">
                <a16:creationId xmlns:a16="http://schemas.microsoft.com/office/drawing/2014/main" id="{961ABE1D-8A0D-C0AF-DB4F-65FCBCB178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1:notes">
            <a:extLst>
              <a:ext uri="{FF2B5EF4-FFF2-40B4-BE49-F238E27FC236}">
                <a16:creationId xmlns:a16="http://schemas.microsoft.com/office/drawing/2014/main" id="{9CCBBC1D-A22A-1584-E7D8-405FDA8FB6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>
            <a:extLst>
              <a:ext uri="{FF2B5EF4-FFF2-40B4-BE49-F238E27FC236}">
                <a16:creationId xmlns:a16="http://schemas.microsoft.com/office/drawing/2014/main" id="{553E9E28-47CC-74E8-A32F-599BF0800F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49408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1CD13BB9-45F2-31B1-B475-01B522B06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>
            <a:extLst>
              <a:ext uri="{FF2B5EF4-FFF2-40B4-BE49-F238E27FC236}">
                <a16:creationId xmlns:a16="http://schemas.microsoft.com/office/drawing/2014/main" id="{9F0AA7A9-5242-4EDF-870B-9A0426BC93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1:notes">
            <a:extLst>
              <a:ext uri="{FF2B5EF4-FFF2-40B4-BE49-F238E27FC236}">
                <a16:creationId xmlns:a16="http://schemas.microsoft.com/office/drawing/2014/main" id="{F90ADED0-D0F6-CA69-F012-07809A8750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>
            <a:extLst>
              <a:ext uri="{FF2B5EF4-FFF2-40B4-BE49-F238E27FC236}">
                <a16:creationId xmlns:a16="http://schemas.microsoft.com/office/drawing/2014/main" id="{814E4CC7-E29B-8008-45B1-A647553C0B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22834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FD576AFA-B619-7978-A89B-5B647551C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>
            <a:extLst>
              <a:ext uri="{FF2B5EF4-FFF2-40B4-BE49-F238E27FC236}">
                <a16:creationId xmlns:a16="http://schemas.microsoft.com/office/drawing/2014/main" id="{37D3AA36-6B96-9569-EA0A-5FDAD53CD5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1:notes">
            <a:extLst>
              <a:ext uri="{FF2B5EF4-FFF2-40B4-BE49-F238E27FC236}">
                <a16:creationId xmlns:a16="http://schemas.microsoft.com/office/drawing/2014/main" id="{F3DEE0F2-8FDE-9F15-F2FA-8EC6559B4C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>
            <a:extLst>
              <a:ext uri="{FF2B5EF4-FFF2-40B4-BE49-F238E27FC236}">
                <a16:creationId xmlns:a16="http://schemas.microsoft.com/office/drawing/2014/main" id="{A492C784-43D5-B32C-A453-89BE728B0D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983741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6AF52F27-E319-C51C-1F9A-149D22EAA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>
            <a:extLst>
              <a:ext uri="{FF2B5EF4-FFF2-40B4-BE49-F238E27FC236}">
                <a16:creationId xmlns:a16="http://schemas.microsoft.com/office/drawing/2014/main" id="{0FC846F2-3FEA-2382-60F8-DCF4F6C63C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1:notes">
            <a:extLst>
              <a:ext uri="{FF2B5EF4-FFF2-40B4-BE49-F238E27FC236}">
                <a16:creationId xmlns:a16="http://schemas.microsoft.com/office/drawing/2014/main" id="{F694A03A-1F4A-52A8-E45D-0239324DFC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>
            <a:extLst>
              <a:ext uri="{FF2B5EF4-FFF2-40B4-BE49-F238E27FC236}">
                <a16:creationId xmlns:a16="http://schemas.microsoft.com/office/drawing/2014/main" id="{4FA54A6F-B17B-2910-9801-965024EB22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26950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4C76448D-45DA-3425-9E14-433DC8623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>
            <a:extLst>
              <a:ext uri="{FF2B5EF4-FFF2-40B4-BE49-F238E27FC236}">
                <a16:creationId xmlns:a16="http://schemas.microsoft.com/office/drawing/2014/main" id="{A6F812E5-FBCE-B24B-C83A-EE09BA20B4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1:notes">
            <a:extLst>
              <a:ext uri="{FF2B5EF4-FFF2-40B4-BE49-F238E27FC236}">
                <a16:creationId xmlns:a16="http://schemas.microsoft.com/office/drawing/2014/main" id="{49C46158-6194-8AC7-1121-5AA0339358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>
            <a:extLst>
              <a:ext uri="{FF2B5EF4-FFF2-40B4-BE49-F238E27FC236}">
                <a16:creationId xmlns:a16="http://schemas.microsoft.com/office/drawing/2014/main" id="{01DE1B55-E277-A8D7-77AF-1677CBE332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478348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1D310845-AFDA-FC5E-F67A-DCBCDC3FB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>
            <a:extLst>
              <a:ext uri="{FF2B5EF4-FFF2-40B4-BE49-F238E27FC236}">
                <a16:creationId xmlns:a16="http://schemas.microsoft.com/office/drawing/2014/main" id="{6A1F079F-F29D-9ED2-9116-6E2683A9D4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1:notes">
            <a:extLst>
              <a:ext uri="{FF2B5EF4-FFF2-40B4-BE49-F238E27FC236}">
                <a16:creationId xmlns:a16="http://schemas.microsoft.com/office/drawing/2014/main" id="{13C1EA11-71CD-CAA8-10B8-799BA235E6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>
            <a:extLst>
              <a:ext uri="{FF2B5EF4-FFF2-40B4-BE49-F238E27FC236}">
                <a16:creationId xmlns:a16="http://schemas.microsoft.com/office/drawing/2014/main" id="{C396B879-4F1A-A368-7071-B28E14C794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36447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9585CAD3-1AFC-FDD1-B695-C235136C5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>
            <a:extLst>
              <a:ext uri="{FF2B5EF4-FFF2-40B4-BE49-F238E27FC236}">
                <a16:creationId xmlns:a16="http://schemas.microsoft.com/office/drawing/2014/main" id="{7A5C9C0C-0744-F980-1516-B27BBDBFF2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1:notes">
            <a:extLst>
              <a:ext uri="{FF2B5EF4-FFF2-40B4-BE49-F238E27FC236}">
                <a16:creationId xmlns:a16="http://schemas.microsoft.com/office/drawing/2014/main" id="{52906F80-D101-DE68-8965-8CD55DA28A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>
            <a:extLst>
              <a:ext uri="{FF2B5EF4-FFF2-40B4-BE49-F238E27FC236}">
                <a16:creationId xmlns:a16="http://schemas.microsoft.com/office/drawing/2014/main" id="{863B48EB-C680-8F16-3F6F-9A7EED52ED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615617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C179EE6F-D595-BA43-4B26-1063AA260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>
            <a:extLst>
              <a:ext uri="{FF2B5EF4-FFF2-40B4-BE49-F238E27FC236}">
                <a16:creationId xmlns:a16="http://schemas.microsoft.com/office/drawing/2014/main" id="{A1873A0E-B7B9-58C0-B84F-DB4362A201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1:notes">
            <a:extLst>
              <a:ext uri="{FF2B5EF4-FFF2-40B4-BE49-F238E27FC236}">
                <a16:creationId xmlns:a16="http://schemas.microsoft.com/office/drawing/2014/main" id="{A8217D54-401C-D02F-8539-768E41D69C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>
            <a:extLst>
              <a:ext uri="{FF2B5EF4-FFF2-40B4-BE49-F238E27FC236}">
                <a16:creationId xmlns:a16="http://schemas.microsoft.com/office/drawing/2014/main" id="{0BC7DBAE-B56D-DB81-DE89-8A88AF807B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834769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C56ECFCB-D1A5-8EBD-6E20-CC9F407F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>
            <a:extLst>
              <a:ext uri="{FF2B5EF4-FFF2-40B4-BE49-F238E27FC236}">
                <a16:creationId xmlns:a16="http://schemas.microsoft.com/office/drawing/2014/main" id="{AA783C54-F601-D4A6-5C5E-5A17EC542C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1:notes">
            <a:extLst>
              <a:ext uri="{FF2B5EF4-FFF2-40B4-BE49-F238E27FC236}">
                <a16:creationId xmlns:a16="http://schemas.microsoft.com/office/drawing/2014/main" id="{D1FDD293-725A-F701-D0D8-F382473B92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>
            <a:extLst>
              <a:ext uri="{FF2B5EF4-FFF2-40B4-BE49-F238E27FC236}">
                <a16:creationId xmlns:a16="http://schemas.microsoft.com/office/drawing/2014/main" id="{7BEF4551-CE0C-FC25-3C5C-FA4165A25D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163980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2CA2DE42-3BFF-699C-BEBA-79DD2C7C3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>
            <a:extLst>
              <a:ext uri="{FF2B5EF4-FFF2-40B4-BE49-F238E27FC236}">
                <a16:creationId xmlns:a16="http://schemas.microsoft.com/office/drawing/2014/main" id="{4D307259-72AF-7E53-DE73-3F5C8660EF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1:notes">
            <a:extLst>
              <a:ext uri="{FF2B5EF4-FFF2-40B4-BE49-F238E27FC236}">
                <a16:creationId xmlns:a16="http://schemas.microsoft.com/office/drawing/2014/main" id="{6F6F5A68-C1CE-AFD1-A8D4-338DBFF95D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>
            <a:extLst>
              <a:ext uri="{FF2B5EF4-FFF2-40B4-BE49-F238E27FC236}">
                <a16:creationId xmlns:a16="http://schemas.microsoft.com/office/drawing/2014/main" id="{741265DB-833A-70EC-A55E-45C69A7952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08584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8CFD6F80-6FAD-99AF-1F6C-10BA28323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>
            <a:extLst>
              <a:ext uri="{FF2B5EF4-FFF2-40B4-BE49-F238E27FC236}">
                <a16:creationId xmlns:a16="http://schemas.microsoft.com/office/drawing/2014/main" id="{D6DEE828-5CC3-28FD-AA40-F9F263C47E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1:notes">
            <a:extLst>
              <a:ext uri="{FF2B5EF4-FFF2-40B4-BE49-F238E27FC236}">
                <a16:creationId xmlns:a16="http://schemas.microsoft.com/office/drawing/2014/main" id="{B7D9E078-6F32-8AAB-D120-63D01FE426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>
            <a:extLst>
              <a:ext uri="{FF2B5EF4-FFF2-40B4-BE49-F238E27FC236}">
                <a16:creationId xmlns:a16="http://schemas.microsoft.com/office/drawing/2014/main" id="{822E7F32-D403-6A5D-E0AB-7B74D9F8D4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769764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250834A7-20A7-A1A5-4D72-1BD51F8D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>
            <a:extLst>
              <a:ext uri="{FF2B5EF4-FFF2-40B4-BE49-F238E27FC236}">
                <a16:creationId xmlns:a16="http://schemas.microsoft.com/office/drawing/2014/main" id="{2152E601-33B0-6B20-8E30-88BADDDF85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1:notes">
            <a:extLst>
              <a:ext uri="{FF2B5EF4-FFF2-40B4-BE49-F238E27FC236}">
                <a16:creationId xmlns:a16="http://schemas.microsoft.com/office/drawing/2014/main" id="{A61237E2-6CE9-30A0-A623-2BA319A79B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>
            <a:extLst>
              <a:ext uri="{FF2B5EF4-FFF2-40B4-BE49-F238E27FC236}">
                <a16:creationId xmlns:a16="http://schemas.microsoft.com/office/drawing/2014/main" id="{9CCEB522-BC06-7CF7-8E94-82841A0A73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676795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CDF03EA-6975-50C9-E670-EC96029DD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33720c69cd_3_57:notes">
            <a:extLst>
              <a:ext uri="{FF2B5EF4-FFF2-40B4-BE49-F238E27FC236}">
                <a16:creationId xmlns:a16="http://schemas.microsoft.com/office/drawing/2014/main" id="{AD003C7F-21E1-4736-BB44-B24BAA7CA8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333720c69cd_3_57:notes">
            <a:extLst>
              <a:ext uri="{FF2B5EF4-FFF2-40B4-BE49-F238E27FC236}">
                <a16:creationId xmlns:a16="http://schemas.microsoft.com/office/drawing/2014/main" id="{1E6376D0-3F55-C704-F421-BC59948CB4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33720c69cd_3_57:notes">
            <a:extLst>
              <a:ext uri="{FF2B5EF4-FFF2-40B4-BE49-F238E27FC236}">
                <a16:creationId xmlns:a16="http://schemas.microsoft.com/office/drawing/2014/main" id="{1795892C-C16C-BE91-D857-3786738A42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77041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33720c69c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333720c69cd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g333720c69cd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>
          <a:extLst>
            <a:ext uri="{FF2B5EF4-FFF2-40B4-BE49-F238E27FC236}">
              <a16:creationId xmlns:a16="http://schemas.microsoft.com/office/drawing/2014/main" id="{8129AC05-EE50-0D30-2771-4D716FFF8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33720c69cd_0_6:notes">
            <a:extLst>
              <a:ext uri="{FF2B5EF4-FFF2-40B4-BE49-F238E27FC236}">
                <a16:creationId xmlns:a16="http://schemas.microsoft.com/office/drawing/2014/main" id="{5F48B9D8-0C06-4061-6DDC-FB5507F2BF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333720c69cd_0_6:notes">
            <a:extLst>
              <a:ext uri="{FF2B5EF4-FFF2-40B4-BE49-F238E27FC236}">
                <a16:creationId xmlns:a16="http://schemas.microsoft.com/office/drawing/2014/main" id="{CC283B95-3F9D-9E41-C578-AA027EAAF7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g333720c69cd_0_6:notes">
            <a:extLst>
              <a:ext uri="{FF2B5EF4-FFF2-40B4-BE49-F238E27FC236}">
                <a16:creationId xmlns:a16="http://schemas.microsoft.com/office/drawing/2014/main" id="{B30882B6-31EF-B2B8-33B9-FB486C65AE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712088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33720c69c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33720c69cd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333720c69cd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8116FDB-438F-7C5C-D945-9835EBD93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33720c69cd_3_57:notes">
            <a:extLst>
              <a:ext uri="{FF2B5EF4-FFF2-40B4-BE49-F238E27FC236}">
                <a16:creationId xmlns:a16="http://schemas.microsoft.com/office/drawing/2014/main" id="{4D32985C-EE9D-E120-CD9E-94C53F0EDD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333720c69cd_3_57:notes">
            <a:extLst>
              <a:ext uri="{FF2B5EF4-FFF2-40B4-BE49-F238E27FC236}">
                <a16:creationId xmlns:a16="http://schemas.microsoft.com/office/drawing/2014/main" id="{F8841E9E-4C84-21B8-7D96-C598D3D3F2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33720c69cd_3_57:notes">
            <a:extLst>
              <a:ext uri="{FF2B5EF4-FFF2-40B4-BE49-F238E27FC236}">
                <a16:creationId xmlns:a16="http://schemas.microsoft.com/office/drawing/2014/main" id="{DF1D55E3-FB6E-1621-AE24-36DF6253C9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8753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9" name="Google Shape;52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5F55">
            <a:alpha val="92941"/>
          </a:srgbClr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685165" y="358773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EBDDC3"/>
              </a:buClr>
              <a:buSzPts val="4400"/>
              <a:buFont typeface="Calibri"/>
              <a:buNone/>
            </a:pPr>
            <a:r>
              <a:rPr lang="en-US" cap="none" dirty="0">
                <a:solidFill>
                  <a:srgbClr val="EBDDC3"/>
                </a:solidFill>
              </a:rPr>
              <a:t>CHAPTER 8-9: TREE &amp; HEAP STRUCTURES</a:t>
            </a:r>
            <a:endParaRPr cap="none" dirty="0">
              <a:solidFill>
                <a:srgbClr val="EBDDC3"/>
              </a:solidFill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1371600" y="5225948"/>
            <a:ext cx="6400800" cy="859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None/>
            </a:pPr>
            <a:r>
              <a:rPr lang="en-US">
                <a:solidFill>
                  <a:srgbClr val="00B0F0"/>
                </a:solidFill>
              </a:rPr>
              <a:t>COSC 221 (Computer Science B)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381762" y="5107685"/>
            <a:ext cx="8380730" cy="18415"/>
          </a:xfrm>
          <a:custGeom>
            <a:avLst/>
            <a:gdLst/>
            <a:ahLst/>
            <a:cxnLst/>
            <a:rect l="l" t="t" r="r" b="b"/>
            <a:pathLst>
              <a:path w="8380730" h="18414" extrusionOk="0">
                <a:moveTo>
                  <a:pt x="0" y="18287"/>
                </a:moveTo>
                <a:lnTo>
                  <a:pt x="8380476" y="0"/>
                </a:lnTo>
              </a:path>
            </a:pathLst>
          </a:custGeom>
          <a:noFill/>
          <a:ln w="38100" cap="flat" cmpd="sng">
            <a:solidFill>
              <a:srgbClr val="538C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226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body" idx="1"/>
          </p:nvPr>
        </p:nvSpPr>
        <p:spPr>
          <a:xfrm>
            <a:off x="457200" y="977642"/>
            <a:ext cx="8470490" cy="502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 u="sng" dirty="0"/>
              <a:t>Motivation</a:t>
            </a:r>
            <a:endParaRPr dirty="0"/>
          </a:p>
          <a:p>
            <a:pPr marL="342900" lvl="0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fr-FR" sz="3000" u="sng" dirty="0" err="1"/>
              <a:t>Binary</a:t>
            </a:r>
            <a:r>
              <a:rPr lang="fr-FR" sz="3000" u="sng" dirty="0"/>
              <a:t> </a:t>
            </a:r>
            <a:r>
              <a:rPr lang="fr-FR" sz="3000" u="sng" dirty="0" err="1"/>
              <a:t>Trees</a:t>
            </a:r>
            <a:endParaRPr dirty="0"/>
          </a:p>
          <a:p>
            <a:pPr marL="342900" lvl="0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fr-FR" sz="3000" u="sng" dirty="0" err="1"/>
              <a:t>Tree</a:t>
            </a:r>
            <a:r>
              <a:rPr lang="fr-FR" sz="3000" u="sng" dirty="0"/>
              <a:t> </a:t>
            </a:r>
            <a:r>
              <a:rPr lang="fr-FR" sz="3000" u="sng" dirty="0" err="1"/>
              <a:t>Traversal</a:t>
            </a:r>
            <a:endParaRPr dirty="0"/>
          </a:p>
          <a:p>
            <a:pPr marL="342900" lvl="0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fr-FR" sz="3000" u="sng" dirty="0" err="1"/>
              <a:t>Heap</a:t>
            </a:r>
            <a:endParaRPr dirty="0"/>
          </a:p>
          <a:p>
            <a:pPr marL="342900" lvl="0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fr-FR" sz="3000" u="sng" dirty="0"/>
              <a:t>Hash Table</a:t>
            </a:r>
            <a:endParaRPr dirty="0"/>
          </a:p>
          <a:p>
            <a:pPr marL="342900" lvl="0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 u="sng" dirty="0"/>
              <a:t>Applications</a:t>
            </a:r>
            <a:endParaRPr dirty="0"/>
          </a:p>
        </p:txBody>
      </p:sp>
      <p:sp>
        <p:nvSpPr>
          <p:cNvPr id="97" name="Google Shape;97;p14"/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59B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457200" y="137652"/>
            <a:ext cx="8229600" cy="36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Objective</a:t>
            </a:r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1"/>
          </p:nvPr>
        </p:nvSpPr>
        <p:spPr>
          <a:xfrm>
            <a:off x="457200" y="1147583"/>
            <a:ext cx="8229600" cy="481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dirty="0"/>
              <a:t>Understand non-linear data structures including </a:t>
            </a:r>
            <a:r>
              <a:rPr lang="en-US" b="1" dirty="0"/>
              <a:t>tree</a:t>
            </a:r>
            <a:r>
              <a:rPr lang="en-US" dirty="0"/>
              <a:t>, </a:t>
            </a:r>
            <a:r>
              <a:rPr lang="en-US" b="1" dirty="0"/>
              <a:t>heap</a:t>
            </a:r>
            <a:r>
              <a:rPr lang="en-US" dirty="0"/>
              <a:t> and </a:t>
            </a:r>
            <a:r>
              <a:rPr lang="en-US" b="1" dirty="0"/>
              <a:t>hash table</a:t>
            </a:r>
            <a:r>
              <a:rPr lang="en-US" dirty="0"/>
              <a:t>.</a:t>
            </a: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dirty="0"/>
              <a:t>Implement &amp; perform basic operations for: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b="1" dirty="0"/>
              <a:t>Binary trees:</a:t>
            </a:r>
            <a:r>
              <a:rPr lang="en-US" dirty="0"/>
              <a:t> </a:t>
            </a:r>
            <a:r>
              <a:rPr lang="en-US" dirty="0">
                <a:solidFill>
                  <a:schemeClr val="bg2"/>
                </a:solidFill>
              </a:rPr>
              <a:t>left(), right().</a:t>
            </a:r>
            <a:endParaRPr dirty="0">
              <a:solidFill>
                <a:schemeClr val="bg2"/>
              </a:solidFill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b="1" dirty="0"/>
              <a:t>Tree traversal:</a:t>
            </a:r>
            <a:r>
              <a:rPr lang="en-US" dirty="0"/>
              <a:t> </a:t>
            </a:r>
            <a:r>
              <a:rPr lang="en-US" dirty="0">
                <a:solidFill>
                  <a:schemeClr val="bg2"/>
                </a:solidFill>
              </a:rPr>
              <a:t>preorder, </a:t>
            </a:r>
            <a:r>
              <a:rPr lang="en-US" dirty="0" err="1">
                <a:solidFill>
                  <a:schemeClr val="bg2"/>
                </a:solidFill>
              </a:rPr>
              <a:t>postorder</a:t>
            </a:r>
            <a:r>
              <a:rPr lang="en-US" dirty="0">
                <a:solidFill>
                  <a:schemeClr val="bg2"/>
                </a:solidFill>
              </a:rPr>
              <a:t>, breadth-first, </a:t>
            </a:r>
            <a:r>
              <a:rPr lang="en-US" dirty="0" err="1">
                <a:solidFill>
                  <a:schemeClr val="bg2"/>
                </a:solidFill>
              </a:rPr>
              <a:t>inorder</a:t>
            </a:r>
            <a:r>
              <a:rPr lang="en-US" dirty="0">
                <a:solidFill>
                  <a:schemeClr val="bg2"/>
                </a:solidFill>
              </a:rPr>
              <a:t> traversal</a:t>
            </a:r>
            <a:r>
              <a:rPr lang="en-US" dirty="0"/>
              <a:t>.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b="1" dirty="0"/>
              <a:t>Heap:</a:t>
            </a:r>
            <a:r>
              <a:rPr lang="en-US" dirty="0"/>
              <a:t> </a:t>
            </a:r>
            <a:r>
              <a:rPr lang="en-US" dirty="0">
                <a:solidFill>
                  <a:schemeClr val="bg2"/>
                </a:solidFill>
              </a:rPr>
              <a:t>insertion, deletion, peek, </a:t>
            </a:r>
            <a:r>
              <a:rPr lang="en-US" dirty="0" err="1">
                <a:solidFill>
                  <a:schemeClr val="bg2"/>
                </a:solidFill>
              </a:rPr>
              <a:t>heapify_up</a:t>
            </a:r>
            <a:r>
              <a:rPr lang="en-US" dirty="0">
                <a:solidFill>
                  <a:schemeClr val="bg2"/>
                </a:solidFill>
              </a:rPr>
              <a:t>(), </a:t>
            </a:r>
            <a:r>
              <a:rPr lang="en-US" dirty="0" err="1">
                <a:solidFill>
                  <a:schemeClr val="bg2"/>
                </a:solidFill>
              </a:rPr>
              <a:t>heapify_down</a:t>
            </a:r>
            <a:r>
              <a:rPr lang="en-US" dirty="0">
                <a:solidFill>
                  <a:schemeClr val="bg2"/>
                </a:solidFill>
              </a:rPr>
              <a:t>(), size</a:t>
            </a:r>
            <a:r>
              <a:rPr lang="en-US" dirty="0"/>
              <a:t>...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b="1" dirty="0"/>
              <a:t>Hash:</a:t>
            </a:r>
            <a:r>
              <a:rPr lang="en-US" dirty="0"/>
              <a:t> </a:t>
            </a:r>
            <a:r>
              <a:rPr lang="en-US" dirty="0">
                <a:solidFill>
                  <a:schemeClr val="bg2"/>
                </a:solidFill>
              </a:rPr>
              <a:t>hash function, get item, set item</a:t>
            </a:r>
            <a:r>
              <a:rPr lang="en-US" dirty="0"/>
              <a:t>…</a:t>
            </a:r>
            <a:endParaRPr dirty="0"/>
          </a:p>
        </p:txBody>
      </p:sp>
      <p:sp>
        <p:nvSpPr>
          <p:cNvPr id="106" name="Google Shape;106;p15"/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457200" y="2361534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/>
              <a:t>Motivation</a:t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09C8BC05-2E2E-F8FC-1F2E-49E8A1BE6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>
            <a:extLst>
              <a:ext uri="{FF2B5EF4-FFF2-40B4-BE49-F238E27FC236}">
                <a16:creationId xmlns:a16="http://schemas.microsoft.com/office/drawing/2014/main" id="{0475DF23-F570-E832-9B42-8D06049419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8374" y="145308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Motivation</a:t>
            </a:r>
            <a:endParaRPr sz="3600"/>
          </a:p>
        </p:txBody>
      </p:sp>
      <p:sp>
        <p:nvSpPr>
          <p:cNvPr id="122" name="Google Shape;122;p17">
            <a:extLst>
              <a:ext uri="{FF2B5EF4-FFF2-40B4-BE49-F238E27FC236}">
                <a16:creationId xmlns:a16="http://schemas.microsoft.com/office/drawing/2014/main" id="{B0BC094F-E501-D1EB-2EFB-4D3298D44E38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>
            <a:extLst>
              <a:ext uri="{FF2B5EF4-FFF2-40B4-BE49-F238E27FC236}">
                <a16:creationId xmlns:a16="http://schemas.microsoft.com/office/drawing/2014/main" id="{CD653790-F264-CC7B-9050-257E09DF115E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>
            <a:extLst>
              <a:ext uri="{FF2B5EF4-FFF2-40B4-BE49-F238E27FC236}">
                <a16:creationId xmlns:a16="http://schemas.microsoft.com/office/drawing/2014/main" id="{892E14FF-F529-BCE1-820D-35BEB95B9F4F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>
            <a:extLst>
              <a:ext uri="{FF2B5EF4-FFF2-40B4-BE49-F238E27FC236}">
                <a16:creationId xmlns:a16="http://schemas.microsoft.com/office/drawing/2014/main" id="{0D7A4DB9-6CC9-0B1E-5F53-B8190F0B0B3F}"/>
              </a:ext>
            </a:extLst>
          </p:cNvPr>
          <p:cNvSpPr txBox="1"/>
          <p:nvPr/>
        </p:nvSpPr>
        <p:spPr>
          <a:xfrm>
            <a:off x="722671" y="1019350"/>
            <a:ext cx="7967816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Stacks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queues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 lists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linear data structures, which means they organize elements sequentially (with previous &amp; next pointers). However, sometimes we require more complex, non-linear data structures.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data structures are not suitable for organizing hierarchical and complex relationships found in organizational charts and file systems.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are not efficient in searching, insertion, and deletion operations. Hence, we need non-linear data structures such as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trees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heaps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tables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Non-linear data structures can reduce the complexity of certain operations to constant time complexity (O(1)) and, at most, O(n).</a:t>
            </a:r>
          </a:p>
        </p:txBody>
      </p:sp>
    </p:spTree>
    <p:extLst>
      <p:ext uri="{BB962C8B-B14F-4D97-AF65-F5344CB8AC3E}">
        <p14:creationId xmlns:p14="http://schemas.microsoft.com/office/powerpoint/2010/main" val="1946181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8D1C-38EA-F6AD-72A0-76A2029D1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14714"/>
            <a:ext cx="8229600" cy="1143000"/>
          </a:xfrm>
        </p:spPr>
        <p:txBody>
          <a:bodyPr/>
          <a:lstStyle/>
          <a:p>
            <a:r>
              <a:rPr lang="fr-FR" dirty="0" err="1"/>
              <a:t>Trees</a:t>
            </a:r>
            <a:r>
              <a:rPr lang="fr-FR" dirty="0"/>
              <a:t> and </a:t>
            </a:r>
            <a:r>
              <a:rPr lang="fr-FR" dirty="0" err="1"/>
              <a:t>Binary</a:t>
            </a:r>
            <a:r>
              <a:rPr lang="fr-FR" dirty="0"/>
              <a:t> </a:t>
            </a:r>
            <a:r>
              <a:rPr lang="fr-FR" dirty="0" err="1"/>
              <a:t>Trees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517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DED40AAD-E275-041B-EA1B-0100DA8BF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00047B-A2B3-AD0E-77D7-F0329C1C6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767" y="3176603"/>
            <a:ext cx="5453618" cy="3007831"/>
          </a:xfrm>
          <a:prstGeom prst="rect">
            <a:avLst/>
          </a:prstGeom>
        </p:spPr>
      </p:pic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CFE14D4C-76CD-0CC4-9891-06BA7A0775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/>
              <a:t>T</a:t>
            </a:r>
            <a:r>
              <a:rPr lang="en-US" sz="3200" dirty="0" err="1"/>
              <a:t>rees</a:t>
            </a:r>
            <a:r>
              <a:rPr lang="en-US" sz="3200" dirty="0"/>
              <a:t> and Binary Trees</a:t>
            </a:r>
            <a:endParaRPr sz="3200" dirty="0"/>
          </a:p>
        </p:txBody>
      </p:sp>
      <p:sp>
        <p:nvSpPr>
          <p:cNvPr id="142" name="Google Shape;142;p19">
            <a:extLst>
              <a:ext uri="{FF2B5EF4-FFF2-40B4-BE49-F238E27FC236}">
                <a16:creationId xmlns:a16="http://schemas.microsoft.com/office/drawing/2014/main" id="{1C49AFBB-D01B-B2CB-DE3D-B3C0FCE1EFC7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249FA21B-BA90-45EF-9E9B-C8C9FA0E47E8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>
            <a:extLst>
              <a:ext uri="{FF2B5EF4-FFF2-40B4-BE49-F238E27FC236}">
                <a16:creationId xmlns:a16="http://schemas.microsoft.com/office/drawing/2014/main" id="{74488B75-1720-34F7-EBD2-BBEF251DC0AF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Google Shape;145;p19">
                <a:extLst>
                  <a:ext uri="{FF2B5EF4-FFF2-40B4-BE49-F238E27FC236}">
                    <a16:creationId xmlns:a16="http://schemas.microsoft.com/office/drawing/2014/main" id="{47FCA57A-D16A-1E49-A354-B477E1D9A43D}"/>
                  </a:ext>
                </a:extLst>
              </p:cNvPr>
              <p:cNvSpPr txBox="1"/>
              <p:nvPr/>
            </p:nvSpPr>
            <p:spPr>
              <a:xfrm>
                <a:off x="373626" y="868319"/>
                <a:ext cx="7629900" cy="23082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42900" marR="0" lvl="0" indent="-3429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Char char="•"/>
                </a:pPr>
                <a:r>
                  <a:rPr lang="en-US" sz="2400" b="1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Tree</a:t>
                </a:r>
                <a:r>
                  <a:rPr lang="en-US" sz="24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is indeed a breakthrough in non-linear data organization</a:t>
                </a:r>
                <a:r>
                  <a:rPr lang="en-US" sz="2400" i="0" u="none" strike="noStrik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</a:p>
              <a:p>
                <a:pPr marL="342900" marR="0" lvl="0" indent="-3429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Char char="•"/>
                </a:pPr>
                <a:r>
                  <a:rPr lang="en-US" sz="24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They allow us to implement algorithms much faster and more efficiently than linear data structures.</a:t>
                </a:r>
              </a:p>
              <a:p>
                <a:pPr marL="342900" lvl="0" indent="-342900">
                  <a:buClr>
                    <a:schemeClr val="dk1"/>
                  </a:buClr>
                  <a:buSzPts val="2400"/>
                  <a:buFont typeface="Calibri"/>
                  <a:buChar char="•"/>
                </a:pPr>
                <a:r>
                  <a:rPr lang="en-US" sz="24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Consider an example of an </a:t>
                </a:r>
                <a:r>
                  <a:rPr lang="fr-FR" sz="2400" dirty="0" err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arithmetic</a:t>
                </a:r>
                <a:r>
                  <a:rPr lang="en-US" sz="24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expression:</a:t>
                </a:r>
              </a:p>
              <a:p>
                <a:pPr lvl="0">
                  <a:buClr>
                    <a:schemeClr val="dk1"/>
                  </a:buClr>
                  <a:buSzPts val="2400"/>
                </a:pPr>
                <a:r>
                  <a:rPr lang="en-US" sz="24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((((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3 +1)×3)/((9 −5)+2))−((3×(7−4)) +6))</m:t>
                    </m:r>
                  </m:oMath>
                </a14:m>
                <a:endParaRPr sz="200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145" name="Google Shape;145;p19">
                <a:extLst>
                  <a:ext uri="{FF2B5EF4-FFF2-40B4-BE49-F238E27FC236}">
                    <a16:creationId xmlns:a16="http://schemas.microsoft.com/office/drawing/2014/main" id="{47FCA57A-D16A-1E49-A354-B477E1D9A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26" y="868319"/>
                <a:ext cx="7629900" cy="2308284"/>
              </a:xfrm>
              <a:prstGeom prst="rect">
                <a:avLst/>
              </a:prstGeom>
              <a:blipFill>
                <a:blip r:embed="rId4"/>
                <a:stretch>
                  <a:fillRect l="-1278" t="-2375" r="-1038" b="-13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0639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/>
              <a:t>T</a:t>
            </a:r>
            <a:r>
              <a:rPr lang="en-US" sz="3200" dirty="0" err="1"/>
              <a:t>rees</a:t>
            </a:r>
            <a:r>
              <a:rPr lang="en-US" sz="3200" dirty="0"/>
              <a:t> and Binary Trees</a:t>
            </a:r>
            <a:endParaRPr sz="3200" dirty="0"/>
          </a:p>
        </p:txBody>
      </p:sp>
      <p:sp>
        <p:nvSpPr>
          <p:cNvPr id="142" name="Google Shape;142;p19"/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344129" y="999833"/>
            <a:ext cx="8455742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fr-F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tree T is a collection of nodes where each node is connected to other nodes in a parent-child relationship. The main points are:</a:t>
            </a:r>
          </a:p>
          <a:p>
            <a:pPr marL="342900" lvl="1" indent="-342900" algn="just">
              <a:buClr>
                <a:schemeClr val="dk1"/>
              </a:buClr>
              <a:buSzPts val="2400"/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tree is not empty, it has one special node called the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342900" lvl="1" indent="-342900" algn="just">
              <a:buClr>
                <a:schemeClr val="dk1"/>
              </a:buClr>
              <a:buSzPts val="2400"/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node, except the root, has one unique parent and can have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child nodes.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an ordered tree, the children of each node have a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specific order.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085BA0-D222-EDE2-68D9-7C722237E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838" y="3946315"/>
            <a:ext cx="4065315" cy="21056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5F3AA1-CE50-F482-421E-AB77B91B11E9}"/>
              </a:ext>
            </a:extLst>
          </p:cNvPr>
          <p:cNvSpPr txBox="1"/>
          <p:nvPr/>
        </p:nvSpPr>
        <p:spPr>
          <a:xfrm>
            <a:off x="277762" y="4851141"/>
            <a:ext cx="46260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different types of trees for various purposes, but in this chapter, we focus on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binary trees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CB02F45E-D1E9-4254-C62A-70F28A382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25015925-86CE-A8FE-8828-99602E4B2C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/>
              <a:t>T</a:t>
            </a:r>
            <a:r>
              <a:rPr lang="en-US" sz="3200" dirty="0" err="1"/>
              <a:t>rees</a:t>
            </a:r>
            <a:r>
              <a:rPr lang="en-US" sz="3200" dirty="0"/>
              <a:t> and Binary Trees</a:t>
            </a:r>
            <a:endParaRPr sz="3200" dirty="0"/>
          </a:p>
        </p:txBody>
      </p:sp>
      <p:sp>
        <p:nvSpPr>
          <p:cNvPr id="142" name="Google Shape;142;p19">
            <a:extLst>
              <a:ext uri="{FF2B5EF4-FFF2-40B4-BE49-F238E27FC236}">
                <a16:creationId xmlns:a16="http://schemas.microsoft.com/office/drawing/2014/main" id="{BAC0BD12-1A9C-4DF3-A15A-AE2D22D82930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3C165F75-7C84-30B6-DDAD-E3C6C1BEE016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>
            <a:extLst>
              <a:ext uri="{FF2B5EF4-FFF2-40B4-BE49-F238E27FC236}">
                <a16:creationId xmlns:a16="http://schemas.microsoft.com/office/drawing/2014/main" id="{8838CBFD-5718-83C2-8B99-717B18A67D35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FF01CA-C796-2B32-6933-BD5459626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481" y="2458927"/>
            <a:ext cx="3353443" cy="3366340"/>
          </a:xfrm>
          <a:prstGeom prst="rect">
            <a:avLst/>
          </a:prstGeom>
        </p:spPr>
      </p:pic>
      <p:sp>
        <p:nvSpPr>
          <p:cNvPr id="8" name="Google Shape;147;p19">
            <a:extLst>
              <a:ext uri="{FF2B5EF4-FFF2-40B4-BE49-F238E27FC236}">
                <a16:creationId xmlns:a16="http://schemas.microsoft.com/office/drawing/2014/main" id="{82D70E6C-DA0A-1DF1-B76E-40170E3E9036}"/>
              </a:ext>
            </a:extLst>
          </p:cNvPr>
          <p:cNvSpPr txBox="1"/>
          <p:nvPr/>
        </p:nvSpPr>
        <p:spPr>
          <a:xfrm>
            <a:off x="655560" y="2592168"/>
            <a:ext cx="3916440" cy="1415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400" b="1" u="sng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Recursion</a:t>
            </a:r>
            <a:r>
              <a:rPr lang="fr-FR" sz="24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b="1" u="sng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r>
              <a:rPr lang="fr-F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fr-F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binary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either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empty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fr-F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consists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C6716A-5D72-CEE6-07B1-5E3ACC6E40C0}"/>
              </a:ext>
            </a:extLst>
          </p:cNvPr>
          <p:cNvSpPr txBox="1"/>
          <p:nvPr/>
        </p:nvSpPr>
        <p:spPr>
          <a:xfrm>
            <a:off x="1002693" y="3793259"/>
            <a:ext cx="40289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A </a:t>
            </a:r>
            <a:r>
              <a:rPr lang="fr-FR" sz="2000" dirty="0" err="1"/>
              <a:t>node</a:t>
            </a:r>
            <a:r>
              <a:rPr lang="fr-FR" sz="2000" dirty="0"/>
              <a:t> </a:t>
            </a:r>
            <a:r>
              <a:rPr lang="fr-FR" sz="2000" b="1" dirty="0"/>
              <a:t>r</a:t>
            </a:r>
            <a:r>
              <a:rPr lang="fr-FR" sz="2000" dirty="0"/>
              <a:t>, </a:t>
            </a:r>
            <a:r>
              <a:rPr lang="fr-FR" sz="2000" dirty="0" err="1"/>
              <a:t>called</a:t>
            </a:r>
            <a:r>
              <a:rPr lang="fr-FR" sz="2000" dirty="0"/>
              <a:t> </a:t>
            </a:r>
            <a:r>
              <a:rPr lang="fr-FR" sz="2000" b="1" dirty="0"/>
              <a:t>root </a:t>
            </a:r>
            <a:r>
              <a:rPr lang="fr-FR" sz="2000" b="1" dirty="0" err="1"/>
              <a:t>node</a:t>
            </a:r>
            <a:r>
              <a:rPr lang="fr-FR" sz="2000" b="1" dirty="0"/>
              <a:t> </a:t>
            </a:r>
            <a:r>
              <a:rPr lang="fr-FR" sz="2000" dirty="0"/>
              <a:t>of </a:t>
            </a:r>
            <a:r>
              <a:rPr lang="fr-FR" sz="2000" b="1" dirty="0"/>
              <a:t>T</a:t>
            </a:r>
            <a:r>
              <a:rPr lang="fr-FR" sz="2000" dirty="0"/>
              <a:t>, </a:t>
            </a:r>
            <a:r>
              <a:rPr lang="fr-FR" sz="2000" dirty="0" err="1"/>
              <a:t>that</a:t>
            </a:r>
            <a:r>
              <a:rPr lang="fr-FR" sz="2000" dirty="0"/>
              <a:t> stores an </a:t>
            </a:r>
            <a:r>
              <a:rPr lang="fr-FR" sz="2000" dirty="0" err="1"/>
              <a:t>element</a:t>
            </a:r>
            <a:r>
              <a:rPr lang="fr-FR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A </a:t>
            </a:r>
            <a:r>
              <a:rPr lang="fr-FR" sz="2000" b="1" dirty="0" err="1"/>
              <a:t>binary</a:t>
            </a:r>
            <a:r>
              <a:rPr lang="fr-FR" sz="2000" b="1" dirty="0"/>
              <a:t> </a:t>
            </a:r>
            <a:r>
              <a:rPr lang="fr-FR" sz="2000" b="1" dirty="0" err="1"/>
              <a:t>tree</a:t>
            </a:r>
            <a:r>
              <a:rPr lang="fr-FR" sz="2000" b="1" dirty="0"/>
              <a:t> </a:t>
            </a:r>
            <a:r>
              <a:rPr lang="fr-FR" sz="2000" dirty="0"/>
              <a:t>(</a:t>
            </a:r>
            <a:r>
              <a:rPr lang="fr-FR" sz="2000" dirty="0" err="1"/>
              <a:t>possibly</a:t>
            </a:r>
            <a:r>
              <a:rPr lang="fr-FR" sz="2000" dirty="0"/>
              <a:t> </a:t>
            </a:r>
            <a:r>
              <a:rPr lang="fr-FR" sz="2000" dirty="0" err="1"/>
              <a:t>empty</a:t>
            </a:r>
            <a:r>
              <a:rPr lang="fr-FR" sz="2000" dirty="0"/>
              <a:t>), </a:t>
            </a:r>
            <a:r>
              <a:rPr lang="fr-FR" sz="2000" dirty="0" err="1"/>
              <a:t>called</a:t>
            </a:r>
            <a:r>
              <a:rPr lang="fr-FR" sz="2000" dirty="0"/>
              <a:t> the </a:t>
            </a:r>
            <a:r>
              <a:rPr lang="fr-FR" sz="2000" b="1" dirty="0" err="1"/>
              <a:t>left</a:t>
            </a:r>
            <a:r>
              <a:rPr lang="fr-FR" sz="2000" b="1" dirty="0"/>
              <a:t> </a:t>
            </a:r>
            <a:r>
              <a:rPr lang="fr-FR" sz="2000" b="1" dirty="0" err="1"/>
              <a:t>subtree</a:t>
            </a:r>
            <a:r>
              <a:rPr lang="fr-FR" sz="2000" b="1" dirty="0"/>
              <a:t> </a:t>
            </a:r>
            <a:r>
              <a:rPr lang="fr-FR" sz="2000" dirty="0"/>
              <a:t>of </a:t>
            </a:r>
            <a:r>
              <a:rPr lang="fr-FR" sz="2000" b="1" dirty="0"/>
              <a:t>T</a:t>
            </a:r>
            <a:r>
              <a:rPr lang="fr-FR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A </a:t>
            </a:r>
            <a:r>
              <a:rPr lang="fr-FR" sz="2000" b="1" dirty="0" err="1"/>
              <a:t>binary</a:t>
            </a:r>
            <a:r>
              <a:rPr lang="fr-FR" sz="2000" b="1" dirty="0"/>
              <a:t> </a:t>
            </a:r>
            <a:r>
              <a:rPr lang="fr-FR" sz="2000" b="1" dirty="0" err="1"/>
              <a:t>tree</a:t>
            </a:r>
            <a:r>
              <a:rPr lang="fr-FR" sz="2000" b="1" dirty="0"/>
              <a:t> </a:t>
            </a:r>
            <a:r>
              <a:rPr lang="fr-FR" sz="2000" dirty="0"/>
              <a:t>(</a:t>
            </a:r>
            <a:r>
              <a:rPr lang="fr-FR" sz="2000" dirty="0" err="1"/>
              <a:t>possibly</a:t>
            </a:r>
            <a:r>
              <a:rPr lang="fr-FR" sz="2000" dirty="0"/>
              <a:t> </a:t>
            </a:r>
            <a:r>
              <a:rPr lang="fr-FR" sz="2000" dirty="0" err="1"/>
              <a:t>empty</a:t>
            </a:r>
            <a:r>
              <a:rPr lang="fr-FR" sz="2000" dirty="0"/>
              <a:t>), </a:t>
            </a:r>
            <a:r>
              <a:rPr lang="fr-FR" sz="2000" dirty="0" err="1"/>
              <a:t>called</a:t>
            </a:r>
            <a:r>
              <a:rPr lang="fr-FR" sz="2000" dirty="0"/>
              <a:t> the </a:t>
            </a:r>
            <a:r>
              <a:rPr lang="fr-FR" sz="2000" b="1" dirty="0"/>
              <a:t>right </a:t>
            </a:r>
            <a:r>
              <a:rPr lang="fr-FR" sz="2000" b="1" dirty="0" err="1"/>
              <a:t>subtree</a:t>
            </a:r>
            <a:r>
              <a:rPr lang="fr-FR" sz="2000" b="1" dirty="0"/>
              <a:t> </a:t>
            </a:r>
            <a:r>
              <a:rPr lang="fr-FR" sz="2000" dirty="0"/>
              <a:t>of </a:t>
            </a:r>
            <a:r>
              <a:rPr lang="fr-FR" sz="2000" b="1" dirty="0"/>
              <a:t>T</a:t>
            </a:r>
            <a:r>
              <a:rPr lang="fr-FR" sz="2000" dirty="0"/>
              <a:t>.</a:t>
            </a:r>
          </a:p>
        </p:txBody>
      </p:sp>
      <p:sp>
        <p:nvSpPr>
          <p:cNvPr id="2" name="Google Shape;147;p19">
            <a:extLst>
              <a:ext uri="{FF2B5EF4-FFF2-40B4-BE49-F238E27FC236}">
                <a16:creationId xmlns:a16="http://schemas.microsoft.com/office/drawing/2014/main" id="{EA095AEB-D9EC-AA40-A2E2-D2AB8024BC2A}"/>
              </a:ext>
            </a:extLst>
          </p:cNvPr>
          <p:cNvSpPr txBox="1"/>
          <p:nvPr/>
        </p:nvSpPr>
        <p:spPr>
          <a:xfrm>
            <a:off x="655560" y="1313072"/>
            <a:ext cx="7564364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400" b="1" u="sng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r>
              <a:rPr lang="fr-F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 binary tree is a tree where each node has at most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two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children (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left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and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right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).</a:t>
            </a:r>
            <a:endParaRPr lang="fr-FR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77530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331BF3B4-B25D-63B0-E34B-9CF9D9202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9BE308D5-C1EB-DDE9-A104-9CFF9A5065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/>
              <a:t>T</a:t>
            </a:r>
            <a:r>
              <a:rPr lang="en-US" sz="3200" dirty="0" err="1"/>
              <a:t>rees</a:t>
            </a:r>
            <a:r>
              <a:rPr lang="en-US" sz="3200" dirty="0"/>
              <a:t> and Binary Trees</a:t>
            </a:r>
            <a:endParaRPr sz="3200" dirty="0"/>
          </a:p>
        </p:txBody>
      </p:sp>
      <p:sp>
        <p:nvSpPr>
          <p:cNvPr id="142" name="Google Shape;142;p19">
            <a:extLst>
              <a:ext uri="{FF2B5EF4-FFF2-40B4-BE49-F238E27FC236}">
                <a16:creationId xmlns:a16="http://schemas.microsoft.com/office/drawing/2014/main" id="{D6BD1028-59A0-F4AC-D30F-1DC9AF630CA2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FBBC1EE0-1512-19FC-3337-72C8353552EC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>
            <a:extLst>
              <a:ext uri="{FF2B5EF4-FFF2-40B4-BE49-F238E27FC236}">
                <a16:creationId xmlns:a16="http://schemas.microsoft.com/office/drawing/2014/main" id="{59011EF1-E5D5-4979-7379-EE89976F8CEB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>
            <a:extLst>
              <a:ext uri="{FF2B5EF4-FFF2-40B4-BE49-F238E27FC236}">
                <a16:creationId xmlns:a16="http://schemas.microsoft.com/office/drawing/2014/main" id="{D22DB229-BE85-852D-AB8A-DA6BEF574235}"/>
              </a:ext>
            </a:extLst>
          </p:cNvPr>
          <p:cNvSpPr txBox="1"/>
          <p:nvPr/>
        </p:nvSpPr>
        <p:spPr>
          <a:xfrm>
            <a:off x="655560" y="1155643"/>
            <a:ext cx="7564364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fr-FR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r>
              <a:rPr lang="fr-F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lang="fr-FR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lang="fr-FR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lang="fr-FR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lang="fr-FR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lang="fr-FR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117209-6F01-13F6-1152-3D83053D1081}"/>
              </a:ext>
            </a:extLst>
          </p:cNvPr>
          <p:cNvSpPr txBox="1"/>
          <p:nvPr/>
        </p:nvSpPr>
        <p:spPr>
          <a:xfrm>
            <a:off x="956731" y="1711458"/>
            <a:ext cx="696202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a class </a:t>
            </a:r>
            <a:r>
              <a:rPr lang="fr-FR" sz="2200" dirty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Node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 </a:t>
            </a:r>
            <a:r>
              <a:rPr lang="fr-F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members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fr-FR" sz="2200" dirty="0" err="1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left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fr-FR" sz="2200" dirty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right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fr-FR" sz="2200" dirty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</a:t>
            </a:r>
            <a:r>
              <a:rPr lang="fr-F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storing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right </a:t>
            </a:r>
            <a:r>
              <a:rPr lang="fr-F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child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the value of </a:t>
            </a:r>
            <a:r>
              <a:rPr lang="fr-F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fr-FR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</a:t>
            </a:r>
            <a:r>
              <a:rPr lang="fr-F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another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class </a:t>
            </a:r>
            <a:r>
              <a:rPr lang="fr-FR" sz="2200" dirty="0" err="1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BinaryTree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one </a:t>
            </a:r>
            <a:r>
              <a:rPr lang="fr-F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member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fr-FR" sz="2200" dirty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root.</a:t>
            </a:r>
            <a:endParaRPr lang="fr-FR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9900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A39B9744-6277-44ED-C630-657909834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9485D908-C0AC-2F0E-DA61-134737FEE4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/>
              <a:t>T</a:t>
            </a:r>
            <a:r>
              <a:rPr lang="en-US" sz="3200" dirty="0" err="1"/>
              <a:t>rees</a:t>
            </a:r>
            <a:r>
              <a:rPr lang="en-US" sz="3200" dirty="0"/>
              <a:t> and Binary Trees</a:t>
            </a:r>
            <a:endParaRPr sz="3200" dirty="0"/>
          </a:p>
        </p:txBody>
      </p:sp>
      <p:sp>
        <p:nvSpPr>
          <p:cNvPr id="142" name="Google Shape;142;p19">
            <a:extLst>
              <a:ext uri="{FF2B5EF4-FFF2-40B4-BE49-F238E27FC236}">
                <a16:creationId xmlns:a16="http://schemas.microsoft.com/office/drawing/2014/main" id="{FD7A6F17-EF89-A69C-FAFF-B6FEF5FDFA76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CCD7CC90-7B49-D688-18C8-E33C70032B5D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>
            <a:extLst>
              <a:ext uri="{FF2B5EF4-FFF2-40B4-BE49-F238E27FC236}">
                <a16:creationId xmlns:a16="http://schemas.microsoft.com/office/drawing/2014/main" id="{C7496E02-6911-2575-C4BF-09ABD4295A0D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>
            <a:extLst>
              <a:ext uri="{FF2B5EF4-FFF2-40B4-BE49-F238E27FC236}">
                <a16:creationId xmlns:a16="http://schemas.microsoft.com/office/drawing/2014/main" id="{B070D749-68BC-5ECE-CCD9-C78C61C0BD5D}"/>
              </a:ext>
            </a:extLst>
          </p:cNvPr>
          <p:cNvSpPr txBox="1"/>
          <p:nvPr/>
        </p:nvSpPr>
        <p:spPr>
          <a:xfrm>
            <a:off x="655560" y="1155643"/>
            <a:ext cx="7564364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fr-FR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r>
              <a:rPr lang="fr-F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lang="fr-FR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lang="fr-FR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lang="fr-FR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lang="fr-FR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lang="fr-FR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lang="fr-FR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fr-FR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lang="fr-FR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fr-F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CD717B-8F7D-71AE-4912-78F1241169EF}"/>
              </a:ext>
            </a:extLst>
          </p:cNvPr>
          <p:cNvSpPr txBox="1"/>
          <p:nvPr/>
        </p:nvSpPr>
        <p:spPr>
          <a:xfrm>
            <a:off x="956731" y="1711458"/>
            <a:ext cx="696202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a class </a:t>
            </a:r>
            <a:r>
              <a:rPr lang="fr-FR" sz="2200" dirty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Node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 </a:t>
            </a:r>
            <a:r>
              <a:rPr lang="fr-F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members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fr-FR" sz="2200" dirty="0" err="1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left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fr-FR" sz="2200" dirty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right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fr-FR" sz="2200" dirty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</a:t>
            </a:r>
            <a:r>
              <a:rPr lang="fr-F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storing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right </a:t>
            </a:r>
            <a:r>
              <a:rPr lang="fr-F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child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the value of </a:t>
            </a:r>
            <a:r>
              <a:rPr lang="fr-F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fr-FR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</a:t>
            </a:r>
            <a:r>
              <a:rPr lang="fr-F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another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class </a:t>
            </a:r>
            <a:r>
              <a:rPr lang="fr-FR" sz="2200" dirty="0" err="1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BinaryTree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one </a:t>
            </a:r>
            <a:r>
              <a:rPr lang="fr-FR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member</a:t>
            </a:r>
            <a:r>
              <a:rPr lang="fr-FR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fr-FR" sz="2200" dirty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root.</a:t>
            </a:r>
            <a:endParaRPr lang="fr-FR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Rounded Rectangle 147"/>
          <p:cNvSpPr/>
          <p:nvPr/>
        </p:nvSpPr>
        <p:spPr>
          <a:xfrm>
            <a:off x="2926080" y="3474720"/>
            <a:ext cx="5303520" cy="2651760"/>
          </a:xfrm>
          <a:prstGeom prst="roundRect">
            <a:avLst/>
          </a:prstGeom>
          <a:solidFill>
            <a:srgbClr val="181A22"/>
          </a:solidFill>
          <a:ln w="12700">
            <a:solidFill>
              <a:srgbClr val="41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>
              <a:defRPr sz="1100">
                <a:solidFill>
                  <a:srgbClr val="E68C5A"/>
                </a:solidFill>
                <a:latin typeface="Consolas"/>
              </a:defRPr>
            </a:pPr>
            <a:r>
              <a:rPr dirty="0"/>
              <a:t>class Node:</a:t>
            </a:r>
          </a:p>
          <a:p>
            <a:pPr>
              <a:defRPr sz="1100">
                <a:solidFill>
                  <a:srgbClr val="E68C5A"/>
                </a:solidFill>
                <a:latin typeface="Consolas"/>
              </a:defRPr>
            </a:pPr>
            <a:r>
              <a:rPr dirty="0"/>
              <a:t>    def __</a:t>
            </a:r>
            <a:r>
              <a:rPr dirty="0" err="1"/>
              <a:t>init</a:t>
            </a:r>
            <a:r>
              <a:rPr dirty="0"/>
              <a:t>__(self, key):</a:t>
            </a:r>
          </a:p>
          <a:p>
            <a:pPr>
              <a:defRPr sz="1100">
                <a:solidFill>
                  <a:srgbClr val="E6EBF5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self.left</a:t>
            </a:r>
            <a:r>
              <a:rPr dirty="0"/>
              <a:t> = None</a:t>
            </a:r>
          </a:p>
          <a:p>
            <a:pPr>
              <a:defRPr sz="1100">
                <a:solidFill>
                  <a:srgbClr val="E6EBF5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self.right</a:t>
            </a:r>
            <a:r>
              <a:rPr dirty="0"/>
              <a:t> = None</a:t>
            </a:r>
          </a:p>
          <a:p>
            <a:pPr>
              <a:defRPr sz="1100">
                <a:solidFill>
                  <a:srgbClr val="E6EBF5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self.value</a:t>
            </a:r>
            <a:r>
              <a:rPr dirty="0"/>
              <a:t> = key</a:t>
            </a:r>
          </a:p>
          <a:p>
            <a:pPr>
              <a:defRPr sz="1100">
                <a:solidFill>
                  <a:srgbClr val="E6EBF5"/>
                </a:solidFill>
                <a:latin typeface="Consolas"/>
              </a:defRPr>
            </a:pPr>
            <a:endParaRPr dirty="0"/>
          </a:p>
          <a:p>
            <a:pPr>
              <a:defRPr sz="1100">
                <a:solidFill>
                  <a:srgbClr val="E68C5A"/>
                </a:solidFill>
                <a:latin typeface="Consolas"/>
              </a:defRPr>
            </a:pPr>
            <a:r>
              <a:rPr dirty="0"/>
              <a:t>class </a:t>
            </a:r>
            <a:r>
              <a:rPr dirty="0" err="1"/>
              <a:t>BinaryTree</a:t>
            </a:r>
            <a:r>
              <a:rPr dirty="0"/>
              <a:t>:</a:t>
            </a:r>
          </a:p>
          <a:p>
            <a:pPr>
              <a:defRPr sz="1100">
                <a:solidFill>
                  <a:srgbClr val="E68C5A"/>
                </a:solidFill>
                <a:latin typeface="Consolas"/>
              </a:defRPr>
            </a:pPr>
            <a:r>
              <a:rPr dirty="0"/>
              <a:t>    def __</a:t>
            </a:r>
            <a:r>
              <a:rPr dirty="0" err="1"/>
              <a:t>init</a:t>
            </a:r>
            <a:r>
              <a:rPr dirty="0"/>
              <a:t>__(self):</a:t>
            </a:r>
          </a:p>
          <a:p>
            <a:pPr>
              <a:defRPr sz="1100">
                <a:solidFill>
                  <a:srgbClr val="E6EBF5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self.root</a:t>
            </a:r>
            <a:r>
              <a:rPr dirty="0"/>
              <a:t> = None</a:t>
            </a:r>
          </a:p>
        </p:txBody>
      </p:sp>
    </p:spTree>
    <p:extLst>
      <p:ext uri="{BB962C8B-B14F-4D97-AF65-F5344CB8AC3E}">
        <p14:creationId xmlns:p14="http://schemas.microsoft.com/office/powerpoint/2010/main" val="3656050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3F56B-3172-1828-C38B-993512166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C7116-2F69-232F-ABCE-1B23EBFC2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86002"/>
            <a:ext cx="8229600" cy="1143000"/>
          </a:xfrm>
        </p:spPr>
        <p:txBody>
          <a:bodyPr/>
          <a:lstStyle/>
          <a:p>
            <a:r>
              <a:rPr lang="fr-FR" dirty="0" err="1"/>
              <a:t>Tree</a:t>
            </a:r>
            <a:r>
              <a:rPr lang="fr-FR" dirty="0"/>
              <a:t> </a:t>
            </a:r>
            <a:r>
              <a:rPr lang="fr-FR" dirty="0" err="1"/>
              <a:t>Traversal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757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/>
              <a:t>T</a:t>
            </a:r>
            <a:r>
              <a:rPr lang="en-US" sz="3200" dirty="0" err="1"/>
              <a:t>ree</a:t>
            </a:r>
            <a:r>
              <a:rPr lang="en-US" sz="3200" dirty="0"/>
              <a:t> Traversal</a:t>
            </a:r>
            <a:endParaRPr sz="3200" dirty="0"/>
          </a:p>
        </p:txBody>
      </p:sp>
      <p:sp>
        <p:nvSpPr>
          <p:cNvPr id="165" name="Google Shape;165;p21"/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457200" y="1101856"/>
            <a:ext cx="8082116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know how to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binary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trees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how to explore the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known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</a:t>
            </a:r>
            <a:r>
              <a:rPr lang="fr-FR" sz="2400" b="1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b="1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</a:t>
            </a:r>
            <a:r>
              <a:rPr lang="fr-FR" sz="2400" b="1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b="1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Traversal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fr-FR" sz="2400" i="0" u="none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traverse </a:t>
            </a:r>
            <a:r>
              <a:rPr lang="fr-F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trees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4 </a:t>
            </a:r>
            <a:r>
              <a:rPr lang="fr-F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approaches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5F3D34-2D60-A39E-7FD7-185AE4DC7FD7}"/>
              </a:ext>
            </a:extLst>
          </p:cNvPr>
          <p:cNvSpPr txBox="1"/>
          <p:nvPr/>
        </p:nvSpPr>
        <p:spPr>
          <a:xfrm>
            <a:off x="781539" y="2788558"/>
            <a:ext cx="75809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fr-FR" sz="2400" b="1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general</a:t>
            </a:r>
            <a:r>
              <a:rPr lang="fr-FR" sz="24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b="1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trees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preorder, </a:t>
            </a:r>
            <a:r>
              <a:rPr lang="en-US" sz="2400" dirty="0" err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postorder</a:t>
            </a: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 and breadth-first.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For binary trees</a:t>
            </a: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inorder</a:t>
            </a: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 traversal</a:t>
            </a:r>
            <a:r>
              <a:rPr lang="en-US" sz="2400" dirty="0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DE66BC-1BE3-39DD-64FB-CDD6A4B5189F}"/>
              </a:ext>
            </a:extLst>
          </p:cNvPr>
          <p:cNvSpPr txBox="1"/>
          <p:nvPr/>
        </p:nvSpPr>
        <p:spPr>
          <a:xfrm>
            <a:off x="457200" y="4990143"/>
            <a:ext cx="8214851" cy="461665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Note: Traversal means "visiting" every node in a specific order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26A71239-B47E-AD46-6B87-E75775F25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>
            <a:extLst>
              <a:ext uri="{FF2B5EF4-FFF2-40B4-BE49-F238E27FC236}">
                <a16:creationId xmlns:a16="http://schemas.microsoft.com/office/drawing/2014/main" id="{60BBD80E-AFCC-E0C6-08E9-0CA486337A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/>
              <a:t>T</a:t>
            </a:r>
            <a:r>
              <a:rPr lang="en-US" sz="3200" dirty="0" err="1"/>
              <a:t>ree</a:t>
            </a:r>
            <a:r>
              <a:rPr lang="en-US" sz="3200" dirty="0"/>
              <a:t> Traversal</a:t>
            </a:r>
            <a:endParaRPr sz="3200" dirty="0"/>
          </a:p>
        </p:txBody>
      </p:sp>
      <p:sp>
        <p:nvSpPr>
          <p:cNvPr id="165" name="Google Shape;165;p21">
            <a:extLst>
              <a:ext uri="{FF2B5EF4-FFF2-40B4-BE49-F238E27FC236}">
                <a16:creationId xmlns:a16="http://schemas.microsoft.com/office/drawing/2014/main" id="{8414DD76-5F55-9F26-1338-E0962118D4C0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1">
            <a:extLst>
              <a:ext uri="{FF2B5EF4-FFF2-40B4-BE49-F238E27FC236}">
                <a16:creationId xmlns:a16="http://schemas.microsoft.com/office/drawing/2014/main" id="{89C7FF60-BD2A-866C-889E-B2C520DD75EA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>
            <a:extLst>
              <a:ext uri="{FF2B5EF4-FFF2-40B4-BE49-F238E27FC236}">
                <a16:creationId xmlns:a16="http://schemas.microsoft.com/office/drawing/2014/main" id="{3F1C8451-A29F-B48C-F913-ECAC1D0AB747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>
            <a:extLst>
              <a:ext uri="{FF2B5EF4-FFF2-40B4-BE49-F238E27FC236}">
                <a16:creationId xmlns:a16="http://schemas.microsoft.com/office/drawing/2014/main" id="{42DCA419-711A-D436-A2E4-2146BDAD25C2}"/>
              </a:ext>
            </a:extLst>
          </p:cNvPr>
          <p:cNvSpPr txBox="1"/>
          <p:nvPr/>
        </p:nvSpPr>
        <p:spPr>
          <a:xfrm>
            <a:off x="457200" y="1101856"/>
            <a:ext cx="8082116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know how to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binary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trees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how to explore the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known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</a:t>
            </a:r>
            <a:r>
              <a:rPr lang="fr-FR" sz="2400" b="1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b="1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</a:t>
            </a:r>
            <a:r>
              <a:rPr lang="fr-FR" sz="2400" b="1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b="1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Traversal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fr-FR" sz="2400" i="0" u="none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traverse </a:t>
            </a:r>
            <a:r>
              <a:rPr lang="fr-F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trees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4 </a:t>
            </a:r>
            <a:r>
              <a:rPr lang="fr-F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approaches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Preorder Traversal: 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AB5100-712D-F834-1885-5674120CFBE7}"/>
              </a:ext>
            </a:extLst>
          </p:cNvPr>
          <p:cNvSpPr txBox="1"/>
          <p:nvPr/>
        </p:nvSpPr>
        <p:spPr>
          <a:xfrm>
            <a:off x="788610" y="4044893"/>
            <a:ext cx="77604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200" dirty="0"/>
              <a:t>First, traverse the </a:t>
            </a:r>
            <a:r>
              <a:rPr lang="fr-FR" sz="2200" b="1" dirty="0"/>
              <a:t>root</a:t>
            </a:r>
            <a:r>
              <a:rPr lang="fr-FR" sz="2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Then, traverse </a:t>
            </a:r>
            <a:r>
              <a:rPr lang="en-US" sz="2200" b="1" dirty="0"/>
              <a:t>subtrees</a:t>
            </a:r>
            <a:r>
              <a:rPr lang="en-US" sz="2200" dirty="0"/>
              <a:t> rooted at its children, recursively.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6FB66F-65E0-A833-B525-028A19F88178}"/>
              </a:ext>
            </a:extLst>
          </p:cNvPr>
          <p:cNvSpPr txBox="1"/>
          <p:nvPr/>
        </p:nvSpPr>
        <p:spPr>
          <a:xfrm>
            <a:off x="781539" y="2788558"/>
            <a:ext cx="75809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fr-FR" sz="2400" b="1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general</a:t>
            </a:r>
            <a:r>
              <a:rPr lang="fr-FR" sz="24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b="1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trees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preorder, </a:t>
            </a:r>
            <a:r>
              <a:rPr lang="en-US" sz="2400" dirty="0" err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postorder</a:t>
            </a: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 and breadth-first.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For binary trees</a:t>
            </a: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inorder</a:t>
            </a: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 traversal</a:t>
            </a:r>
            <a:r>
              <a:rPr lang="en-US" sz="2400" dirty="0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3252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662C6B64-5A53-6D66-494D-5887CB6B3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>
            <a:extLst>
              <a:ext uri="{FF2B5EF4-FFF2-40B4-BE49-F238E27FC236}">
                <a16:creationId xmlns:a16="http://schemas.microsoft.com/office/drawing/2014/main" id="{083F1AF6-EC07-DEC0-0661-BC6A06DD21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/>
              <a:t>T</a:t>
            </a:r>
            <a:r>
              <a:rPr lang="en-US" sz="3200" dirty="0" err="1"/>
              <a:t>ree</a:t>
            </a:r>
            <a:r>
              <a:rPr lang="en-US" sz="3200" dirty="0"/>
              <a:t> Traversal</a:t>
            </a:r>
            <a:endParaRPr sz="3200" dirty="0"/>
          </a:p>
        </p:txBody>
      </p:sp>
      <p:sp>
        <p:nvSpPr>
          <p:cNvPr id="165" name="Google Shape;165;p21">
            <a:extLst>
              <a:ext uri="{FF2B5EF4-FFF2-40B4-BE49-F238E27FC236}">
                <a16:creationId xmlns:a16="http://schemas.microsoft.com/office/drawing/2014/main" id="{BDD12EE8-F795-2523-7AC7-A49546E40C39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1">
            <a:extLst>
              <a:ext uri="{FF2B5EF4-FFF2-40B4-BE49-F238E27FC236}">
                <a16:creationId xmlns:a16="http://schemas.microsoft.com/office/drawing/2014/main" id="{1098F71C-01E6-4E50-DF81-10CDD1CF620E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>
            <a:extLst>
              <a:ext uri="{FF2B5EF4-FFF2-40B4-BE49-F238E27FC236}">
                <a16:creationId xmlns:a16="http://schemas.microsoft.com/office/drawing/2014/main" id="{DF12B759-78C9-D5DD-DFD6-6AB41D6DA21A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>
            <a:extLst>
              <a:ext uri="{FF2B5EF4-FFF2-40B4-BE49-F238E27FC236}">
                <a16:creationId xmlns:a16="http://schemas.microsoft.com/office/drawing/2014/main" id="{2E277CFD-3148-6E2C-B443-CE6708A4FCE4}"/>
              </a:ext>
            </a:extLst>
          </p:cNvPr>
          <p:cNvSpPr txBox="1"/>
          <p:nvPr/>
        </p:nvSpPr>
        <p:spPr>
          <a:xfrm>
            <a:off x="457200" y="1101856"/>
            <a:ext cx="8082116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know how to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binary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trees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how to explore the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fr-FR" sz="2400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known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</a:t>
            </a:r>
            <a:r>
              <a:rPr lang="fr-FR" sz="2400" b="1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b="1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</a:t>
            </a:r>
            <a:r>
              <a:rPr lang="fr-FR" sz="2400" b="1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b="1" i="0" u="none" strike="noStrik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Traversal</a:t>
            </a:r>
            <a:r>
              <a:rPr lang="fr-FR" sz="240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fr-FR" sz="2400" i="0" u="none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traverse </a:t>
            </a:r>
            <a:r>
              <a:rPr lang="fr-F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trees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4 </a:t>
            </a:r>
            <a:r>
              <a:rPr lang="fr-F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approaches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Preorder Traversal: 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Pseudo-code for preorder traversal: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739235-FA3C-9482-015B-C62D3AE68285}"/>
              </a:ext>
            </a:extLst>
          </p:cNvPr>
          <p:cNvSpPr txBox="1"/>
          <p:nvPr/>
        </p:nvSpPr>
        <p:spPr>
          <a:xfrm>
            <a:off x="788610" y="4044893"/>
            <a:ext cx="77604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200" dirty="0"/>
              <a:t>First, traverse the </a:t>
            </a:r>
            <a:r>
              <a:rPr lang="fr-FR" sz="2200" b="1" dirty="0"/>
              <a:t>root</a:t>
            </a:r>
            <a:r>
              <a:rPr lang="fr-FR" sz="2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Then, traverse </a:t>
            </a:r>
            <a:r>
              <a:rPr lang="en-US" sz="2200" b="1" dirty="0"/>
              <a:t>subtrees</a:t>
            </a:r>
            <a:r>
              <a:rPr lang="en-US" sz="2200" dirty="0"/>
              <a:t> rooted at its children, recursively.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77D16C-3007-B52B-381F-88AFE8EC4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27" y="5275282"/>
            <a:ext cx="7477902" cy="12050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DAC60D-78F9-69E1-2F8B-2EBE2219DC10}"/>
              </a:ext>
            </a:extLst>
          </p:cNvPr>
          <p:cNvSpPr txBox="1"/>
          <p:nvPr/>
        </p:nvSpPr>
        <p:spPr>
          <a:xfrm>
            <a:off x="781539" y="2788558"/>
            <a:ext cx="75809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fr-FR" sz="2400" b="1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general</a:t>
            </a:r>
            <a:r>
              <a:rPr lang="fr-FR" sz="24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b="1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trees</a:t>
            </a:r>
            <a:r>
              <a:rPr lang="fr-F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preorder, </a:t>
            </a:r>
            <a:r>
              <a:rPr lang="en-US" sz="2400" dirty="0" err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postorder</a:t>
            </a: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 and breadth-first.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For binary trees</a:t>
            </a: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inorder</a:t>
            </a: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 traversal</a:t>
            </a:r>
            <a:r>
              <a:rPr lang="en-US" sz="2400" dirty="0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3592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A8EAD01C-602F-9EFB-5A16-30C06540A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>
            <a:extLst>
              <a:ext uri="{FF2B5EF4-FFF2-40B4-BE49-F238E27FC236}">
                <a16:creationId xmlns:a16="http://schemas.microsoft.com/office/drawing/2014/main" id="{FB9480C7-D04F-56DE-0A00-942DB26801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/>
              <a:t>T</a:t>
            </a:r>
            <a:r>
              <a:rPr lang="en-US" sz="3200" dirty="0" err="1"/>
              <a:t>ree</a:t>
            </a:r>
            <a:r>
              <a:rPr lang="en-US" sz="3200" dirty="0"/>
              <a:t> Traversal</a:t>
            </a:r>
            <a:endParaRPr sz="3200" dirty="0"/>
          </a:p>
        </p:txBody>
      </p:sp>
      <p:sp>
        <p:nvSpPr>
          <p:cNvPr id="165" name="Google Shape;165;p21">
            <a:extLst>
              <a:ext uri="{FF2B5EF4-FFF2-40B4-BE49-F238E27FC236}">
                <a16:creationId xmlns:a16="http://schemas.microsoft.com/office/drawing/2014/main" id="{EA6935A1-3EEB-6197-D70D-208C461D4BB3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1">
            <a:extLst>
              <a:ext uri="{FF2B5EF4-FFF2-40B4-BE49-F238E27FC236}">
                <a16:creationId xmlns:a16="http://schemas.microsoft.com/office/drawing/2014/main" id="{29774D2A-0BAE-107D-FD8F-127D90E5E40C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>
            <a:extLst>
              <a:ext uri="{FF2B5EF4-FFF2-40B4-BE49-F238E27FC236}">
                <a16:creationId xmlns:a16="http://schemas.microsoft.com/office/drawing/2014/main" id="{03B601E9-804C-7821-A3F5-BF311E873D1D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>
            <a:extLst>
              <a:ext uri="{FF2B5EF4-FFF2-40B4-BE49-F238E27FC236}">
                <a16:creationId xmlns:a16="http://schemas.microsoft.com/office/drawing/2014/main" id="{A8175ABC-E8A8-4D6E-0C3E-B34C46959B08}"/>
              </a:ext>
            </a:extLst>
          </p:cNvPr>
          <p:cNvSpPr txBox="1"/>
          <p:nvPr/>
        </p:nvSpPr>
        <p:spPr>
          <a:xfrm>
            <a:off x="457200" y="1101856"/>
            <a:ext cx="8082116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Pseudo-code for preorder traversal: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F3CC532-F5AC-6D68-206D-62A4E7FC8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11" y="1264418"/>
            <a:ext cx="8348134" cy="32108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9" name="Rounded Rectangle 168"/>
          <p:cNvSpPr/>
          <p:nvPr/>
        </p:nvSpPr>
        <p:spPr>
          <a:xfrm>
            <a:off x="502920" y="4663440"/>
            <a:ext cx="8138160" cy="1737360"/>
          </a:xfrm>
          <a:prstGeom prst="roundRect">
            <a:avLst/>
          </a:prstGeom>
          <a:solidFill>
            <a:srgbClr val="181A22"/>
          </a:solidFill>
          <a:ln w="12700">
            <a:solidFill>
              <a:srgbClr val="41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defRPr sz="1000">
                <a:solidFill>
                  <a:srgbClr val="6EA06E"/>
                </a:solidFill>
                <a:latin typeface="Consolas"/>
              </a:defRPr>
            </a:pPr>
            <a:r>
              <a:rPr dirty="0"/>
              <a:t># Preorder Traversal: Root -&gt; Left Subtree -&gt; Right Subtree</a:t>
            </a:r>
          </a:p>
          <a:p>
            <a:pPr>
              <a:defRPr sz="1000">
                <a:solidFill>
                  <a:srgbClr val="E68C5A"/>
                </a:solidFill>
                <a:latin typeface="Consolas"/>
              </a:defRPr>
            </a:pPr>
            <a:r>
              <a:rPr dirty="0"/>
              <a:t>def </a:t>
            </a:r>
            <a:r>
              <a:rPr dirty="0" err="1"/>
              <a:t>preorder_traversal</a:t>
            </a:r>
            <a:r>
              <a:rPr dirty="0"/>
              <a:t>(self, node, result):</a:t>
            </a:r>
          </a:p>
          <a:p>
            <a:pPr>
              <a:defRPr sz="1000">
                <a:solidFill>
                  <a:srgbClr val="E6EBF5"/>
                </a:solidFill>
                <a:latin typeface="Consolas"/>
              </a:defRPr>
            </a:pPr>
            <a:r>
              <a:rPr dirty="0"/>
              <a:t>    if node:</a:t>
            </a:r>
          </a:p>
          <a:p>
            <a:pPr>
              <a:defRPr sz="1000">
                <a:solidFill>
                  <a:srgbClr val="E6EBF5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result.append</a:t>
            </a:r>
            <a:r>
              <a:rPr dirty="0"/>
              <a:t>(</a:t>
            </a:r>
            <a:r>
              <a:rPr dirty="0" err="1"/>
              <a:t>node.value</a:t>
            </a:r>
            <a:r>
              <a:rPr dirty="0"/>
              <a:t>)                   # 1. Visit Root</a:t>
            </a:r>
          </a:p>
          <a:p>
            <a:pPr>
              <a:defRPr sz="1000">
                <a:solidFill>
                  <a:srgbClr val="E6EBF5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self.preorder_traversal</a:t>
            </a:r>
            <a:r>
              <a:rPr dirty="0"/>
              <a:t>(</a:t>
            </a:r>
            <a:r>
              <a:rPr dirty="0" err="1"/>
              <a:t>node.left</a:t>
            </a:r>
            <a:r>
              <a:rPr dirty="0"/>
              <a:t>, result)   # 2. Traverse Left</a:t>
            </a:r>
          </a:p>
          <a:p>
            <a:pPr>
              <a:defRPr sz="1000">
                <a:solidFill>
                  <a:srgbClr val="E6EBF5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self.preorder_traversal</a:t>
            </a:r>
            <a:r>
              <a:rPr dirty="0"/>
              <a:t>(</a:t>
            </a:r>
            <a:r>
              <a:rPr dirty="0" err="1"/>
              <a:t>node.right</a:t>
            </a:r>
            <a:r>
              <a:rPr dirty="0"/>
              <a:t>, result)  # 3. Traverse Right</a:t>
            </a:r>
          </a:p>
        </p:txBody>
      </p:sp>
    </p:spTree>
    <p:extLst>
      <p:ext uri="{BB962C8B-B14F-4D97-AF65-F5344CB8AC3E}">
        <p14:creationId xmlns:p14="http://schemas.microsoft.com/office/powerpoint/2010/main" val="2417174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AFB00801-7F0B-D0A1-81C3-B9C5C961F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>
            <a:extLst>
              <a:ext uri="{FF2B5EF4-FFF2-40B4-BE49-F238E27FC236}">
                <a16:creationId xmlns:a16="http://schemas.microsoft.com/office/drawing/2014/main" id="{CA01D54A-7FBE-240E-62A1-77FDD2E160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/>
              <a:t>T</a:t>
            </a:r>
            <a:r>
              <a:rPr lang="en-US" sz="3200" dirty="0" err="1"/>
              <a:t>ree</a:t>
            </a:r>
            <a:r>
              <a:rPr lang="en-US" sz="3200" dirty="0"/>
              <a:t> Traversal</a:t>
            </a:r>
            <a:endParaRPr sz="3200" dirty="0"/>
          </a:p>
        </p:txBody>
      </p:sp>
      <p:sp>
        <p:nvSpPr>
          <p:cNvPr id="165" name="Google Shape;165;p21">
            <a:extLst>
              <a:ext uri="{FF2B5EF4-FFF2-40B4-BE49-F238E27FC236}">
                <a16:creationId xmlns:a16="http://schemas.microsoft.com/office/drawing/2014/main" id="{D77987A3-1700-25B3-1CE8-13B28F4BA5E7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1">
            <a:extLst>
              <a:ext uri="{FF2B5EF4-FFF2-40B4-BE49-F238E27FC236}">
                <a16:creationId xmlns:a16="http://schemas.microsoft.com/office/drawing/2014/main" id="{C969B61C-B93C-553C-BEF8-34240B15B7FD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>
            <a:extLst>
              <a:ext uri="{FF2B5EF4-FFF2-40B4-BE49-F238E27FC236}">
                <a16:creationId xmlns:a16="http://schemas.microsoft.com/office/drawing/2014/main" id="{AE36613E-2A59-27C9-E2C6-236D59BC1461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>
            <a:extLst>
              <a:ext uri="{FF2B5EF4-FFF2-40B4-BE49-F238E27FC236}">
                <a16:creationId xmlns:a16="http://schemas.microsoft.com/office/drawing/2014/main" id="{A4DC79C0-5578-82BB-622A-EF44233A538F}"/>
              </a:ext>
            </a:extLst>
          </p:cNvPr>
          <p:cNvSpPr txBox="1"/>
          <p:nvPr/>
        </p:nvSpPr>
        <p:spPr>
          <a:xfrm>
            <a:off x="457200" y="1101856"/>
            <a:ext cx="8082116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b="1" dirty="0" err="1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Postorder</a:t>
            </a:r>
            <a:r>
              <a:rPr lang="en-US" sz="2400" b="1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 Traversal: </a:t>
            </a:r>
            <a:r>
              <a:rPr lang="fr-FR" sz="2400" dirty="0">
                <a:sym typeface="Calibri"/>
              </a:rPr>
              <a:t>Opposite </a:t>
            </a:r>
            <a:r>
              <a:rPr lang="fr-FR" sz="2400" dirty="0"/>
              <a:t>to </a:t>
            </a:r>
            <a:r>
              <a:rPr lang="fr-FR" sz="2400" dirty="0" err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preorder</a:t>
            </a:r>
            <a:r>
              <a:rPr lang="fr-FR" sz="24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2400" dirty="0" err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traversal</a:t>
            </a:r>
            <a:r>
              <a:rPr lang="fr-FR" sz="24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4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Pseudo-code for </a:t>
            </a:r>
            <a:r>
              <a:rPr lang="en-US" sz="2400" dirty="0" err="1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postorder</a:t>
            </a: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 traversal: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4E050B-00C7-E013-8B65-BCC43704FE0C}"/>
              </a:ext>
            </a:extLst>
          </p:cNvPr>
          <p:cNvSpPr txBox="1"/>
          <p:nvPr/>
        </p:nvSpPr>
        <p:spPr>
          <a:xfrm>
            <a:off x="845825" y="1570489"/>
            <a:ext cx="744626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200" dirty="0"/>
              <a:t>First, </a:t>
            </a:r>
            <a:r>
              <a:rPr lang="fr-FR" sz="2200" dirty="0" err="1"/>
              <a:t>it</a:t>
            </a:r>
            <a:r>
              <a:rPr lang="fr-FR" sz="2200" dirty="0"/>
              <a:t> </a:t>
            </a:r>
            <a:r>
              <a:rPr lang="fr-FR" sz="2200" dirty="0" err="1"/>
              <a:t>recursively</a:t>
            </a:r>
            <a:r>
              <a:rPr lang="fr-FR" sz="2200" dirty="0"/>
              <a:t> </a:t>
            </a:r>
            <a:r>
              <a:rPr lang="en-US" sz="2200" dirty="0"/>
              <a:t>traverses the subtrees rooted at the </a:t>
            </a:r>
          </a:p>
          <a:p>
            <a:r>
              <a:rPr lang="en-US" sz="2200" dirty="0"/>
              <a:t>    children of the </a:t>
            </a:r>
            <a:r>
              <a:rPr lang="en-US" sz="2200" b="1" dirty="0"/>
              <a:t>root</a:t>
            </a:r>
            <a:r>
              <a:rPr lang="en-US" sz="22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Then, traverse the </a:t>
            </a:r>
            <a:r>
              <a:rPr lang="en-US" sz="2200" b="1" dirty="0"/>
              <a:t>root</a:t>
            </a:r>
            <a:r>
              <a:rPr lang="en-US" sz="2200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F206F9-637A-A91B-9F0A-5EDF8F44A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52" y="3515166"/>
            <a:ext cx="7838148" cy="13356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2475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13BF9E88-A352-5A13-ABC5-C5C6B59D4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>
            <a:extLst>
              <a:ext uri="{FF2B5EF4-FFF2-40B4-BE49-F238E27FC236}">
                <a16:creationId xmlns:a16="http://schemas.microsoft.com/office/drawing/2014/main" id="{1407426E-2F4B-9CBA-2040-143C13F433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/>
              <a:t>T</a:t>
            </a:r>
            <a:r>
              <a:rPr lang="en-US" sz="3200" dirty="0" err="1"/>
              <a:t>ree</a:t>
            </a:r>
            <a:r>
              <a:rPr lang="en-US" sz="3200" dirty="0"/>
              <a:t> Traversal</a:t>
            </a:r>
            <a:endParaRPr sz="3200" dirty="0"/>
          </a:p>
        </p:txBody>
      </p:sp>
      <p:sp>
        <p:nvSpPr>
          <p:cNvPr id="165" name="Google Shape;165;p21">
            <a:extLst>
              <a:ext uri="{FF2B5EF4-FFF2-40B4-BE49-F238E27FC236}">
                <a16:creationId xmlns:a16="http://schemas.microsoft.com/office/drawing/2014/main" id="{993158E9-C80C-FB09-F46E-C6179A7D8111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1">
            <a:extLst>
              <a:ext uri="{FF2B5EF4-FFF2-40B4-BE49-F238E27FC236}">
                <a16:creationId xmlns:a16="http://schemas.microsoft.com/office/drawing/2014/main" id="{8A75BAE4-1348-7E0A-F6EA-5D4E402C972A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>
            <a:extLst>
              <a:ext uri="{FF2B5EF4-FFF2-40B4-BE49-F238E27FC236}">
                <a16:creationId xmlns:a16="http://schemas.microsoft.com/office/drawing/2014/main" id="{5FBB70E9-5159-F21B-6894-254E550DDEE4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>
            <a:extLst>
              <a:ext uri="{FF2B5EF4-FFF2-40B4-BE49-F238E27FC236}">
                <a16:creationId xmlns:a16="http://schemas.microsoft.com/office/drawing/2014/main" id="{3FFEF98D-2A3D-8744-194E-7AD753E8B343}"/>
              </a:ext>
            </a:extLst>
          </p:cNvPr>
          <p:cNvSpPr txBox="1"/>
          <p:nvPr/>
        </p:nvSpPr>
        <p:spPr>
          <a:xfrm>
            <a:off x="457200" y="1101856"/>
            <a:ext cx="808211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Pseudo-code for </a:t>
            </a:r>
            <a:r>
              <a:rPr lang="en-US" sz="2400" dirty="0" err="1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postorder</a:t>
            </a: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 traversal:</a:t>
            </a:r>
          </a:p>
        </p:txBody>
      </p:sp>
      <p:sp>
        <p:nvSpPr>
          <p:cNvPr id="170" name="Google Shape;170;p21">
            <a:extLst>
              <a:ext uri="{FF2B5EF4-FFF2-40B4-BE49-F238E27FC236}">
                <a16:creationId xmlns:a16="http://schemas.microsoft.com/office/drawing/2014/main" id="{C75F120C-B8A4-5015-0C4B-3DE0F638E767}"/>
              </a:ext>
            </a:extLst>
          </p:cNvPr>
          <p:cNvSpPr/>
          <p:nvPr/>
        </p:nvSpPr>
        <p:spPr>
          <a:xfrm>
            <a:off x="1081548" y="3711098"/>
            <a:ext cx="7256474" cy="2241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5375" rIns="91425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44583E-883E-A909-C4E3-97A32C68E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78" y="3221044"/>
            <a:ext cx="7838148" cy="30092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1" name="Rounded Rectangle 170"/>
          <p:cNvSpPr/>
          <p:nvPr/>
        </p:nvSpPr>
        <p:spPr>
          <a:xfrm>
            <a:off x="502920" y="1554480"/>
            <a:ext cx="8138160" cy="1600200"/>
          </a:xfrm>
          <a:prstGeom prst="roundRect">
            <a:avLst/>
          </a:prstGeom>
          <a:solidFill>
            <a:srgbClr val="181A22"/>
          </a:solidFill>
          <a:ln w="12700">
            <a:solidFill>
              <a:srgbClr val="41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defRPr sz="1000">
                <a:solidFill>
                  <a:srgbClr val="6EA06E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Postorder</a:t>
            </a:r>
            <a:r>
              <a:rPr dirty="0"/>
              <a:t> Traversal: Left Subtree -&gt; Right Subtree -&gt; Root</a:t>
            </a:r>
          </a:p>
          <a:p>
            <a:pPr>
              <a:defRPr sz="1000">
                <a:solidFill>
                  <a:srgbClr val="E68C5A"/>
                </a:solidFill>
                <a:latin typeface="Consolas"/>
              </a:defRPr>
            </a:pPr>
            <a:r>
              <a:rPr dirty="0"/>
              <a:t>def </a:t>
            </a:r>
            <a:r>
              <a:rPr dirty="0" err="1"/>
              <a:t>postorder_traversal</a:t>
            </a:r>
            <a:r>
              <a:rPr dirty="0"/>
              <a:t>(self, node, result):</a:t>
            </a:r>
          </a:p>
          <a:p>
            <a:pPr>
              <a:defRPr sz="1000">
                <a:solidFill>
                  <a:srgbClr val="E6EBF5"/>
                </a:solidFill>
                <a:latin typeface="Consolas"/>
              </a:defRPr>
            </a:pPr>
            <a:r>
              <a:rPr dirty="0"/>
              <a:t>    if node:</a:t>
            </a:r>
          </a:p>
          <a:p>
            <a:pPr>
              <a:defRPr sz="1000">
                <a:solidFill>
                  <a:srgbClr val="E6EBF5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self.postorder_traversal</a:t>
            </a:r>
            <a:r>
              <a:rPr dirty="0"/>
              <a:t>(</a:t>
            </a:r>
            <a:r>
              <a:rPr dirty="0" err="1"/>
              <a:t>node.left</a:t>
            </a:r>
            <a:r>
              <a:rPr dirty="0"/>
              <a:t>, result)   # 1. Traverse Left</a:t>
            </a:r>
          </a:p>
          <a:p>
            <a:pPr>
              <a:defRPr sz="1000">
                <a:solidFill>
                  <a:srgbClr val="E6EBF5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self.postorder_traversal</a:t>
            </a:r>
            <a:r>
              <a:rPr dirty="0"/>
              <a:t>(</a:t>
            </a:r>
            <a:r>
              <a:rPr dirty="0" err="1"/>
              <a:t>node.right</a:t>
            </a:r>
            <a:r>
              <a:rPr dirty="0"/>
              <a:t>, result)  # 2. Traverse Right</a:t>
            </a:r>
          </a:p>
          <a:p>
            <a:pPr>
              <a:defRPr sz="1000">
                <a:solidFill>
                  <a:srgbClr val="E6EBF5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result.append</a:t>
            </a:r>
            <a:r>
              <a:rPr dirty="0"/>
              <a:t>(</a:t>
            </a:r>
            <a:r>
              <a:rPr dirty="0" err="1"/>
              <a:t>node.value</a:t>
            </a:r>
            <a:r>
              <a:rPr dirty="0"/>
              <a:t>)                    # 3. Visit Root</a:t>
            </a:r>
          </a:p>
        </p:txBody>
      </p:sp>
    </p:spTree>
    <p:extLst>
      <p:ext uri="{BB962C8B-B14F-4D97-AF65-F5344CB8AC3E}">
        <p14:creationId xmlns:p14="http://schemas.microsoft.com/office/powerpoint/2010/main" val="3479880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A76EA5FF-7BE3-E289-9778-E7D851431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>
            <a:extLst>
              <a:ext uri="{FF2B5EF4-FFF2-40B4-BE49-F238E27FC236}">
                <a16:creationId xmlns:a16="http://schemas.microsoft.com/office/drawing/2014/main" id="{961C1D7B-ACD7-C046-6722-6793A7AFE4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/>
              <a:t>T</a:t>
            </a:r>
            <a:r>
              <a:rPr lang="en-US" sz="3200" dirty="0" err="1"/>
              <a:t>ree</a:t>
            </a:r>
            <a:r>
              <a:rPr lang="en-US" sz="3200" dirty="0"/>
              <a:t> Traversal</a:t>
            </a:r>
            <a:endParaRPr sz="3200" dirty="0"/>
          </a:p>
        </p:txBody>
      </p:sp>
      <p:sp>
        <p:nvSpPr>
          <p:cNvPr id="165" name="Google Shape;165;p21">
            <a:extLst>
              <a:ext uri="{FF2B5EF4-FFF2-40B4-BE49-F238E27FC236}">
                <a16:creationId xmlns:a16="http://schemas.microsoft.com/office/drawing/2014/main" id="{03E89174-8C3C-0B2B-BD07-C58F748015E5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1">
            <a:extLst>
              <a:ext uri="{FF2B5EF4-FFF2-40B4-BE49-F238E27FC236}">
                <a16:creationId xmlns:a16="http://schemas.microsoft.com/office/drawing/2014/main" id="{10624BAF-C72B-2180-AE39-0D042B80A2A8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>
            <a:extLst>
              <a:ext uri="{FF2B5EF4-FFF2-40B4-BE49-F238E27FC236}">
                <a16:creationId xmlns:a16="http://schemas.microsoft.com/office/drawing/2014/main" id="{B6C328B3-5E4C-8DA0-E685-0535C0173E16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>
            <a:extLst>
              <a:ext uri="{FF2B5EF4-FFF2-40B4-BE49-F238E27FC236}">
                <a16:creationId xmlns:a16="http://schemas.microsoft.com/office/drawing/2014/main" id="{949184F6-B295-8BF9-1A85-A22559D41BF4}"/>
              </a:ext>
            </a:extLst>
          </p:cNvPr>
          <p:cNvSpPr txBox="1"/>
          <p:nvPr/>
        </p:nvSpPr>
        <p:spPr>
          <a:xfrm>
            <a:off x="457200" y="1101856"/>
            <a:ext cx="8082116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Breadth-First Traversal: </a:t>
            </a:r>
            <a:r>
              <a:rPr lang="en-US" sz="2200" dirty="0">
                <a:sym typeface="Calibri"/>
              </a:rPr>
              <a:t>another common approach for visiting nodes of a tree is visiting all positions at each </a:t>
            </a:r>
            <a:r>
              <a:rPr lang="en-US" sz="2200" b="1" dirty="0">
                <a:sym typeface="Calibri"/>
              </a:rPr>
              <a:t>depth</a:t>
            </a:r>
            <a:r>
              <a:rPr lang="en-US" sz="2200" dirty="0">
                <a:sym typeface="Calibri"/>
              </a:rPr>
              <a:t>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US" sz="2200" dirty="0"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ym typeface="Calibri"/>
              </a:rPr>
              <a:t>Below is an example of a partial game tree for Tic-Tac-Toe.</a:t>
            </a:r>
          </a:p>
        </p:txBody>
      </p:sp>
      <p:sp>
        <p:nvSpPr>
          <p:cNvPr id="170" name="Google Shape;170;p21">
            <a:extLst>
              <a:ext uri="{FF2B5EF4-FFF2-40B4-BE49-F238E27FC236}">
                <a16:creationId xmlns:a16="http://schemas.microsoft.com/office/drawing/2014/main" id="{12AD4F53-DC6A-67BA-104B-CE20EB2BC49B}"/>
              </a:ext>
            </a:extLst>
          </p:cNvPr>
          <p:cNvSpPr/>
          <p:nvPr/>
        </p:nvSpPr>
        <p:spPr>
          <a:xfrm>
            <a:off x="1081548" y="3711098"/>
            <a:ext cx="7256474" cy="2241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5375" rIns="91425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51C5E7-9EEC-47C4-F795-65860B40F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80" y="3037651"/>
            <a:ext cx="7719039" cy="30716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8480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3EFC62F9-8536-83FA-B304-98B2B2B2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>
            <a:extLst>
              <a:ext uri="{FF2B5EF4-FFF2-40B4-BE49-F238E27FC236}">
                <a16:creationId xmlns:a16="http://schemas.microsoft.com/office/drawing/2014/main" id="{C73E8F5C-ED3C-70FA-B7EB-B3EC834EFE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/>
              <a:t>T</a:t>
            </a:r>
            <a:r>
              <a:rPr lang="en-US" sz="3200" dirty="0" err="1"/>
              <a:t>ree</a:t>
            </a:r>
            <a:r>
              <a:rPr lang="en-US" sz="3200" dirty="0"/>
              <a:t> Traversal</a:t>
            </a:r>
            <a:endParaRPr sz="3200" dirty="0"/>
          </a:p>
        </p:txBody>
      </p:sp>
      <p:sp>
        <p:nvSpPr>
          <p:cNvPr id="165" name="Google Shape;165;p21">
            <a:extLst>
              <a:ext uri="{FF2B5EF4-FFF2-40B4-BE49-F238E27FC236}">
                <a16:creationId xmlns:a16="http://schemas.microsoft.com/office/drawing/2014/main" id="{57B834EF-3A16-CD53-4690-C5AE05323A3F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1">
            <a:extLst>
              <a:ext uri="{FF2B5EF4-FFF2-40B4-BE49-F238E27FC236}">
                <a16:creationId xmlns:a16="http://schemas.microsoft.com/office/drawing/2014/main" id="{3A7686E1-930F-6009-13EE-BCFD3E9F889A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>
            <a:extLst>
              <a:ext uri="{FF2B5EF4-FFF2-40B4-BE49-F238E27FC236}">
                <a16:creationId xmlns:a16="http://schemas.microsoft.com/office/drawing/2014/main" id="{AF8B5663-76A5-C509-DCAB-12DF9A9D941F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>
            <a:extLst>
              <a:ext uri="{FF2B5EF4-FFF2-40B4-BE49-F238E27FC236}">
                <a16:creationId xmlns:a16="http://schemas.microsoft.com/office/drawing/2014/main" id="{4FB077BE-F904-D332-D701-41E26E7BA118}"/>
              </a:ext>
            </a:extLst>
          </p:cNvPr>
          <p:cNvSpPr txBox="1"/>
          <p:nvPr/>
        </p:nvSpPr>
        <p:spPr>
          <a:xfrm>
            <a:off x="457200" y="1101856"/>
            <a:ext cx="8082116" cy="283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Breadth-First Traversal: </a:t>
            </a:r>
            <a:r>
              <a:rPr lang="en-US" sz="2200" dirty="0">
                <a:sym typeface="Calibri"/>
              </a:rPr>
              <a:t>another common approach for visiting nodes of a tree is visiting all positions at each </a:t>
            </a:r>
            <a:r>
              <a:rPr lang="en-US" sz="2200" b="1" dirty="0">
                <a:sym typeface="Calibri"/>
              </a:rPr>
              <a:t>depth</a:t>
            </a:r>
            <a:r>
              <a:rPr lang="en-US" sz="2200" dirty="0">
                <a:sym typeface="Calibri"/>
              </a:rPr>
              <a:t>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US" sz="2200" dirty="0"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ym typeface="Calibri"/>
              </a:rPr>
              <a:t>Below is an example of a partial game tree for Tic-Tac-Toe.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200" dirty="0"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200" dirty="0"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200" dirty="0"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1">
                    <a:lumMod val="75000"/>
                  </a:schemeClr>
                </a:solidFill>
                <a:sym typeface="Calibri"/>
              </a:rPr>
              <a:t>The pseudo-code for this algorithm is given below: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8B307A-1A03-EAE9-5B20-58F9D106A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77" y="982105"/>
            <a:ext cx="7719039" cy="2389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9" name="Rounded Rectangle 168"/>
          <p:cNvSpPr/>
          <p:nvPr/>
        </p:nvSpPr>
        <p:spPr>
          <a:xfrm>
            <a:off x="552677" y="4053111"/>
            <a:ext cx="8138160" cy="2094056"/>
          </a:xfrm>
          <a:prstGeom prst="roundRect">
            <a:avLst/>
          </a:prstGeom>
          <a:solidFill>
            <a:srgbClr val="181A22"/>
          </a:solidFill>
          <a:ln w="12700">
            <a:solidFill>
              <a:srgbClr val="41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defRPr sz="950">
                <a:solidFill>
                  <a:srgbClr val="6EA06E"/>
                </a:solidFill>
                <a:latin typeface="Consolas"/>
              </a:defRPr>
            </a:pPr>
            <a:r>
              <a:rPr dirty="0"/>
              <a:t># Breadth-First (Level-Order) Traversal using a Queue (FIFO)</a:t>
            </a:r>
          </a:p>
          <a:p>
            <a:pPr>
              <a:defRPr sz="950">
                <a:solidFill>
                  <a:srgbClr val="E68C5A"/>
                </a:solidFill>
                <a:latin typeface="Consolas"/>
              </a:defRPr>
            </a:pPr>
            <a:r>
              <a:rPr dirty="0"/>
              <a:t>def </a:t>
            </a:r>
            <a:r>
              <a:rPr dirty="0" err="1"/>
              <a:t>breadth_first_traversal</a:t>
            </a:r>
            <a:r>
              <a:rPr dirty="0"/>
              <a:t>(self, result):</a:t>
            </a:r>
          </a:p>
          <a:p>
            <a:pPr>
              <a:defRPr sz="950">
                <a:solidFill>
                  <a:srgbClr val="E6EBF5"/>
                </a:solidFill>
                <a:latin typeface="Consolas"/>
              </a:defRPr>
            </a:pPr>
            <a:r>
              <a:rPr dirty="0"/>
              <a:t>    if </a:t>
            </a:r>
            <a:r>
              <a:rPr dirty="0" err="1"/>
              <a:t>self.root</a:t>
            </a:r>
            <a:r>
              <a:rPr dirty="0"/>
              <a:t> is None: </a:t>
            </a:r>
            <a:endParaRPr lang="en-US" dirty="0"/>
          </a:p>
          <a:p>
            <a:pPr>
              <a:defRPr sz="950">
                <a:solidFill>
                  <a:srgbClr val="E6EBF5"/>
                </a:solidFill>
                <a:latin typeface="Consolas"/>
              </a:defRPr>
            </a:pPr>
            <a:r>
              <a:rPr lang="en-US" dirty="0"/>
              <a:t>        </a:t>
            </a:r>
            <a:r>
              <a:rPr dirty="0"/>
              <a:t>return</a:t>
            </a:r>
          </a:p>
          <a:p>
            <a:pPr>
              <a:defRPr sz="950">
                <a:solidFill>
                  <a:srgbClr val="E6EBF5"/>
                </a:solidFill>
                <a:latin typeface="Consolas"/>
              </a:defRPr>
            </a:pPr>
            <a:r>
              <a:rPr dirty="0"/>
              <a:t>    queue = [</a:t>
            </a:r>
            <a:r>
              <a:rPr dirty="0" err="1"/>
              <a:t>self.root</a:t>
            </a:r>
            <a:r>
              <a:rPr dirty="0"/>
              <a:t>]</a:t>
            </a:r>
          </a:p>
          <a:p>
            <a:pPr>
              <a:defRPr sz="950">
                <a:solidFill>
                  <a:srgbClr val="E6EBF5"/>
                </a:solidFill>
                <a:latin typeface="Consolas"/>
              </a:defRPr>
            </a:pPr>
            <a:r>
              <a:rPr dirty="0"/>
              <a:t>    while queue:</a:t>
            </a:r>
          </a:p>
          <a:p>
            <a:pPr>
              <a:defRPr sz="950">
                <a:solidFill>
                  <a:srgbClr val="E6EBF5"/>
                </a:solidFill>
                <a:latin typeface="Consolas"/>
              </a:defRPr>
            </a:pPr>
            <a:r>
              <a:rPr dirty="0"/>
              <a:t>        node = </a:t>
            </a:r>
            <a:r>
              <a:rPr dirty="0" err="1"/>
              <a:t>queue.pop</a:t>
            </a:r>
            <a:r>
              <a:rPr dirty="0"/>
              <a:t>(0)                          # 1. Dequeue front node</a:t>
            </a:r>
          </a:p>
          <a:p>
            <a:pPr>
              <a:defRPr sz="950">
                <a:solidFill>
                  <a:srgbClr val="E6EBF5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result.append</a:t>
            </a:r>
            <a:r>
              <a:rPr dirty="0"/>
              <a:t>(</a:t>
            </a:r>
            <a:r>
              <a:rPr dirty="0" err="1"/>
              <a:t>node.value</a:t>
            </a:r>
            <a:r>
              <a:rPr dirty="0"/>
              <a:t>)                    # 2. Visit node</a:t>
            </a:r>
          </a:p>
          <a:p>
            <a:pPr>
              <a:defRPr sz="950">
                <a:solidFill>
                  <a:srgbClr val="E6EBF5"/>
                </a:solidFill>
                <a:latin typeface="Consolas"/>
              </a:defRPr>
            </a:pPr>
            <a:r>
              <a:rPr dirty="0"/>
              <a:t>        if </a:t>
            </a:r>
            <a:r>
              <a:rPr dirty="0" err="1"/>
              <a:t>node.left</a:t>
            </a:r>
            <a:r>
              <a:rPr dirty="0"/>
              <a:t>:  </a:t>
            </a:r>
            <a:r>
              <a:rPr dirty="0" err="1"/>
              <a:t>queue.append</a:t>
            </a:r>
            <a:r>
              <a:rPr dirty="0"/>
              <a:t>(</a:t>
            </a:r>
            <a:r>
              <a:rPr dirty="0" err="1"/>
              <a:t>node.left</a:t>
            </a:r>
            <a:r>
              <a:rPr dirty="0"/>
              <a:t>)       # 3. Enqueue Left child</a:t>
            </a:r>
          </a:p>
          <a:p>
            <a:pPr>
              <a:defRPr sz="950">
                <a:solidFill>
                  <a:srgbClr val="E6EBF5"/>
                </a:solidFill>
                <a:latin typeface="Consolas"/>
              </a:defRPr>
            </a:pPr>
            <a:r>
              <a:rPr dirty="0"/>
              <a:t>        if </a:t>
            </a:r>
            <a:r>
              <a:rPr dirty="0" err="1"/>
              <a:t>node.right</a:t>
            </a:r>
            <a:r>
              <a:rPr dirty="0"/>
              <a:t>: </a:t>
            </a:r>
            <a:r>
              <a:rPr dirty="0" err="1"/>
              <a:t>queue.append</a:t>
            </a:r>
            <a:r>
              <a:rPr dirty="0"/>
              <a:t>(</a:t>
            </a:r>
            <a:r>
              <a:rPr dirty="0" err="1"/>
              <a:t>node.right</a:t>
            </a:r>
            <a:r>
              <a:rPr dirty="0"/>
              <a:t>)      # 4. Enqueue Right child</a:t>
            </a:r>
          </a:p>
        </p:txBody>
      </p:sp>
    </p:spTree>
    <p:extLst>
      <p:ext uri="{BB962C8B-B14F-4D97-AF65-F5344CB8AC3E}">
        <p14:creationId xmlns:p14="http://schemas.microsoft.com/office/powerpoint/2010/main" val="342598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34A9F4F6-CFB9-81D3-93C6-CE6B53839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>
            <a:extLst>
              <a:ext uri="{FF2B5EF4-FFF2-40B4-BE49-F238E27FC236}">
                <a16:creationId xmlns:a16="http://schemas.microsoft.com/office/drawing/2014/main" id="{AAACE613-5CD5-5328-9FA4-954A158423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/>
              <a:t>T</a:t>
            </a:r>
            <a:r>
              <a:rPr lang="en-US" sz="3200" dirty="0" err="1"/>
              <a:t>ree</a:t>
            </a:r>
            <a:r>
              <a:rPr lang="en-US" sz="3200" dirty="0"/>
              <a:t> Traversal</a:t>
            </a:r>
            <a:endParaRPr sz="3200" dirty="0"/>
          </a:p>
        </p:txBody>
      </p:sp>
      <p:sp>
        <p:nvSpPr>
          <p:cNvPr id="165" name="Google Shape;165;p21">
            <a:extLst>
              <a:ext uri="{FF2B5EF4-FFF2-40B4-BE49-F238E27FC236}">
                <a16:creationId xmlns:a16="http://schemas.microsoft.com/office/drawing/2014/main" id="{F2EA07FE-C546-1D0E-EBA3-3D0764016F7C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1">
            <a:extLst>
              <a:ext uri="{FF2B5EF4-FFF2-40B4-BE49-F238E27FC236}">
                <a16:creationId xmlns:a16="http://schemas.microsoft.com/office/drawing/2014/main" id="{6EA787CD-34E4-AE02-B232-B5D47C0C11B4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>
            <a:extLst>
              <a:ext uri="{FF2B5EF4-FFF2-40B4-BE49-F238E27FC236}">
                <a16:creationId xmlns:a16="http://schemas.microsoft.com/office/drawing/2014/main" id="{48E5AAE3-ACD7-52C0-0D2E-8830D55F383D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272764-0BAF-3C5C-F2DC-3045C9619188}"/>
              </a:ext>
            </a:extLst>
          </p:cNvPr>
          <p:cNvSpPr txBox="1"/>
          <p:nvPr/>
        </p:nvSpPr>
        <p:spPr>
          <a:xfrm>
            <a:off x="604684" y="1190173"/>
            <a:ext cx="78281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sym typeface="Calibri"/>
              </a:rPr>
              <a:t>Task1:</a:t>
            </a:r>
            <a:r>
              <a:rPr lang="en-US" sz="2400" dirty="0">
                <a:sym typeface="Calibri"/>
              </a:rPr>
              <a:t> add a method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insert() </a:t>
            </a:r>
            <a:r>
              <a:rPr lang="en-US" sz="2400" dirty="0">
                <a:sym typeface="Calibri"/>
              </a:rPr>
              <a:t>to the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sym typeface="Calibri"/>
              </a:rPr>
              <a:t>BinaryTree</a:t>
            </a:r>
            <a:r>
              <a:rPr lang="en-US" sz="2400" dirty="0">
                <a:sym typeface="Calibri"/>
              </a:rPr>
              <a:t> class that allows to insert nodes to a tree. Try to grow a tree using values from the list </a:t>
            </a:r>
            <a:r>
              <a:rPr lang="en-US" sz="2400" dirty="0"/>
              <a:t>[10, 5, 20, 3, 7, 15, 25]. Can you draw its tree representation?</a:t>
            </a:r>
          </a:p>
        </p:txBody>
      </p:sp>
    </p:spTree>
    <p:extLst>
      <p:ext uri="{BB962C8B-B14F-4D97-AF65-F5344CB8AC3E}">
        <p14:creationId xmlns:p14="http://schemas.microsoft.com/office/powerpoint/2010/main" val="140404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FB52AA48-FA33-7395-C3A1-2FE6EEE61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>
            <a:extLst>
              <a:ext uri="{FF2B5EF4-FFF2-40B4-BE49-F238E27FC236}">
                <a16:creationId xmlns:a16="http://schemas.microsoft.com/office/drawing/2014/main" id="{A6A11DFE-E2A5-0FCD-FFCB-CB4A7EF9E9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/>
              <a:t>T</a:t>
            </a:r>
            <a:r>
              <a:rPr lang="en-US" sz="3200" dirty="0" err="1"/>
              <a:t>ree</a:t>
            </a:r>
            <a:r>
              <a:rPr lang="en-US" sz="3200" dirty="0"/>
              <a:t> Traversal</a:t>
            </a:r>
            <a:endParaRPr sz="3200" dirty="0"/>
          </a:p>
        </p:txBody>
      </p:sp>
      <p:sp>
        <p:nvSpPr>
          <p:cNvPr id="165" name="Google Shape;165;p21">
            <a:extLst>
              <a:ext uri="{FF2B5EF4-FFF2-40B4-BE49-F238E27FC236}">
                <a16:creationId xmlns:a16="http://schemas.microsoft.com/office/drawing/2014/main" id="{CCBD6907-C6C2-8D6E-2EB7-556C6CB2B71B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1">
            <a:extLst>
              <a:ext uri="{FF2B5EF4-FFF2-40B4-BE49-F238E27FC236}">
                <a16:creationId xmlns:a16="http://schemas.microsoft.com/office/drawing/2014/main" id="{ECE878C4-2471-4E02-C223-30960F57E764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>
            <a:extLst>
              <a:ext uri="{FF2B5EF4-FFF2-40B4-BE49-F238E27FC236}">
                <a16:creationId xmlns:a16="http://schemas.microsoft.com/office/drawing/2014/main" id="{56F98FF9-99F0-5A35-ACB3-CEBEFEE5890F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BEAB7-3DA3-39F0-FF70-40E032B713B9}"/>
              </a:ext>
            </a:extLst>
          </p:cNvPr>
          <p:cNvSpPr txBox="1"/>
          <p:nvPr/>
        </p:nvSpPr>
        <p:spPr>
          <a:xfrm>
            <a:off x="604684" y="1190173"/>
            <a:ext cx="78281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sym typeface="Calibri"/>
              </a:rPr>
              <a:t>Task1:</a:t>
            </a:r>
            <a:r>
              <a:rPr lang="en-US" sz="2400" dirty="0">
                <a:sym typeface="Calibri"/>
              </a:rPr>
              <a:t> add a method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insert() </a:t>
            </a:r>
            <a:r>
              <a:rPr lang="en-US" sz="2400" dirty="0">
                <a:sym typeface="Calibri"/>
              </a:rPr>
              <a:t>to the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sym typeface="Calibri"/>
              </a:rPr>
              <a:t>BinaryTree</a:t>
            </a:r>
            <a:r>
              <a:rPr lang="en-US" sz="2400" dirty="0">
                <a:sym typeface="Calibri"/>
              </a:rPr>
              <a:t> class that allows to insert nodes to a tree. Try to grow a tree using values from the list </a:t>
            </a:r>
            <a:r>
              <a:rPr lang="en-US" sz="2400" dirty="0"/>
              <a:t>[10, 5, 20, 3, 7, 15, 25]. Can you draw its tree representation?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C01948F-8846-1235-9DAF-376CFF887EB2}"/>
              </a:ext>
            </a:extLst>
          </p:cNvPr>
          <p:cNvSpPr/>
          <p:nvPr/>
        </p:nvSpPr>
        <p:spPr>
          <a:xfrm>
            <a:off x="6854335" y="3167086"/>
            <a:ext cx="561219" cy="5370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10</a:t>
            </a:r>
            <a:endParaRPr lang="en-US" b="1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84DB8A3-0A5A-2771-1B17-D814E941F7F8}"/>
              </a:ext>
            </a:extLst>
          </p:cNvPr>
          <p:cNvSpPr/>
          <p:nvPr/>
        </p:nvSpPr>
        <p:spPr>
          <a:xfrm>
            <a:off x="6081334" y="4230914"/>
            <a:ext cx="561219" cy="5370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5</a:t>
            </a:r>
            <a:endParaRPr lang="en-US" b="1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B1178BF-B504-6C5E-99BA-6EF15D99F9C7}"/>
              </a:ext>
            </a:extLst>
          </p:cNvPr>
          <p:cNvSpPr/>
          <p:nvPr/>
        </p:nvSpPr>
        <p:spPr>
          <a:xfrm>
            <a:off x="7585507" y="4230914"/>
            <a:ext cx="561219" cy="5370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20</a:t>
            </a:r>
            <a:endParaRPr lang="en-US" b="1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992215B-911F-F967-A0AB-1D1B8E9AD3F9}"/>
              </a:ext>
            </a:extLst>
          </p:cNvPr>
          <p:cNvSpPr/>
          <p:nvPr/>
        </p:nvSpPr>
        <p:spPr>
          <a:xfrm>
            <a:off x="5656461" y="5493654"/>
            <a:ext cx="561219" cy="5370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3</a:t>
            </a:r>
            <a:endParaRPr lang="en-US" b="1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720A02F-8B99-CFB8-5B8F-8603B5DDC3CC}"/>
              </a:ext>
            </a:extLst>
          </p:cNvPr>
          <p:cNvSpPr/>
          <p:nvPr/>
        </p:nvSpPr>
        <p:spPr>
          <a:xfrm>
            <a:off x="6413623" y="5500115"/>
            <a:ext cx="561219" cy="5370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7</a:t>
            </a:r>
            <a:endParaRPr lang="en-US" b="1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9FC6C56-4C03-BB28-8811-6039F2DCA6EB}"/>
              </a:ext>
            </a:extLst>
          </p:cNvPr>
          <p:cNvSpPr/>
          <p:nvPr/>
        </p:nvSpPr>
        <p:spPr>
          <a:xfrm>
            <a:off x="7258605" y="5500115"/>
            <a:ext cx="561219" cy="5370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15</a:t>
            </a:r>
            <a:endParaRPr lang="en-US" b="1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3D0955D-E1F4-43A9-2390-4EBAF54E7BE0}"/>
              </a:ext>
            </a:extLst>
          </p:cNvPr>
          <p:cNvSpPr/>
          <p:nvPr/>
        </p:nvSpPr>
        <p:spPr>
          <a:xfrm>
            <a:off x="7991654" y="5500115"/>
            <a:ext cx="561219" cy="5370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25</a:t>
            </a:r>
            <a:endParaRPr lang="en-US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F83D3F-2FC3-73F7-8281-807FE78E773C}"/>
              </a:ext>
            </a:extLst>
          </p:cNvPr>
          <p:cNvCxnSpPr>
            <a:cxnSpLocks/>
            <a:stCxn id="5" idx="0"/>
            <a:endCxn id="4" idx="4"/>
          </p:cNvCxnSpPr>
          <p:nvPr/>
        </p:nvCxnSpPr>
        <p:spPr>
          <a:xfrm flipV="1">
            <a:off x="6361944" y="3704115"/>
            <a:ext cx="773001" cy="52679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ECF501-C7DE-4B21-0125-99FFFF96E899}"/>
              </a:ext>
            </a:extLst>
          </p:cNvPr>
          <p:cNvCxnSpPr>
            <a:cxnSpLocks/>
            <a:stCxn id="6" idx="0"/>
            <a:endCxn id="4" idx="4"/>
          </p:cNvCxnSpPr>
          <p:nvPr/>
        </p:nvCxnSpPr>
        <p:spPr>
          <a:xfrm flipH="1" flipV="1">
            <a:off x="7134945" y="3704115"/>
            <a:ext cx="731172" cy="52679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D00043-CB40-60A2-267A-DB78AEE04FE7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 flipH="1">
            <a:off x="5937071" y="4767943"/>
            <a:ext cx="424873" cy="7257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A49F9F-EC9B-C66F-5832-34C03E9D9902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>
            <a:off x="6361944" y="4767943"/>
            <a:ext cx="332289" cy="73217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6314F5F-EBB7-64B1-CBB5-FDA856121664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>
          <a:xfrm flipH="1">
            <a:off x="7539215" y="4767943"/>
            <a:ext cx="326902" cy="73217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3DE49E9-FD16-1F1D-C764-9EA0E13C1B7B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7866117" y="4767943"/>
            <a:ext cx="425499" cy="73217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B39B1145-54CE-7440-40E9-D5CA303A4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589" y="2905079"/>
            <a:ext cx="4342948" cy="359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6269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6A5B43EE-0C34-54E7-2776-66C18A7D9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>
            <a:extLst>
              <a:ext uri="{FF2B5EF4-FFF2-40B4-BE49-F238E27FC236}">
                <a16:creationId xmlns:a16="http://schemas.microsoft.com/office/drawing/2014/main" id="{0C9B5F71-E118-CAFF-EA17-2FB9CF638E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/>
              <a:t>T</a:t>
            </a:r>
            <a:r>
              <a:rPr lang="en-US" sz="3200" dirty="0" err="1"/>
              <a:t>ree</a:t>
            </a:r>
            <a:r>
              <a:rPr lang="en-US" sz="3200" dirty="0"/>
              <a:t> Traversal</a:t>
            </a:r>
            <a:endParaRPr sz="3200" dirty="0"/>
          </a:p>
        </p:txBody>
      </p:sp>
      <p:sp>
        <p:nvSpPr>
          <p:cNvPr id="165" name="Google Shape;165;p21">
            <a:extLst>
              <a:ext uri="{FF2B5EF4-FFF2-40B4-BE49-F238E27FC236}">
                <a16:creationId xmlns:a16="http://schemas.microsoft.com/office/drawing/2014/main" id="{8C0966DB-561D-8B90-9EB8-9E811AA9FD1C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1">
            <a:extLst>
              <a:ext uri="{FF2B5EF4-FFF2-40B4-BE49-F238E27FC236}">
                <a16:creationId xmlns:a16="http://schemas.microsoft.com/office/drawing/2014/main" id="{DD83108E-3DC5-40EF-2A42-26D99CFC207C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>
            <a:extLst>
              <a:ext uri="{FF2B5EF4-FFF2-40B4-BE49-F238E27FC236}">
                <a16:creationId xmlns:a16="http://schemas.microsoft.com/office/drawing/2014/main" id="{B7CBEF4D-073C-EA95-336B-E6F4E7E088DE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>
            <a:extLst>
              <a:ext uri="{FF2B5EF4-FFF2-40B4-BE49-F238E27FC236}">
                <a16:creationId xmlns:a16="http://schemas.microsoft.com/office/drawing/2014/main" id="{ED39FB61-53B5-64B5-18F2-5AA1562C0FCA}"/>
              </a:ext>
            </a:extLst>
          </p:cNvPr>
          <p:cNvSpPr txBox="1"/>
          <p:nvPr/>
        </p:nvSpPr>
        <p:spPr>
          <a:xfrm>
            <a:off x="457200" y="1101856"/>
            <a:ext cx="8082116" cy="252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b="1" dirty="0" err="1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Inorder</a:t>
            </a:r>
            <a:r>
              <a:rPr lang="en-US" sz="2400" b="1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 Traversal:</a:t>
            </a: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200" dirty="0">
                <a:sym typeface="Calibri"/>
              </a:rPr>
              <a:t>his is another common traversal approach for </a:t>
            </a:r>
            <a:r>
              <a:rPr lang="en-US" sz="2200" b="1" dirty="0">
                <a:sym typeface="Calibri"/>
              </a:rPr>
              <a:t>binary trees</a:t>
            </a:r>
            <a:r>
              <a:rPr lang="en-US" sz="2200" dirty="0">
                <a:sym typeface="Calibri"/>
              </a:rPr>
              <a:t>. 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ym typeface="Calibri"/>
              </a:rPr>
              <a:t>It visits the </a:t>
            </a:r>
            <a:r>
              <a:rPr lang="en-US" sz="2200" b="1" dirty="0">
                <a:sym typeface="Calibri"/>
              </a:rPr>
              <a:t>left</a:t>
            </a:r>
            <a:r>
              <a:rPr lang="en-US" sz="2200" dirty="0">
                <a:sym typeface="Calibri"/>
              </a:rPr>
              <a:t> subtree first.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ym typeface="Calibri"/>
              </a:rPr>
              <a:t>Then, it visits the </a:t>
            </a:r>
            <a:r>
              <a:rPr lang="en-US" sz="2200" b="1" dirty="0">
                <a:sym typeface="Calibri"/>
              </a:rPr>
              <a:t>root</a:t>
            </a:r>
            <a:r>
              <a:rPr lang="en-US" sz="2200" dirty="0">
                <a:sym typeface="Calibri"/>
              </a:rPr>
              <a:t> node.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ym typeface="Calibri"/>
              </a:rPr>
              <a:t>Finally, it visits the </a:t>
            </a:r>
            <a:r>
              <a:rPr lang="en-US" sz="2200" b="1" dirty="0">
                <a:sym typeface="Calibri"/>
              </a:rPr>
              <a:t>right</a:t>
            </a:r>
            <a:r>
              <a:rPr lang="en-US" sz="2200" dirty="0">
                <a:sym typeface="Calibri"/>
              </a:rPr>
              <a:t> subtree.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200" dirty="0"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Pseudo-code for </a:t>
            </a:r>
            <a:r>
              <a:rPr lang="en-US" sz="2400" dirty="0" err="1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inorder</a:t>
            </a: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 traversal:</a:t>
            </a:r>
          </a:p>
        </p:txBody>
      </p:sp>
      <p:sp>
        <p:nvSpPr>
          <p:cNvPr id="170" name="Google Shape;170;p21">
            <a:extLst>
              <a:ext uri="{FF2B5EF4-FFF2-40B4-BE49-F238E27FC236}">
                <a16:creationId xmlns:a16="http://schemas.microsoft.com/office/drawing/2014/main" id="{7CBFA9DD-3876-5CD5-D183-B040D39A7170}"/>
              </a:ext>
            </a:extLst>
          </p:cNvPr>
          <p:cNvSpPr/>
          <p:nvPr/>
        </p:nvSpPr>
        <p:spPr>
          <a:xfrm>
            <a:off x="1081548" y="3711098"/>
            <a:ext cx="7256474" cy="2241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5375" rIns="91425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3200" b="1"/>
              <a:t>Inorder traversal always gives sorted order</a:t>
            </a:r>
            <a:r>
              <a:rPr lang="en-US" sz="3200"/>
              <a:t> in a Binary Search Tree (BST).</a:t>
            </a:r>
            <a:endParaRPr sz="2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871F83-542D-B0EB-5267-FAAF23F72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05" y="3655340"/>
            <a:ext cx="7817911" cy="19071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8DE66C-A9BD-B473-8BDE-E8F54DCE56CF}"/>
              </a:ext>
            </a:extLst>
          </p:cNvPr>
          <p:cNvSpPr txBox="1"/>
          <p:nvPr/>
        </p:nvSpPr>
        <p:spPr>
          <a:xfrm>
            <a:off x="663044" y="6023847"/>
            <a:ext cx="7817911" cy="33855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Note: </a:t>
            </a:r>
            <a:r>
              <a:rPr lang="en-US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Inorder</a:t>
            </a: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traversal always gives sorted order in a Binary Search Tree (BST).</a:t>
            </a:r>
          </a:p>
        </p:txBody>
      </p:sp>
    </p:spTree>
    <p:extLst>
      <p:ext uri="{BB962C8B-B14F-4D97-AF65-F5344CB8AC3E}">
        <p14:creationId xmlns:p14="http://schemas.microsoft.com/office/powerpoint/2010/main" val="15213921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CE913C43-C615-1DEC-6509-98DB84617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>
            <a:extLst>
              <a:ext uri="{FF2B5EF4-FFF2-40B4-BE49-F238E27FC236}">
                <a16:creationId xmlns:a16="http://schemas.microsoft.com/office/drawing/2014/main" id="{2DE3D54F-84E0-9845-E697-33461E10BF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/>
              <a:t>T</a:t>
            </a:r>
            <a:r>
              <a:rPr lang="en-US" sz="3200" dirty="0" err="1"/>
              <a:t>ree</a:t>
            </a:r>
            <a:r>
              <a:rPr lang="en-US" sz="3200" dirty="0"/>
              <a:t> Traversal</a:t>
            </a:r>
            <a:endParaRPr sz="3200" dirty="0"/>
          </a:p>
        </p:txBody>
      </p:sp>
      <p:sp>
        <p:nvSpPr>
          <p:cNvPr id="165" name="Google Shape;165;p21">
            <a:extLst>
              <a:ext uri="{FF2B5EF4-FFF2-40B4-BE49-F238E27FC236}">
                <a16:creationId xmlns:a16="http://schemas.microsoft.com/office/drawing/2014/main" id="{C9B7B1CD-041C-42C1-B19D-C06BEB39260A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1">
            <a:extLst>
              <a:ext uri="{FF2B5EF4-FFF2-40B4-BE49-F238E27FC236}">
                <a16:creationId xmlns:a16="http://schemas.microsoft.com/office/drawing/2014/main" id="{98548ED9-9BE8-DC38-3BFF-7A9296B9DDDD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>
            <a:extLst>
              <a:ext uri="{FF2B5EF4-FFF2-40B4-BE49-F238E27FC236}">
                <a16:creationId xmlns:a16="http://schemas.microsoft.com/office/drawing/2014/main" id="{DCE7394E-CBF8-7EE3-6746-C605E04A09A7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>
            <a:extLst>
              <a:ext uri="{FF2B5EF4-FFF2-40B4-BE49-F238E27FC236}">
                <a16:creationId xmlns:a16="http://schemas.microsoft.com/office/drawing/2014/main" id="{A3FB0891-9981-37CA-CC34-3CC5BAC9E16A}"/>
              </a:ext>
            </a:extLst>
          </p:cNvPr>
          <p:cNvSpPr txBox="1"/>
          <p:nvPr/>
        </p:nvSpPr>
        <p:spPr>
          <a:xfrm>
            <a:off x="457200" y="1101856"/>
            <a:ext cx="8082116" cy="350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200" dirty="0"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200" dirty="0"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200" dirty="0"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200" dirty="0"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200" dirty="0"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200" dirty="0"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200" dirty="0"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200" dirty="0"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200" dirty="0"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Pseudo-code for </a:t>
            </a:r>
            <a:r>
              <a:rPr lang="en-US" sz="2400" dirty="0" err="1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inorder</a:t>
            </a: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 traversal:</a:t>
            </a:r>
          </a:p>
        </p:txBody>
      </p:sp>
      <p:sp>
        <p:nvSpPr>
          <p:cNvPr id="170" name="Google Shape;170;p21">
            <a:extLst>
              <a:ext uri="{FF2B5EF4-FFF2-40B4-BE49-F238E27FC236}">
                <a16:creationId xmlns:a16="http://schemas.microsoft.com/office/drawing/2014/main" id="{5C80770A-F8EF-DB0A-49A2-B83F379740A4}"/>
              </a:ext>
            </a:extLst>
          </p:cNvPr>
          <p:cNvSpPr/>
          <p:nvPr/>
        </p:nvSpPr>
        <p:spPr>
          <a:xfrm>
            <a:off x="1081548" y="3711098"/>
            <a:ext cx="7256474" cy="2241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5375" rIns="91425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A96224-1992-D4C7-BA90-D3584EA6B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519" y="781328"/>
            <a:ext cx="5928961" cy="3085243"/>
          </a:xfrm>
          <a:prstGeom prst="rect">
            <a:avLst/>
          </a:prstGeom>
        </p:spPr>
      </p:pic>
      <p:sp>
        <p:nvSpPr>
          <p:cNvPr id="171" name="Rounded Rectangle 170"/>
          <p:cNvSpPr/>
          <p:nvPr/>
        </p:nvSpPr>
        <p:spPr>
          <a:xfrm>
            <a:off x="640705" y="4610468"/>
            <a:ext cx="8138160" cy="1790266"/>
          </a:xfrm>
          <a:prstGeom prst="roundRect">
            <a:avLst/>
          </a:prstGeom>
          <a:solidFill>
            <a:srgbClr val="181A22"/>
          </a:solidFill>
          <a:ln w="12700">
            <a:solidFill>
              <a:srgbClr val="41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defRPr sz="1000">
                <a:solidFill>
                  <a:srgbClr val="6EA06E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Inorder</a:t>
            </a:r>
            <a:r>
              <a:rPr dirty="0"/>
              <a:t> Traversal: Left Subtree -&gt; Root -&gt; Right Subtree</a:t>
            </a:r>
          </a:p>
          <a:p>
            <a:pPr>
              <a:defRPr sz="1000">
                <a:solidFill>
                  <a:srgbClr val="E68C5A"/>
                </a:solidFill>
                <a:latin typeface="Consolas"/>
              </a:defRPr>
            </a:pPr>
            <a:r>
              <a:rPr dirty="0"/>
              <a:t>def </a:t>
            </a:r>
            <a:r>
              <a:rPr dirty="0" err="1"/>
              <a:t>inorder_traversal</a:t>
            </a:r>
            <a:r>
              <a:rPr dirty="0"/>
              <a:t>(self, node, result):</a:t>
            </a:r>
          </a:p>
          <a:p>
            <a:pPr>
              <a:defRPr sz="1000">
                <a:solidFill>
                  <a:srgbClr val="E6EBF5"/>
                </a:solidFill>
                <a:latin typeface="Consolas"/>
              </a:defRPr>
            </a:pPr>
            <a:r>
              <a:rPr dirty="0"/>
              <a:t>    if node:</a:t>
            </a:r>
          </a:p>
          <a:p>
            <a:pPr>
              <a:defRPr sz="1000">
                <a:solidFill>
                  <a:srgbClr val="E6EBF5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self.inorder_traversal</a:t>
            </a:r>
            <a:r>
              <a:rPr dirty="0"/>
              <a:t>(</a:t>
            </a:r>
            <a:r>
              <a:rPr dirty="0" err="1"/>
              <a:t>node.left</a:t>
            </a:r>
            <a:r>
              <a:rPr dirty="0"/>
              <a:t>, result)    # 1. Traverse Left</a:t>
            </a:r>
          </a:p>
          <a:p>
            <a:pPr>
              <a:defRPr sz="1000">
                <a:solidFill>
                  <a:srgbClr val="E6EBF5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result.append</a:t>
            </a:r>
            <a:r>
              <a:rPr dirty="0"/>
              <a:t>(</a:t>
            </a:r>
            <a:r>
              <a:rPr dirty="0" err="1"/>
              <a:t>node.value</a:t>
            </a:r>
            <a:r>
              <a:rPr dirty="0"/>
              <a:t>)                   # 2. Visit Root</a:t>
            </a:r>
          </a:p>
          <a:p>
            <a:pPr>
              <a:defRPr sz="1000">
                <a:solidFill>
                  <a:srgbClr val="E6EBF5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self.inorder_traversal</a:t>
            </a:r>
            <a:r>
              <a:rPr dirty="0"/>
              <a:t>(</a:t>
            </a:r>
            <a:r>
              <a:rPr dirty="0" err="1"/>
              <a:t>node.right</a:t>
            </a:r>
            <a:r>
              <a:rPr dirty="0"/>
              <a:t>, result)   # 3. Traverse 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60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/>
              <a:t>T</a:t>
            </a:r>
            <a:r>
              <a:rPr lang="en-US" sz="3200" dirty="0" err="1"/>
              <a:t>ree</a:t>
            </a:r>
            <a:r>
              <a:rPr lang="en-US" sz="3200" dirty="0"/>
              <a:t> Traversal</a:t>
            </a:r>
            <a:endParaRPr sz="3200" dirty="0"/>
          </a:p>
        </p:txBody>
      </p:sp>
      <p:sp>
        <p:nvSpPr>
          <p:cNvPr id="177" name="Google Shape;177;p22"/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2"/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2"/>
          <p:cNvSpPr txBox="1"/>
          <p:nvPr/>
        </p:nvSpPr>
        <p:spPr>
          <a:xfrm>
            <a:off x="785600" y="1197275"/>
            <a:ext cx="747240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Task2</a:t>
            </a:r>
            <a:r>
              <a:rPr lang="en-US" sz="2400" b="1" i="0" u="none" strike="noStrike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400" b="1" i="0" u="none" strike="noStrik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add to our class the following methods:</a:t>
            </a:r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Calibri"/>
              <a:buChar char="•"/>
            </a:pP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Calibri"/>
                <a:cs typeface="Biome Light" panose="020B0303030204020804" pitchFamily="34" charset="0"/>
                <a:sym typeface="Calibri"/>
              </a:rPr>
              <a:t>p</a:t>
            </a:r>
            <a:r>
              <a:rPr lang="en-US" sz="2400" i="0" u="none" strike="noStrike" cap="none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Calibri"/>
                <a:cs typeface="Biome Light" panose="020B0303030204020804" pitchFamily="34" charset="0"/>
                <a:sym typeface="Calibri"/>
              </a:rPr>
              <a:t>reorder_traversal</a:t>
            </a:r>
            <a:r>
              <a:rPr lang="en-US" sz="2400" i="0" u="none" strike="noStrike" cap="none" dirty="0">
                <a:solidFill>
                  <a:schemeClr val="accent1">
                    <a:lumMod val="75000"/>
                  </a:schemeClr>
                </a:solidFill>
                <a:latin typeface="+mj-lt"/>
                <a:ea typeface="Calibri"/>
                <a:cs typeface="Biome Light" panose="020B0303030204020804" pitchFamily="34" charset="0"/>
                <a:sym typeface="Calibri"/>
              </a:rPr>
              <a:t>(</a:t>
            </a:r>
            <a:r>
              <a:rPr lang="en-US" sz="24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+mj-lt"/>
                <a:ea typeface="Calibri"/>
                <a:cs typeface="Biome Light" panose="020B0303030204020804" pitchFamily="34" charset="0"/>
                <a:sym typeface="Calibri"/>
              </a:rPr>
              <a:t>self</a:t>
            </a:r>
            <a:r>
              <a:rPr lang="en-US" sz="2400" i="0" u="none" strike="noStrike" cap="none" dirty="0">
                <a:solidFill>
                  <a:schemeClr val="accent1">
                    <a:lumMod val="75000"/>
                  </a:schemeClr>
                </a:solidFill>
                <a:latin typeface="+mj-lt"/>
                <a:ea typeface="Calibri"/>
                <a:cs typeface="Biome Light" panose="020B0303030204020804" pitchFamily="34" charset="0"/>
                <a:sym typeface="Calibri"/>
              </a:rPr>
              <a:t>, </a:t>
            </a:r>
            <a:r>
              <a:rPr lang="en-US" sz="2400" i="0" u="none" strike="noStrike" cap="none" dirty="0">
                <a:solidFill>
                  <a:schemeClr val="accent6">
                    <a:lumMod val="75000"/>
                  </a:schemeClr>
                </a:solidFill>
                <a:latin typeface="+mj-lt"/>
                <a:ea typeface="Calibri"/>
                <a:cs typeface="Biome Light" panose="020B0303030204020804" pitchFamily="34" charset="0"/>
                <a:sym typeface="Calibri"/>
              </a:rPr>
              <a:t>node</a:t>
            </a:r>
            <a:r>
              <a:rPr lang="en-US" sz="2400" i="0" u="none" strike="noStrike" cap="none" dirty="0">
                <a:solidFill>
                  <a:schemeClr val="accent1">
                    <a:lumMod val="75000"/>
                  </a:schemeClr>
                </a:solidFill>
                <a:latin typeface="+mj-lt"/>
                <a:ea typeface="Calibri"/>
                <a:cs typeface="Biome Light" panose="020B0303030204020804" pitchFamily="34" charset="0"/>
                <a:sym typeface="Calibri"/>
              </a:rPr>
              <a:t>, result)</a:t>
            </a:r>
          </a:p>
          <a:p>
            <a:pPr marL="800100" lvl="1" indent="-342900">
              <a:buClr>
                <a:srgbClr val="404040"/>
              </a:buClr>
              <a:buSzPts val="2400"/>
              <a:buFont typeface="Calibri"/>
              <a:buChar char="•"/>
            </a:pP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Calibri"/>
                <a:cs typeface="Biome Light" panose="020B0303030204020804" pitchFamily="34" charset="0"/>
                <a:sym typeface="Calibri"/>
              </a:rPr>
              <a:t>postorder_traversal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j-lt"/>
                <a:ea typeface="Calibri"/>
                <a:cs typeface="Biome Light" panose="020B0303030204020804" pitchFamily="34" charset="0"/>
                <a:sym typeface="Calibri"/>
              </a:rPr>
              <a:t>(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+mj-lt"/>
                <a:ea typeface="Calibri"/>
                <a:cs typeface="Biome Light" panose="020B0303030204020804" pitchFamily="34" charset="0"/>
                <a:sym typeface="Calibri"/>
              </a:rPr>
              <a:t>self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j-lt"/>
                <a:ea typeface="Calibri"/>
                <a:cs typeface="Biome Light" panose="020B0303030204020804" pitchFamily="34" charset="0"/>
                <a:sym typeface="Calibri"/>
              </a:rPr>
              <a:t>,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  <a:ea typeface="Calibri"/>
                <a:cs typeface="Biome Light" panose="020B0303030204020804" pitchFamily="34" charset="0"/>
                <a:sym typeface="Calibri"/>
              </a:rPr>
              <a:t>node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j-lt"/>
                <a:ea typeface="Calibri"/>
                <a:cs typeface="Biome Light" panose="020B0303030204020804" pitchFamily="34" charset="0"/>
                <a:sym typeface="Calibri"/>
              </a:rPr>
              <a:t>, result)</a:t>
            </a:r>
          </a:p>
          <a:p>
            <a:pPr marL="800100" lvl="1" indent="-342900">
              <a:buClr>
                <a:srgbClr val="404040"/>
              </a:buClr>
              <a:buSzPts val="2400"/>
              <a:buFont typeface="Calibri"/>
              <a:buChar char="•"/>
            </a:pP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Calibri"/>
                <a:cs typeface="Biome Light" panose="020B0303030204020804" pitchFamily="34" charset="0"/>
                <a:sym typeface="Calibri"/>
              </a:rPr>
              <a:t>inorder_traversal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j-lt"/>
                <a:ea typeface="Calibri"/>
                <a:cs typeface="Biome Light" panose="020B0303030204020804" pitchFamily="34" charset="0"/>
                <a:sym typeface="Calibri"/>
              </a:rPr>
              <a:t>(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+mj-lt"/>
                <a:ea typeface="Calibri"/>
                <a:cs typeface="Biome Light" panose="020B0303030204020804" pitchFamily="34" charset="0"/>
                <a:sym typeface="Calibri"/>
              </a:rPr>
              <a:t>self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j-lt"/>
                <a:ea typeface="Calibri"/>
                <a:cs typeface="Biome Light" panose="020B0303030204020804" pitchFamily="34" charset="0"/>
                <a:sym typeface="Calibri"/>
              </a:rPr>
              <a:t>,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  <a:ea typeface="Calibri"/>
                <a:cs typeface="Biome Light" panose="020B0303030204020804" pitchFamily="34" charset="0"/>
                <a:sym typeface="Calibri"/>
              </a:rPr>
              <a:t>node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j-lt"/>
                <a:ea typeface="Calibri"/>
                <a:cs typeface="Biome Light" panose="020B0303030204020804" pitchFamily="34" charset="0"/>
                <a:sym typeface="Calibri"/>
              </a:rPr>
              <a:t>, result)</a:t>
            </a:r>
          </a:p>
          <a:p>
            <a:pPr marL="800100" lvl="1" indent="-342900">
              <a:buClr>
                <a:srgbClr val="404040"/>
              </a:buClr>
              <a:buSzPts val="2400"/>
              <a:buFont typeface="Calibri"/>
              <a:buChar char="•"/>
            </a:pP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+mj-lt"/>
                <a:ea typeface="Calibri"/>
                <a:cs typeface="Biome Light" panose="020B0303030204020804" pitchFamily="34" charset="0"/>
                <a:sym typeface="Calibri"/>
              </a:rPr>
              <a:t>breadth_first_traversal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j-lt"/>
                <a:ea typeface="Calibri"/>
                <a:cs typeface="Biome Light" panose="020B0303030204020804" pitchFamily="34" charset="0"/>
                <a:sym typeface="Calibri"/>
              </a:rPr>
              <a:t>(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+mj-lt"/>
                <a:ea typeface="Calibri"/>
                <a:cs typeface="Biome Light" panose="020B0303030204020804" pitchFamily="34" charset="0"/>
                <a:sym typeface="Calibri"/>
              </a:rPr>
              <a:t>self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j-lt"/>
                <a:ea typeface="Calibri"/>
                <a:cs typeface="Biome Light" panose="020B0303030204020804" pitchFamily="34" charset="0"/>
                <a:sym typeface="Calibri"/>
              </a:rPr>
              <a:t>, result),</a:t>
            </a:r>
          </a:p>
          <a:p>
            <a:pPr marL="457200" marR="0" lvl="1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400"/>
            </a:pPr>
            <a:endParaRPr lang="en-US" sz="2400" b="1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400"/>
            </a:pPr>
            <a:endParaRPr lang="en-US" sz="2400" b="1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400"/>
            </a:pPr>
            <a:endParaRPr lang="en-US" sz="2400" b="1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400"/>
            </a:pPr>
            <a:endParaRPr lang="en-US" sz="2400" b="1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400"/>
            </a:pPr>
            <a:endParaRPr lang="en-US" sz="2400" b="1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This figure illustrates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preorder </a:t>
            </a:r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     traversal </a:t>
            </a:r>
            <a:r>
              <a:rPr lang="en-US" sz="24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on the tree.</a:t>
            </a:r>
          </a:p>
          <a:p>
            <a:endParaRPr lang="en-US" sz="2400" b="1" i="0" u="none" strike="noStrike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Solution as demo!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20ED6BF-E1C1-EACD-4B93-05029BAC679A}"/>
              </a:ext>
            </a:extLst>
          </p:cNvPr>
          <p:cNvSpPr/>
          <p:nvPr/>
        </p:nvSpPr>
        <p:spPr>
          <a:xfrm>
            <a:off x="6965609" y="3419302"/>
            <a:ext cx="561219" cy="5370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10</a:t>
            </a:r>
            <a:endParaRPr lang="en-US" b="1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EB97714-F5BD-29CD-0985-AA7165B0B26C}"/>
              </a:ext>
            </a:extLst>
          </p:cNvPr>
          <p:cNvSpPr/>
          <p:nvPr/>
        </p:nvSpPr>
        <p:spPr>
          <a:xfrm>
            <a:off x="6192608" y="4483130"/>
            <a:ext cx="561219" cy="5370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5</a:t>
            </a:r>
            <a:endParaRPr lang="en-US" b="1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0343408-7B18-1CE2-BCC9-5413F93A3299}"/>
              </a:ext>
            </a:extLst>
          </p:cNvPr>
          <p:cNvSpPr/>
          <p:nvPr/>
        </p:nvSpPr>
        <p:spPr>
          <a:xfrm>
            <a:off x="7696781" y="4483130"/>
            <a:ext cx="561219" cy="5370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20</a:t>
            </a:r>
            <a:endParaRPr lang="en-US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3933709-6F3A-95FB-B8FA-4A99C6433AE5}"/>
              </a:ext>
            </a:extLst>
          </p:cNvPr>
          <p:cNvSpPr/>
          <p:nvPr/>
        </p:nvSpPr>
        <p:spPr>
          <a:xfrm>
            <a:off x="5767735" y="5745870"/>
            <a:ext cx="561219" cy="5370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3</a:t>
            </a:r>
            <a:endParaRPr lang="en-US" b="1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53FA28A-ABF0-33AB-F33A-26A15212D702}"/>
              </a:ext>
            </a:extLst>
          </p:cNvPr>
          <p:cNvSpPr/>
          <p:nvPr/>
        </p:nvSpPr>
        <p:spPr>
          <a:xfrm>
            <a:off x="6524897" y="5752331"/>
            <a:ext cx="561219" cy="5370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7</a:t>
            </a:r>
            <a:endParaRPr lang="en-US" b="1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64EED3B-A6D0-0EDC-2427-BCCB6E16D89A}"/>
              </a:ext>
            </a:extLst>
          </p:cNvPr>
          <p:cNvSpPr/>
          <p:nvPr/>
        </p:nvSpPr>
        <p:spPr>
          <a:xfrm>
            <a:off x="7369879" y="5752331"/>
            <a:ext cx="561219" cy="5370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15</a:t>
            </a:r>
            <a:endParaRPr lang="en-US" b="1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2F62ABF-345B-7B41-A78A-77188C6BD3EF}"/>
              </a:ext>
            </a:extLst>
          </p:cNvPr>
          <p:cNvCxnSpPr>
            <a:cxnSpLocks/>
            <a:stCxn id="8" idx="0"/>
            <a:endCxn id="7" idx="4"/>
          </p:cNvCxnSpPr>
          <p:nvPr/>
        </p:nvCxnSpPr>
        <p:spPr>
          <a:xfrm flipV="1">
            <a:off x="6473218" y="3956331"/>
            <a:ext cx="773001" cy="52679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1F78C5F-0615-2C1A-94B8-4D55DC2DF380}"/>
              </a:ext>
            </a:extLst>
          </p:cNvPr>
          <p:cNvCxnSpPr>
            <a:cxnSpLocks/>
            <a:stCxn id="9" idx="0"/>
            <a:endCxn id="7" idx="4"/>
          </p:cNvCxnSpPr>
          <p:nvPr/>
        </p:nvCxnSpPr>
        <p:spPr>
          <a:xfrm flipH="1" flipV="1">
            <a:off x="7246219" y="3956331"/>
            <a:ext cx="731172" cy="52679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D77DC5B-1BF9-76E5-E035-0F752B376BE5}"/>
              </a:ext>
            </a:extLst>
          </p:cNvPr>
          <p:cNvCxnSpPr>
            <a:cxnSpLocks/>
            <a:stCxn id="8" idx="4"/>
            <a:endCxn id="3" idx="0"/>
          </p:cNvCxnSpPr>
          <p:nvPr/>
        </p:nvCxnSpPr>
        <p:spPr>
          <a:xfrm flipH="1">
            <a:off x="6048345" y="5020159"/>
            <a:ext cx="424873" cy="7257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BD54109-6975-7C12-3A87-9DA9679CF059}"/>
              </a:ext>
            </a:extLst>
          </p:cNvPr>
          <p:cNvCxnSpPr>
            <a:cxnSpLocks/>
            <a:stCxn id="8" idx="4"/>
            <a:endCxn id="11" idx="0"/>
          </p:cNvCxnSpPr>
          <p:nvPr/>
        </p:nvCxnSpPr>
        <p:spPr>
          <a:xfrm>
            <a:off x="6473218" y="5020159"/>
            <a:ext cx="332289" cy="73217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9F588FC-F8A7-04BB-0228-C4FEE3732445}"/>
              </a:ext>
            </a:extLst>
          </p:cNvPr>
          <p:cNvCxnSpPr>
            <a:cxnSpLocks/>
            <a:stCxn id="9" idx="4"/>
            <a:endCxn id="12" idx="0"/>
          </p:cNvCxnSpPr>
          <p:nvPr/>
        </p:nvCxnSpPr>
        <p:spPr>
          <a:xfrm flipH="1">
            <a:off x="7650489" y="5020159"/>
            <a:ext cx="326902" cy="73217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4ED5763-7961-A993-BDFF-7D256677FEBC}"/>
              </a:ext>
            </a:extLst>
          </p:cNvPr>
          <p:cNvCxnSpPr>
            <a:cxnSpLocks/>
            <a:stCxn id="9" idx="4"/>
          </p:cNvCxnSpPr>
          <p:nvPr/>
        </p:nvCxnSpPr>
        <p:spPr>
          <a:xfrm>
            <a:off x="7977391" y="5020159"/>
            <a:ext cx="425499" cy="73217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832348BA-6CE3-0E54-95B7-5176EE5B788F}"/>
              </a:ext>
            </a:extLst>
          </p:cNvPr>
          <p:cNvSpPr/>
          <p:nvPr/>
        </p:nvSpPr>
        <p:spPr>
          <a:xfrm>
            <a:off x="8102928" y="5752331"/>
            <a:ext cx="561219" cy="5370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25</a:t>
            </a:r>
            <a:endParaRPr lang="en-US" b="1" dirty="0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C5325C11-B6CE-8F19-9A78-4DB2735B0B30}"/>
              </a:ext>
            </a:extLst>
          </p:cNvPr>
          <p:cNvSpPr/>
          <p:nvPr/>
        </p:nvSpPr>
        <p:spPr>
          <a:xfrm rot="15805529">
            <a:off x="6423891" y="3337029"/>
            <a:ext cx="1061002" cy="1616889"/>
          </a:xfrm>
          <a:prstGeom prst="arc">
            <a:avLst>
              <a:gd name="adj1" fmla="val 15456679"/>
              <a:gd name="adj2" fmla="val 0"/>
            </a:avLst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6E03C962-3DAB-1A5E-4A66-376720DFC4D7}"/>
              </a:ext>
            </a:extLst>
          </p:cNvPr>
          <p:cNvSpPr/>
          <p:nvPr/>
        </p:nvSpPr>
        <p:spPr>
          <a:xfrm rot="14356340">
            <a:off x="5846476" y="4248152"/>
            <a:ext cx="1061002" cy="1810765"/>
          </a:xfrm>
          <a:prstGeom prst="arc">
            <a:avLst>
              <a:gd name="adj1" fmla="val 15456679"/>
              <a:gd name="adj2" fmla="val 0"/>
            </a:avLst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D9BCC1C8-2850-7540-01F3-A60A9D705A8E}"/>
              </a:ext>
            </a:extLst>
          </p:cNvPr>
          <p:cNvSpPr/>
          <p:nvPr/>
        </p:nvSpPr>
        <p:spPr>
          <a:xfrm rot="8788039">
            <a:off x="5968965" y="5689663"/>
            <a:ext cx="1061002" cy="820403"/>
          </a:xfrm>
          <a:prstGeom prst="arc">
            <a:avLst>
              <a:gd name="adj1" fmla="val 15456679"/>
              <a:gd name="adj2" fmla="val 0"/>
            </a:avLst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FEE2B03B-7198-DCCD-3B03-1B20B5A16F6D}"/>
              </a:ext>
            </a:extLst>
          </p:cNvPr>
          <p:cNvSpPr/>
          <p:nvPr/>
        </p:nvSpPr>
        <p:spPr>
          <a:xfrm rot="20351494" flipH="1">
            <a:off x="6877782" y="4788181"/>
            <a:ext cx="1628209" cy="1164887"/>
          </a:xfrm>
          <a:prstGeom prst="arc">
            <a:avLst>
              <a:gd name="adj1" fmla="val 15456679"/>
              <a:gd name="adj2" fmla="val 0"/>
            </a:avLst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Arc 127">
            <a:extLst>
              <a:ext uri="{FF2B5EF4-FFF2-40B4-BE49-F238E27FC236}">
                <a16:creationId xmlns:a16="http://schemas.microsoft.com/office/drawing/2014/main" id="{387D0574-50E8-5C64-4D47-1B6F38029FD5}"/>
              </a:ext>
            </a:extLst>
          </p:cNvPr>
          <p:cNvSpPr/>
          <p:nvPr/>
        </p:nvSpPr>
        <p:spPr>
          <a:xfrm rot="14356340">
            <a:off x="7367084" y="4956918"/>
            <a:ext cx="1053108" cy="923384"/>
          </a:xfrm>
          <a:prstGeom prst="arc">
            <a:avLst>
              <a:gd name="adj1" fmla="val 15456679"/>
              <a:gd name="adj2" fmla="val 0"/>
            </a:avLst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Arc 129">
            <a:extLst>
              <a:ext uri="{FF2B5EF4-FFF2-40B4-BE49-F238E27FC236}">
                <a16:creationId xmlns:a16="http://schemas.microsoft.com/office/drawing/2014/main" id="{45ABD90A-4460-AAFF-DAB5-89134EEA7C1E}"/>
              </a:ext>
            </a:extLst>
          </p:cNvPr>
          <p:cNvSpPr/>
          <p:nvPr/>
        </p:nvSpPr>
        <p:spPr>
          <a:xfrm rot="8788039">
            <a:off x="7581321" y="5658350"/>
            <a:ext cx="1061002" cy="820403"/>
          </a:xfrm>
          <a:prstGeom prst="arc">
            <a:avLst>
              <a:gd name="adj1" fmla="val 15456679"/>
              <a:gd name="adj2" fmla="val 0"/>
            </a:avLst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43E462-BAA5-43D2-C0D7-CF8AED9C2BD8}"/>
              </a:ext>
            </a:extLst>
          </p:cNvPr>
          <p:cNvSpPr txBox="1"/>
          <p:nvPr/>
        </p:nvSpPr>
        <p:spPr>
          <a:xfrm>
            <a:off x="1346991" y="3286511"/>
            <a:ext cx="460245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400" i="0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here each traverses the tree built in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Task1</a:t>
            </a:r>
            <a:r>
              <a:rPr lang="en-US" sz="2400" i="0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using the corresponding traversal method and append each node value to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j-lt"/>
                <a:ea typeface="Calibri"/>
                <a:cs typeface="Biome Light" panose="020B0303030204020804" pitchFamily="34" charset="0"/>
                <a:sym typeface="Calibri"/>
              </a:rPr>
              <a:t>result = [].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0555926A-67F4-35C5-5492-090B78050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>
            <a:extLst>
              <a:ext uri="{FF2B5EF4-FFF2-40B4-BE49-F238E27FC236}">
                <a16:creationId xmlns:a16="http://schemas.microsoft.com/office/drawing/2014/main" id="{BC3E1873-0639-40D1-5542-2577952932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/>
              <a:t>T</a:t>
            </a:r>
            <a:r>
              <a:rPr lang="en-US" sz="3200" dirty="0" err="1"/>
              <a:t>ree</a:t>
            </a:r>
            <a:r>
              <a:rPr lang="en-US" sz="3200" dirty="0"/>
              <a:t> Traversal</a:t>
            </a:r>
            <a:endParaRPr sz="3200" dirty="0"/>
          </a:p>
        </p:txBody>
      </p:sp>
      <p:sp>
        <p:nvSpPr>
          <p:cNvPr id="177" name="Google Shape;177;p22">
            <a:extLst>
              <a:ext uri="{FF2B5EF4-FFF2-40B4-BE49-F238E27FC236}">
                <a16:creationId xmlns:a16="http://schemas.microsoft.com/office/drawing/2014/main" id="{6C436083-295E-3715-471B-7DFDCEF3DD59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2">
            <a:extLst>
              <a:ext uri="{FF2B5EF4-FFF2-40B4-BE49-F238E27FC236}">
                <a16:creationId xmlns:a16="http://schemas.microsoft.com/office/drawing/2014/main" id="{8683FAA0-1E7F-9013-43F0-EB004E45A825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2">
            <a:extLst>
              <a:ext uri="{FF2B5EF4-FFF2-40B4-BE49-F238E27FC236}">
                <a16:creationId xmlns:a16="http://schemas.microsoft.com/office/drawing/2014/main" id="{B0BE2D0E-E02C-6927-07B9-EDC54C616FC5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2">
            <a:extLst>
              <a:ext uri="{FF2B5EF4-FFF2-40B4-BE49-F238E27FC236}">
                <a16:creationId xmlns:a16="http://schemas.microsoft.com/office/drawing/2014/main" id="{C537D94A-948A-2E27-EAB0-1C95AB40A9B7}"/>
              </a:ext>
            </a:extLst>
          </p:cNvPr>
          <p:cNvSpPr txBox="1"/>
          <p:nvPr/>
        </p:nvSpPr>
        <p:spPr>
          <a:xfrm>
            <a:off x="835800" y="1210796"/>
            <a:ext cx="747240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 dirty="0"/>
              <a:t>Review the Traversal Methods</a:t>
            </a:r>
          </a:p>
          <a:p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Preorder (Root → Left → Right)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Visit root first, then left subtree, then right subtree.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 err="1"/>
              <a:t>Inorder</a:t>
            </a:r>
            <a:r>
              <a:rPr lang="en-US" sz="2400" b="1" dirty="0"/>
              <a:t> (Left → Root → Right)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Visit left subtree first, then root, then right subtree.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 err="1"/>
              <a:t>Postorder</a:t>
            </a:r>
            <a:r>
              <a:rPr lang="en-US" sz="2400" b="1" dirty="0"/>
              <a:t> (Left → Right → Root)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Visit left subtree first, then right subtree, then root.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Breadth-First (Level Order)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Visit nodes level by level from top to bottom.</a:t>
            </a:r>
          </a:p>
        </p:txBody>
      </p:sp>
    </p:spTree>
    <p:extLst>
      <p:ext uri="{BB962C8B-B14F-4D97-AF65-F5344CB8AC3E}">
        <p14:creationId xmlns:p14="http://schemas.microsoft.com/office/powerpoint/2010/main" val="18677213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8A518-8C8D-61A8-8DE9-C025EA473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1E13F-0D6C-0553-8E7C-DFCB0436B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14714"/>
            <a:ext cx="8229600" cy="1143000"/>
          </a:xfrm>
        </p:spPr>
        <p:txBody>
          <a:bodyPr/>
          <a:lstStyle/>
          <a:p>
            <a:r>
              <a:rPr lang="fr-FR" dirty="0" err="1"/>
              <a:t>Heap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0765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 err="1"/>
              <a:t>Heap</a:t>
            </a:r>
            <a:endParaRPr sz="3200" dirty="0"/>
          </a:p>
        </p:txBody>
      </p:sp>
      <p:sp>
        <p:nvSpPr>
          <p:cNvPr id="189" name="Google Shape;189;p23"/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/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ED4390-BED4-7B2C-9B1A-814E18A98720}"/>
              </a:ext>
            </a:extLst>
          </p:cNvPr>
          <p:cNvSpPr txBox="1"/>
          <p:nvPr/>
        </p:nvSpPr>
        <p:spPr>
          <a:xfrm>
            <a:off x="722671" y="970969"/>
            <a:ext cx="776756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Clr>
                <a:srgbClr val="404040"/>
              </a:buClr>
              <a:buSzPts val="2400"/>
              <a:buFont typeface="Calibri"/>
              <a:buChar char="•"/>
            </a:pPr>
            <a:r>
              <a:rPr lang="fr-FR" sz="24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fr-FR" sz="2400" b="1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Heap</a:t>
            </a:r>
            <a:r>
              <a:rPr lang="fr-FR" sz="2400" b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fr-FR" sz="24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fr-FR" sz="24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binary</a:t>
            </a:r>
            <a:r>
              <a:rPr lang="fr-FR" sz="24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tree</a:t>
            </a:r>
            <a:r>
              <a:rPr lang="fr-FR" sz="24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fr-FR" sz="24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two</a:t>
            </a:r>
            <a:r>
              <a:rPr lang="fr-FR" sz="24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additional</a:t>
            </a:r>
            <a:r>
              <a:rPr lang="fr-FR" sz="24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conditions:</a:t>
            </a:r>
          </a:p>
          <a:p>
            <a:pPr marL="457200" lvl="1">
              <a:buClr>
                <a:srgbClr val="404040"/>
              </a:buClr>
              <a:buSzPts val="2400"/>
            </a:pPr>
            <a:endParaRPr lang="fr-FR" sz="2400" b="1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lvl="1" indent="-342900">
              <a:buClr>
                <a:srgbClr val="404040"/>
              </a:buClr>
              <a:buSzPts val="2400"/>
              <a:buFont typeface="+mj-lt"/>
              <a:buAutoNum type="arabicPeriod"/>
            </a:pPr>
            <a:r>
              <a:rPr lang="fr-FR" sz="2400" b="1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Heap-order</a:t>
            </a:r>
            <a:r>
              <a:rPr lang="fr-FR" sz="2400" b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b="1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Property</a:t>
            </a:r>
            <a:r>
              <a:rPr lang="fr-FR" sz="2400" b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ea typeface="Calibri"/>
                <a:cs typeface="Biome Light" panose="020B0303030204020804" pitchFamily="34" charset="0"/>
                <a:sym typeface="Calibri"/>
              </a:rPr>
              <a:t> </a:t>
            </a:r>
          </a:p>
          <a:p>
            <a:pPr marL="457200" lvl="1">
              <a:buClr>
                <a:srgbClr val="404040"/>
              </a:buClr>
              <a:buSzPts val="2400"/>
            </a:pPr>
            <a:endParaRPr lang="en-US" sz="2400" b="1" dirty="0">
              <a:solidFill>
                <a:schemeClr val="accent1">
                  <a:lumMod val="75000"/>
                </a:schemeClr>
              </a:solidFill>
              <a:latin typeface="Bahnschrift" panose="020B0502040204020203" pitchFamily="34" charset="0"/>
              <a:ea typeface="Calibri"/>
              <a:cs typeface="Biome Light" panose="020B0303030204020804" pitchFamily="34" charset="0"/>
              <a:sym typeface="Calibri"/>
            </a:endParaRPr>
          </a:p>
          <a:p>
            <a:pPr marL="800100" lvl="7" indent="-342900">
              <a:buClr>
                <a:srgbClr val="40404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 a </a:t>
            </a:r>
            <a:r>
              <a:rPr lang="en-US" sz="2400" b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Min-Heap</a:t>
            </a:r>
            <a:r>
              <a:rPr lang="en-US" sz="24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, every parent node has a value less than or equal to the values of its child nodes. This means the </a:t>
            </a:r>
            <a:r>
              <a:rPr lang="en-US" sz="2400" b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smallest</a:t>
            </a:r>
            <a:r>
              <a:rPr lang="en-US" sz="24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element is always at the top (root). </a:t>
            </a:r>
          </a:p>
          <a:p>
            <a:pPr marL="800100" lvl="8" indent="-342900">
              <a:buClr>
                <a:srgbClr val="40404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 a Max-Heap</a:t>
            </a:r>
            <a:r>
              <a:rPr lang="en-US" sz="24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, every parent node has a value greater than or equal to its child nodes. This means the </a:t>
            </a:r>
            <a:r>
              <a:rPr lang="en-US" sz="2400" b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largest</a:t>
            </a:r>
            <a:r>
              <a:rPr lang="en-US" sz="24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element is always at the top (root).</a:t>
            </a:r>
          </a:p>
          <a:p>
            <a:pPr marL="800100" lvl="1" indent="-342900">
              <a:buClr>
                <a:srgbClr val="404040"/>
              </a:buClr>
              <a:buSzPts val="2400"/>
              <a:buFont typeface="Arial" panose="020B0604020202020204" pitchFamily="34" charset="0"/>
              <a:buChar char="•"/>
            </a:pPr>
            <a:endParaRPr lang="fr-FR" sz="24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08CB3D8B-4D4F-9049-C029-39CA9B0D9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>
            <a:extLst>
              <a:ext uri="{FF2B5EF4-FFF2-40B4-BE49-F238E27FC236}">
                <a16:creationId xmlns:a16="http://schemas.microsoft.com/office/drawing/2014/main" id="{D2927B9B-252D-E950-8A01-C39A0B3F7E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 err="1"/>
              <a:t>Heap</a:t>
            </a:r>
            <a:endParaRPr sz="3200" dirty="0"/>
          </a:p>
        </p:txBody>
      </p:sp>
      <p:sp>
        <p:nvSpPr>
          <p:cNvPr id="189" name="Google Shape;189;p23">
            <a:extLst>
              <a:ext uri="{FF2B5EF4-FFF2-40B4-BE49-F238E27FC236}">
                <a16:creationId xmlns:a16="http://schemas.microsoft.com/office/drawing/2014/main" id="{6D1BA92C-5028-F9B0-2C14-4416343C6B2E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>
            <a:extLst>
              <a:ext uri="{FF2B5EF4-FFF2-40B4-BE49-F238E27FC236}">
                <a16:creationId xmlns:a16="http://schemas.microsoft.com/office/drawing/2014/main" id="{423B913B-3A3B-6FF0-7AEE-5FBD165A6799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>
            <a:extLst>
              <a:ext uri="{FF2B5EF4-FFF2-40B4-BE49-F238E27FC236}">
                <a16:creationId xmlns:a16="http://schemas.microsoft.com/office/drawing/2014/main" id="{C435B72C-1C32-16DA-3235-CFB4A6E3B98C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658C5E-81C0-0EB6-86D6-5DEBB806A436}"/>
              </a:ext>
            </a:extLst>
          </p:cNvPr>
          <p:cNvSpPr txBox="1"/>
          <p:nvPr/>
        </p:nvSpPr>
        <p:spPr>
          <a:xfrm>
            <a:off x="688218" y="1531408"/>
            <a:ext cx="776756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buClr>
                <a:srgbClr val="404040"/>
              </a:buClr>
              <a:buSzPts val="2400"/>
              <a:buFont typeface="+mj-lt"/>
              <a:buAutoNum type="arabicPeriod" startAt="2"/>
            </a:pPr>
            <a:r>
              <a:rPr lang="fr-FR" sz="2400" b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Complete </a:t>
            </a:r>
            <a:r>
              <a:rPr lang="fr-FR" sz="2400" b="1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Binary</a:t>
            </a:r>
            <a:r>
              <a:rPr lang="fr-FR" sz="2400" b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b="1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Tree</a:t>
            </a:r>
            <a:r>
              <a:rPr lang="fr-FR" sz="2400" b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400" b="1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Property</a:t>
            </a:r>
            <a:r>
              <a:rPr lang="fr-FR" sz="2400" b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4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 heap </a:t>
            </a:r>
            <a:r>
              <a:rPr lang="en-US" sz="2400" b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4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, must be a complete binary tree, </a:t>
            </a:r>
            <a:r>
              <a:rPr lang="en-US" sz="240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meaning </a:t>
            </a:r>
            <a:r>
              <a:rPr lang="en-US" sz="2400" b="1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all levels are fully filled except possibly for the last level</a:t>
            </a:r>
            <a:r>
              <a:rPr lang="en-US" sz="240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, which is </a:t>
            </a:r>
            <a:r>
              <a:rPr lang="en-US" sz="2400" b="1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filled from left to right</a:t>
            </a:r>
            <a:r>
              <a:rPr lang="en-US" sz="240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457200" lvl="1">
              <a:buClr>
                <a:srgbClr val="404040"/>
              </a:buClr>
              <a:buSzPts val="2400"/>
            </a:pPr>
            <a:endParaRPr lang="fr-FR" sz="24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lvl="1" indent="-342900">
              <a:buClr>
                <a:srgbClr val="404040"/>
              </a:buClr>
              <a:buSzPts val="2400"/>
              <a:buFont typeface="Arial" panose="020B0604020202020204" pitchFamily="34" charset="0"/>
              <a:buChar char="•"/>
            </a:pPr>
            <a:r>
              <a:rPr lang="fr-FR" sz="2400" b="1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Heap</a:t>
            </a:r>
            <a:r>
              <a:rPr lang="fr-FR" sz="24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data structure </a:t>
            </a:r>
            <a:r>
              <a:rPr lang="fr-FR" sz="24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fr-FR" sz="24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efficient in insertion, </a:t>
            </a:r>
            <a:r>
              <a:rPr lang="fr-FR" sz="24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deletion</a:t>
            </a:r>
            <a:r>
              <a:rPr lang="fr-FR" sz="24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fr-FR" sz="2400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finding</a:t>
            </a:r>
            <a:r>
              <a:rPr lang="fr-FR" sz="2400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max or min.</a:t>
            </a:r>
          </a:p>
          <a:p>
            <a:pPr marL="800100" lvl="1" indent="-342900">
              <a:buClr>
                <a:srgbClr val="404040"/>
              </a:buClr>
              <a:buSzPts val="2400"/>
              <a:buFont typeface="Arial" panose="020B0604020202020204" pitchFamily="34" charset="0"/>
              <a:buChar char="•"/>
            </a:pPr>
            <a:endParaRPr lang="fr-FR" sz="24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lvl="1" indent="-342900">
              <a:buClr>
                <a:srgbClr val="404040"/>
              </a:buClr>
              <a:buSzPts val="2400"/>
              <a:buFont typeface="Arial" panose="020B0604020202020204" pitchFamily="34" charset="0"/>
              <a:buChar char="•"/>
            </a:pPr>
            <a:endParaRPr lang="fr-FR" sz="2400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881390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11A3F1A3-DC6B-F190-E88E-E16E69A9C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>
            <a:extLst>
              <a:ext uri="{FF2B5EF4-FFF2-40B4-BE49-F238E27FC236}">
                <a16:creationId xmlns:a16="http://schemas.microsoft.com/office/drawing/2014/main" id="{11B3CD12-D096-4036-3586-B4381C8011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 err="1"/>
              <a:t>Heap</a:t>
            </a:r>
            <a:endParaRPr sz="3200" dirty="0"/>
          </a:p>
        </p:txBody>
      </p:sp>
      <p:sp>
        <p:nvSpPr>
          <p:cNvPr id="189" name="Google Shape;189;p23">
            <a:extLst>
              <a:ext uri="{FF2B5EF4-FFF2-40B4-BE49-F238E27FC236}">
                <a16:creationId xmlns:a16="http://schemas.microsoft.com/office/drawing/2014/main" id="{9A2C1D0B-BA17-D252-9C8B-869C194945FC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>
            <a:extLst>
              <a:ext uri="{FF2B5EF4-FFF2-40B4-BE49-F238E27FC236}">
                <a16:creationId xmlns:a16="http://schemas.microsoft.com/office/drawing/2014/main" id="{DB2C686E-F6DD-F556-A072-1BB550E35323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>
            <a:extLst>
              <a:ext uri="{FF2B5EF4-FFF2-40B4-BE49-F238E27FC236}">
                <a16:creationId xmlns:a16="http://schemas.microsoft.com/office/drawing/2014/main" id="{BF67865D-B487-4B88-00C5-0C887DDE9694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8CDD6B-1938-606B-4E20-F1E2EE8AD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150" y="2025347"/>
            <a:ext cx="6529699" cy="28073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EB8EEE-90C9-981E-81BD-9A5E47EA8DC5}"/>
              </a:ext>
            </a:extLst>
          </p:cNvPr>
          <p:cNvSpPr txBox="1"/>
          <p:nvPr/>
        </p:nvSpPr>
        <p:spPr>
          <a:xfrm>
            <a:off x="748886" y="971471"/>
            <a:ext cx="79383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This </a:t>
            </a:r>
            <a:r>
              <a:rPr lang="fr-FR" sz="2400" dirty="0" err="1"/>
              <a:t>is</a:t>
            </a:r>
            <a:r>
              <a:rPr lang="fr-FR" sz="2400" dirty="0"/>
              <a:t> an </a:t>
            </a:r>
            <a:r>
              <a:rPr lang="fr-FR" sz="2400" dirty="0" err="1"/>
              <a:t>example</a:t>
            </a:r>
            <a:r>
              <a:rPr lang="fr-FR" sz="2400" dirty="0"/>
              <a:t> of a </a:t>
            </a:r>
            <a:r>
              <a:rPr lang="fr-FR" sz="2400" dirty="0" err="1"/>
              <a:t>binary</a:t>
            </a:r>
            <a:r>
              <a:rPr lang="fr-FR" sz="2400" dirty="0"/>
              <a:t> </a:t>
            </a:r>
            <a:r>
              <a:rPr lang="fr-FR" sz="2400" dirty="0" err="1"/>
              <a:t>tree</a:t>
            </a:r>
            <a:r>
              <a:rPr lang="fr-FR" sz="2400" dirty="0"/>
              <a:t> </a:t>
            </a:r>
            <a:r>
              <a:rPr lang="fr-FR" sz="2400" dirty="0" err="1"/>
              <a:t>that</a:t>
            </a:r>
            <a:r>
              <a:rPr lang="fr-FR" sz="2400" dirty="0"/>
              <a:t> stores pairs of </a:t>
            </a:r>
          </a:p>
          <a:p>
            <a:r>
              <a:rPr lang="fr-FR" sz="2400" dirty="0"/>
              <a:t>     (key, value) at </a:t>
            </a:r>
            <a:r>
              <a:rPr lang="fr-FR" sz="2400" dirty="0" err="1"/>
              <a:t>each</a:t>
            </a:r>
            <a:r>
              <a:rPr lang="fr-FR" sz="2400" dirty="0"/>
              <a:t> </a:t>
            </a:r>
            <a:r>
              <a:rPr lang="fr-FR" sz="2400" dirty="0" err="1"/>
              <a:t>node</a:t>
            </a:r>
            <a:r>
              <a:rPr lang="fr-FR" sz="2400" dirty="0"/>
              <a:t>. Is </a:t>
            </a:r>
            <a:r>
              <a:rPr lang="fr-FR" sz="2400" dirty="0" err="1"/>
              <a:t>it</a:t>
            </a:r>
            <a:r>
              <a:rPr lang="fr-FR" sz="2400" dirty="0"/>
              <a:t> a </a:t>
            </a:r>
            <a:r>
              <a:rPr lang="fr-FR" sz="2400" dirty="0" err="1"/>
              <a:t>heap</a:t>
            </a:r>
            <a:r>
              <a:rPr lang="fr-FR" sz="2400" dirty="0"/>
              <a:t>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312166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52E875E6-1F8B-37CE-D2A8-73ABAEF77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>
            <a:extLst>
              <a:ext uri="{FF2B5EF4-FFF2-40B4-BE49-F238E27FC236}">
                <a16:creationId xmlns:a16="http://schemas.microsoft.com/office/drawing/2014/main" id="{FB15476B-6E02-F05E-1EE0-5CE875048F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 err="1"/>
              <a:t>Heap</a:t>
            </a:r>
            <a:endParaRPr sz="3200" dirty="0"/>
          </a:p>
        </p:txBody>
      </p:sp>
      <p:sp>
        <p:nvSpPr>
          <p:cNvPr id="189" name="Google Shape;189;p23">
            <a:extLst>
              <a:ext uri="{FF2B5EF4-FFF2-40B4-BE49-F238E27FC236}">
                <a16:creationId xmlns:a16="http://schemas.microsoft.com/office/drawing/2014/main" id="{84D30D4E-A212-9EB0-3612-ECE2113D9A32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>
            <a:extLst>
              <a:ext uri="{FF2B5EF4-FFF2-40B4-BE49-F238E27FC236}">
                <a16:creationId xmlns:a16="http://schemas.microsoft.com/office/drawing/2014/main" id="{3D06A560-CA27-4E79-9710-FFA886D77E21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>
            <a:extLst>
              <a:ext uri="{FF2B5EF4-FFF2-40B4-BE49-F238E27FC236}">
                <a16:creationId xmlns:a16="http://schemas.microsoft.com/office/drawing/2014/main" id="{63D5A246-8870-8E26-A4D5-E496AFC64E5D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052B44-8298-C3D3-D82C-8DA613B77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150" y="2025347"/>
            <a:ext cx="6529699" cy="28073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C0E79B-1E01-8AA4-60CB-9D8DCF94EB33}"/>
              </a:ext>
            </a:extLst>
          </p:cNvPr>
          <p:cNvSpPr txBox="1"/>
          <p:nvPr/>
        </p:nvSpPr>
        <p:spPr>
          <a:xfrm>
            <a:off x="748886" y="971471"/>
            <a:ext cx="77845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This </a:t>
            </a:r>
            <a:r>
              <a:rPr lang="fr-FR" sz="2400" dirty="0" err="1"/>
              <a:t>is</a:t>
            </a:r>
            <a:r>
              <a:rPr lang="fr-FR" sz="2400" dirty="0"/>
              <a:t> an </a:t>
            </a:r>
            <a:r>
              <a:rPr lang="fr-FR" sz="2400" dirty="0" err="1"/>
              <a:t>example</a:t>
            </a:r>
            <a:r>
              <a:rPr lang="fr-FR" sz="2400" dirty="0"/>
              <a:t> of a </a:t>
            </a:r>
            <a:r>
              <a:rPr lang="fr-FR" sz="2400" dirty="0" err="1"/>
              <a:t>binary</a:t>
            </a:r>
            <a:r>
              <a:rPr lang="fr-FR" sz="2400" dirty="0"/>
              <a:t> </a:t>
            </a:r>
            <a:r>
              <a:rPr lang="fr-FR" sz="2400" dirty="0" err="1"/>
              <a:t>tree</a:t>
            </a:r>
            <a:r>
              <a:rPr lang="fr-FR" sz="2400" dirty="0"/>
              <a:t> </a:t>
            </a:r>
            <a:r>
              <a:rPr lang="fr-FR" sz="2400" dirty="0" err="1"/>
              <a:t>that</a:t>
            </a:r>
            <a:r>
              <a:rPr lang="fr-FR" sz="2400" dirty="0"/>
              <a:t> stores pairs of </a:t>
            </a:r>
          </a:p>
          <a:p>
            <a:r>
              <a:rPr lang="fr-FR" sz="2400" dirty="0"/>
              <a:t>     (key, value) at </a:t>
            </a:r>
            <a:r>
              <a:rPr lang="fr-FR" sz="2400" dirty="0" err="1"/>
              <a:t>each</a:t>
            </a:r>
            <a:r>
              <a:rPr lang="fr-FR" sz="2400" dirty="0"/>
              <a:t> </a:t>
            </a:r>
            <a:r>
              <a:rPr lang="fr-FR" sz="2400" dirty="0" err="1"/>
              <a:t>node</a:t>
            </a:r>
            <a:r>
              <a:rPr lang="fr-FR" sz="2400" dirty="0"/>
              <a:t>. Is </a:t>
            </a:r>
            <a:r>
              <a:rPr lang="fr-FR" sz="2400" dirty="0" err="1"/>
              <a:t>it</a:t>
            </a:r>
            <a:r>
              <a:rPr lang="fr-FR" sz="2400" dirty="0"/>
              <a:t> a </a:t>
            </a:r>
            <a:r>
              <a:rPr lang="fr-FR" sz="2400" dirty="0" err="1"/>
              <a:t>heap</a:t>
            </a:r>
            <a:r>
              <a:rPr lang="fr-FR" sz="2400" dirty="0"/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C925AA-C01E-F622-4DCA-A9740CD646FA}"/>
              </a:ext>
            </a:extLst>
          </p:cNvPr>
          <p:cNvSpPr txBox="1"/>
          <p:nvPr/>
        </p:nvSpPr>
        <p:spPr>
          <a:xfrm>
            <a:off x="722670" y="5055532"/>
            <a:ext cx="7608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Yes, </a:t>
            </a:r>
            <a:r>
              <a:rPr lang="fr-FR" sz="2400" dirty="0" err="1"/>
              <a:t>because</a:t>
            </a:r>
            <a:r>
              <a:rPr lang="fr-FR" sz="2400" dirty="0"/>
              <a:t> </a:t>
            </a:r>
            <a:r>
              <a:rPr lang="fr-FR" sz="2400" dirty="0" err="1"/>
              <a:t>it</a:t>
            </a:r>
            <a:r>
              <a:rPr lang="fr-FR" sz="2400" dirty="0"/>
              <a:t> </a:t>
            </a:r>
            <a:r>
              <a:rPr lang="fr-FR" sz="2400" dirty="0" err="1"/>
              <a:t>satisfies</a:t>
            </a:r>
            <a:r>
              <a:rPr lang="fr-FR" sz="2400" dirty="0"/>
              <a:t> </a:t>
            </a:r>
            <a:r>
              <a:rPr lang="fr-FR" sz="2400" dirty="0" err="1"/>
              <a:t>both</a:t>
            </a:r>
            <a:r>
              <a:rPr lang="fr-FR" sz="2400" dirty="0"/>
              <a:t> </a:t>
            </a:r>
            <a:r>
              <a:rPr lang="fr-FR" sz="2400" dirty="0" err="1"/>
              <a:t>heap</a:t>
            </a:r>
            <a:r>
              <a:rPr lang="fr-FR" sz="2400" dirty="0"/>
              <a:t> </a:t>
            </a:r>
            <a:r>
              <a:rPr lang="fr-FR" sz="2400" dirty="0" err="1"/>
              <a:t>properties</a:t>
            </a:r>
            <a:r>
              <a:rPr lang="fr-FR" sz="24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err="1"/>
              <a:t>Such</a:t>
            </a:r>
            <a:r>
              <a:rPr lang="fr-FR" sz="2400" dirty="0"/>
              <a:t> a </a:t>
            </a:r>
            <a:r>
              <a:rPr lang="fr-FR" sz="2400" dirty="0" err="1"/>
              <a:t>heap</a:t>
            </a:r>
            <a:r>
              <a:rPr lang="fr-FR" sz="2400" dirty="0"/>
              <a:t> </a:t>
            </a:r>
            <a:r>
              <a:rPr lang="fr-FR" sz="2400" dirty="0" err="1"/>
              <a:t>represents</a:t>
            </a:r>
            <a:r>
              <a:rPr lang="fr-FR" sz="2400" dirty="0"/>
              <a:t> </a:t>
            </a:r>
            <a:r>
              <a:rPr lang="fr-FR" sz="2400" b="1" dirty="0" err="1"/>
              <a:t>priority</a:t>
            </a:r>
            <a:r>
              <a:rPr lang="fr-FR" sz="2400" b="1" dirty="0"/>
              <a:t> queue </a:t>
            </a:r>
            <a:r>
              <a:rPr lang="fr-FR" sz="2400" dirty="0"/>
              <a:t>(keys </a:t>
            </a:r>
            <a:r>
              <a:rPr lang="fr-FR" sz="2400" dirty="0" err="1"/>
              <a:t>often</a:t>
            </a:r>
            <a:r>
              <a:rPr lang="fr-FR" sz="2400" dirty="0"/>
              <a:t> </a:t>
            </a:r>
            <a:r>
              <a:rPr lang="fr-FR" sz="2400" dirty="0" err="1"/>
              <a:t>represent</a:t>
            </a:r>
            <a:r>
              <a:rPr lang="fr-FR" sz="2400" dirty="0"/>
              <a:t> </a:t>
            </a:r>
            <a:r>
              <a:rPr lang="fr-FR" sz="2400" b="1" dirty="0" err="1"/>
              <a:t>priorities</a:t>
            </a:r>
            <a:r>
              <a:rPr lang="fr-FR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857880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993E5EBB-E3F8-DD05-DBAB-092B4A00A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>
            <a:extLst>
              <a:ext uri="{FF2B5EF4-FFF2-40B4-BE49-F238E27FC236}">
                <a16:creationId xmlns:a16="http://schemas.microsoft.com/office/drawing/2014/main" id="{08FF9471-8FA0-5069-2E21-7BC44A2F55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 err="1"/>
              <a:t>Heap</a:t>
            </a:r>
            <a:endParaRPr sz="3200" dirty="0"/>
          </a:p>
        </p:txBody>
      </p:sp>
      <p:sp>
        <p:nvSpPr>
          <p:cNvPr id="189" name="Google Shape;189;p23">
            <a:extLst>
              <a:ext uri="{FF2B5EF4-FFF2-40B4-BE49-F238E27FC236}">
                <a16:creationId xmlns:a16="http://schemas.microsoft.com/office/drawing/2014/main" id="{9F414F41-A7CD-AA24-5684-09DAE41DDA14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>
            <a:extLst>
              <a:ext uri="{FF2B5EF4-FFF2-40B4-BE49-F238E27FC236}">
                <a16:creationId xmlns:a16="http://schemas.microsoft.com/office/drawing/2014/main" id="{9BB3F8F2-E349-70F6-A4AF-945DA82E0FC2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>
            <a:extLst>
              <a:ext uri="{FF2B5EF4-FFF2-40B4-BE49-F238E27FC236}">
                <a16:creationId xmlns:a16="http://schemas.microsoft.com/office/drawing/2014/main" id="{71AB59D2-5FFC-A5D5-5633-807991F1C9CB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225B1-7DEB-B79D-19A0-886880474BF0}"/>
              </a:ext>
            </a:extLst>
          </p:cNvPr>
          <p:cNvSpPr txBox="1"/>
          <p:nvPr/>
        </p:nvSpPr>
        <p:spPr>
          <a:xfrm>
            <a:off x="1169570" y="1281110"/>
            <a:ext cx="727774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400" b="1" dirty="0">
              <a:solidFill>
                <a:srgbClr val="0070C0"/>
              </a:solidFill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fr-FR" sz="2400" b="1" dirty="0" err="1">
                <a:solidFill>
                  <a:schemeClr val="tx1"/>
                </a:solidFill>
              </a:rPr>
              <a:t>extract_min</a:t>
            </a:r>
            <a:r>
              <a:rPr lang="fr-FR" sz="2400" b="1" dirty="0">
                <a:solidFill>
                  <a:schemeClr val="tx1"/>
                </a:solidFill>
              </a:rPr>
              <a:t>()</a:t>
            </a:r>
            <a:r>
              <a:rPr lang="fr-FR" sz="2400" b="1" dirty="0">
                <a:solidFill>
                  <a:srgbClr val="0070C0"/>
                </a:solidFill>
              </a:rPr>
              <a:t>: </a:t>
            </a:r>
            <a:r>
              <a:rPr lang="fr-FR" sz="2400" dirty="0">
                <a:solidFill>
                  <a:schemeClr val="tx1"/>
                </a:solidFill>
              </a:rPr>
              <a:t>return and </a:t>
            </a:r>
            <a:r>
              <a:rPr lang="fr-FR" sz="2400" dirty="0" err="1">
                <a:solidFill>
                  <a:schemeClr val="tx1"/>
                </a:solidFill>
              </a:rPr>
              <a:t>remove</a:t>
            </a:r>
            <a:r>
              <a:rPr lang="fr-FR" sz="2400" dirty="0">
                <a:solidFill>
                  <a:schemeClr val="tx1"/>
                </a:solidFill>
              </a:rPr>
              <a:t> the min (root)</a:t>
            </a:r>
            <a:r>
              <a:rPr lang="fr-FR" sz="2400" b="1" dirty="0">
                <a:solidFill>
                  <a:srgbClr val="0070C0"/>
                </a:solidFill>
              </a:rPr>
              <a:t>.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fr-FR" sz="2400" b="1" dirty="0" err="1">
                <a:solidFill>
                  <a:schemeClr val="tx1"/>
                </a:solidFill>
              </a:rPr>
              <a:t>get_min</a:t>
            </a:r>
            <a:r>
              <a:rPr lang="fr-FR" sz="2400" b="1" dirty="0">
                <a:solidFill>
                  <a:schemeClr val="tx1"/>
                </a:solidFill>
              </a:rPr>
              <a:t>()</a:t>
            </a:r>
            <a:r>
              <a:rPr lang="fr-FR" sz="2400" b="1" dirty="0">
                <a:solidFill>
                  <a:srgbClr val="0070C0"/>
                </a:solidFill>
              </a:rPr>
              <a:t>: </a:t>
            </a:r>
            <a:r>
              <a:rPr lang="fr-FR" sz="2400" dirty="0">
                <a:solidFill>
                  <a:schemeClr val="tx1"/>
                </a:solidFill>
              </a:rPr>
              <a:t>return min value </a:t>
            </a:r>
            <a:r>
              <a:rPr lang="fr-FR" sz="2400" dirty="0" err="1">
                <a:solidFill>
                  <a:schemeClr val="tx1"/>
                </a:solidFill>
              </a:rPr>
              <a:t>without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removing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it</a:t>
            </a:r>
            <a:r>
              <a:rPr lang="fr-FR" sz="2400" b="1" dirty="0">
                <a:solidFill>
                  <a:srgbClr val="0070C0"/>
                </a:solidFill>
              </a:rPr>
              <a:t>.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fr-FR" sz="2400" b="1" dirty="0" err="1">
                <a:solidFill>
                  <a:schemeClr val="tx1"/>
                </a:solidFill>
              </a:rPr>
              <a:t>is_empty</a:t>
            </a:r>
            <a:r>
              <a:rPr lang="fr-FR" sz="2400" b="1" dirty="0">
                <a:solidFill>
                  <a:schemeClr val="tx1"/>
                </a:solidFill>
              </a:rPr>
              <a:t>(): </a:t>
            </a:r>
            <a:r>
              <a:rPr lang="fr-FR" sz="2400" dirty="0">
                <a:solidFill>
                  <a:schemeClr val="tx1"/>
                </a:solidFill>
              </a:rPr>
              <a:t>check if the </a:t>
            </a:r>
            <a:r>
              <a:rPr lang="fr-FR" sz="2400" dirty="0" err="1">
                <a:solidFill>
                  <a:schemeClr val="tx1"/>
                </a:solidFill>
              </a:rPr>
              <a:t>heap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is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empty</a:t>
            </a:r>
            <a:r>
              <a:rPr lang="fr-FR" sz="2400" dirty="0">
                <a:solidFill>
                  <a:schemeClr val="tx1"/>
                </a:solidFill>
              </a:rPr>
              <a:t>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chemeClr val="tx1"/>
                </a:solidFill>
              </a:rPr>
              <a:t>Insert(): </a:t>
            </a:r>
            <a:r>
              <a:rPr lang="fr-FR" sz="2400" dirty="0"/>
              <a:t>insert </a:t>
            </a:r>
            <a:r>
              <a:rPr lang="fr-FR" sz="2400" dirty="0" err="1"/>
              <a:t>element</a:t>
            </a:r>
            <a:r>
              <a:rPr lang="fr-FR" sz="2400" dirty="0"/>
              <a:t> to the </a:t>
            </a:r>
            <a:r>
              <a:rPr lang="fr-FR" sz="2400" dirty="0" err="1"/>
              <a:t>heap</a:t>
            </a:r>
            <a:r>
              <a:rPr lang="fr-FR" sz="2400" dirty="0"/>
              <a:t>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chemeClr val="tx1"/>
                </a:solidFill>
              </a:rPr>
              <a:t>_</a:t>
            </a:r>
            <a:r>
              <a:rPr lang="fr-FR" sz="2400" b="1" dirty="0" err="1">
                <a:solidFill>
                  <a:schemeClr val="tx1"/>
                </a:solidFill>
              </a:rPr>
              <a:t>heapify_up</a:t>
            </a:r>
            <a:r>
              <a:rPr lang="fr-FR" sz="2400" b="1" dirty="0">
                <a:solidFill>
                  <a:schemeClr val="tx1"/>
                </a:solidFill>
              </a:rPr>
              <a:t>(): </a:t>
            </a:r>
            <a:r>
              <a:rPr lang="fr-FR" sz="2400" dirty="0">
                <a:solidFill>
                  <a:schemeClr val="tx1"/>
                </a:solidFill>
              </a:rPr>
              <a:t>for </a:t>
            </a:r>
            <a:r>
              <a:rPr lang="fr-FR" sz="2400" dirty="0" err="1">
                <a:solidFill>
                  <a:schemeClr val="tx1"/>
                </a:solidFill>
              </a:rPr>
              <a:t>maintaining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heap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properties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after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adding</a:t>
            </a:r>
            <a:r>
              <a:rPr lang="fr-FR" sz="2400" dirty="0">
                <a:solidFill>
                  <a:schemeClr val="tx1"/>
                </a:solidFill>
              </a:rPr>
              <a:t> an </a:t>
            </a:r>
            <a:r>
              <a:rPr lang="fr-FR" sz="2400" dirty="0" err="1">
                <a:solidFill>
                  <a:schemeClr val="tx1"/>
                </a:solidFill>
              </a:rPr>
              <a:t>element</a:t>
            </a:r>
            <a:r>
              <a:rPr lang="fr-FR" sz="2400" dirty="0">
                <a:solidFill>
                  <a:schemeClr val="tx1"/>
                </a:solidFill>
              </a:rPr>
              <a:t>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chemeClr val="tx1"/>
                </a:solidFill>
              </a:rPr>
              <a:t>_</a:t>
            </a:r>
            <a:r>
              <a:rPr lang="fr-FR" sz="2400" b="1" dirty="0" err="1">
                <a:solidFill>
                  <a:schemeClr val="tx1"/>
                </a:solidFill>
              </a:rPr>
              <a:t>heapify_down</a:t>
            </a:r>
            <a:r>
              <a:rPr lang="fr-FR" sz="2400" b="1" dirty="0">
                <a:solidFill>
                  <a:schemeClr val="tx1"/>
                </a:solidFill>
              </a:rPr>
              <a:t>(): </a:t>
            </a:r>
            <a:r>
              <a:rPr lang="fr-FR" sz="2400" dirty="0">
                <a:solidFill>
                  <a:schemeClr val="tx1"/>
                </a:solidFill>
              </a:rPr>
              <a:t>for </a:t>
            </a:r>
            <a:r>
              <a:rPr lang="fr-FR" sz="2400" dirty="0" err="1">
                <a:solidFill>
                  <a:schemeClr val="tx1"/>
                </a:solidFill>
              </a:rPr>
              <a:t>maintaining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heap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</a:p>
          <a:p>
            <a:pPr lvl="1"/>
            <a:r>
              <a:rPr lang="fr-FR" sz="2400" dirty="0">
                <a:solidFill>
                  <a:schemeClr val="tx1"/>
                </a:solidFill>
              </a:rPr>
              <a:t>    </a:t>
            </a:r>
            <a:r>
              <a:rPr lang="fr-FR" sz="2400" dirty="0" err="1">
                <a:solidFill>
                  <a:schemeClr val="tx1"/>
                </a:solidFill>
              </a:rPr>
              <a:t>properties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after</a:t>
            </a:r>
            <a:r>
              <a:rPr lang="fr-FR" sz="2400" b="1" dirty="0">
                <a:solidFill>
                  <a:schemeClr val="tx1"/>
                </a:solidFill>
              </a:rPr>
              <a:t> </a:t>
            </a:r>
            <a:r>
              <a:rPr lang="fr-FR" sz="2400" b="1" dirty="0" err="1">
                <a:solidFill>
                  <a:schemeClr val="tx1"/>
                </a:solidFill>
              </a:rPr>
              <a:t>removing</a:t>
            </a:r>
            <a:r>
              <a:rPr lang="fr-FR" sz="2400" b="1" dirty="0">
                <a:solidFill>
                  <a:schemeClr val="tx1"/>
                </a:solidFill>
              </a:rPr>
              <a:t> </a:t>
            </a:r>
            <a:r>
              <a:rPr lang="fr-FR" sz="2400" dirty="0">
                <a:solidFill>
                  <a:schemeClr val="tx1"/>
                </a:solidFill>
              </a:rPr>
              <a:t>an </a:t>
            </a:r>
            <a:r>
              <a:rPr lang="fr-FR" sz="2400" dirty="0" err="1">
                <a:solidFill>
                  <a:schemeClr val="tx1"/>
                </a:solidFill>
              </a:rPr>
              <a:t>element</a:t>
            </a:r>
            <a:r>
              <a:rPr lang="fr-FR" sz="2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9F7671-44DF-4C77-82F6-8AD174A2DC4C}"/>
              </a:ext>
            </a:extLst>
          </p:cNvPr>
          <p:cNvSpPr txBox="1"/>
          <p:nvPr/>
        </p:nvSpPr>
        <p:spPr>
          <a:xfrm>
            <a:off x="811781" y="731837"/>
            <a:ext cx="44294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400" b="1" dirty="0">
              <a:solidFill>
                <a:srgbClr val="0070C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fr-FR" sz="2400" b="1" dirty="0" err="1">
                <a:solidFill>
                  <a:srgbClr val="0070C0"/>
                </a:solidFill>
              </a:rPr>
              <a:t>Heap</a:t>
            </a:r>
            <a:r>
              <a:rPr lang="fr-FR" sz="2400" b="1" dirty="0">
                <a:solidFill>
                  <a:srgbClr val="0070C0"/>
                </a:solidFill>
              </a:rPr>
              <a:t> </a:t>
            </a:r>
            <a:r>
              <a:rPr lang="fr-FR" sz="2400" b="1" dirty="0" err="1">
                <a:solidFill>
                  <a:srgbClr val="0070C0"/>
                </a:solidFill>
              </a:rPr>
              <a:t>methods</a:t>
            </a:r>
            <a:r>
              <a:rPr lang="fr-FR" sz="2400" b="1" dirty="0">
                <a:solidFill>
                  <a:srgbClr val="0070C0"/>
                </a:solidFill>
              </a:rPr>
              <a:t> (Min-</a:t>
            </a:r>
            <a:r>
              <a:rPr lang="fr-FR" sz="2400" b="1" dirty="0" err="1">
                <a:solidFill>
                  <a:srgbClr val="0070C0"/>
                </a:solidFill>
              </a:rPr>
              <a:t>Heap</a:t>
            </a:r>
            <a:r>
              <a:rPr lang="fr-FR" sz="2400" b="1" dirty="0">
                <a:solidFill>
                  <a:srgbClr val="0070C0"/>
                </a:solidFill>
              </a:rPr>
              <a:t>):</a:t>
            </a:r>
          </a:p>
        </p:txBody>
      </p:sp>
    </p:spTree>
    <p:extLst>
      <p:ext uri="{BB962C8B-B14F-4D97-AF65-F5344CB8AC3E}">
        <p14:creationId xmlns:p14="http://schemas.microsoft.com/office/powerpoint/2010/main" val="35010772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37F9B034-82A9-851F-873D-0866724C5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>
            <a:extLst>
              <a:ext uri="{FF2B5EF4-FFF2-40B4-BE49-F238E27FC236}">
                <a16:creationId xmlns:a16="http://schemas.microsoft.com/office/drawing/2014/main" id="{9608855C-A52D-DBCA-CA68-DDFAEB999E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 err="1"/>
              <a:t>Heap</a:t>
            </a:r>
            <a:endParaRPr sz="3200" dirty="0"/>
          </a:p>
        </p:txBody>
      </p:sp>
      <p:sp>
        <p:nvSpPr>
          <p:cNvPr id="189" name="Google Shape;189;p23">
            <a:extLst>
              <a:ext uri="{FF2B5EF4-FFF2-40B4-BE49-F238E27FC236}">
                <a16:creationId xmlns:a16="http://schemas.microsoft.com/office/drawing/2014/main" id="{9BD40711-327D-3942-D7E0-1796792BD5EC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>
            <a:extLst>
              <a:ext uri="{FF2B5EF4-FFF2-40B4-BE49-F238E27FC236}">
                <a16:creationId xmlns:a16="http://schemas.microsoft.com/office/drawing/2014/main" id="{724C037E-8A3B-FCED-CF69-2D9343C8E1C0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>
            <a:extLst>
              <a:ext uri="{FF2B5EF4-FFF2-40B4-BE49-F238E27FC236}">
                <a16:creationId xmlns:a16="http://schemas.microsoft.com/office/drawing/2014/main" id="{6C34EEBC-B0A8-D8CA-1B65-908ADF4F686B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CF08C7-BCB9-9002-352A-17E2D50BB870}"/>
              </a:ext>
            </a:extLst>
          </p:cNvPr>
          <p:cNvSpPr txBox="1"/>
          <p:nvPr/>
        </p:nvSpPr>
        <p:spPr>
          <a:xfrm>
            <a:off x="1169570" y="1281110"/>
            <a:ext cx="727774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400" b="1" dirty="0">
              <a:solidFill>
                <a:srgbClr val="0070C0"/>
              </a:solidFill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Starts with the newly inserted element.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Compares the element with its parent.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If the element is smaller (in a min-heap) or larger (in a max-heap) than its parent, they are swapped.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This process continues until the heap property is restored or the element reaches the root.</a:t>
            </a:r>
            <a:endParaRPr lang="fr-FR" sz="24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A6EC83-F1B1-7932-A52A-76C18436101A}"/>
              </a:ext>
            </a:extLst>
          </p:cNvPr>
          <p:cNvSpPr txBox="1"/>
          <p:nvPr/>
        </p:nvSpPr>
        <p:spPr>
          <a:xfrm>
            <a:off x="811781" y="731837"/>
            <a:ext cx="80602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400" b="1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chemeClr val="tx1"/>
                </a:solidFill>
              </a:rPr>
              <a:t>_</a:t>
            </a:r>
            <a:r>
              <a:rPr lang="fr-FR" sz="2400" b="1" dirty="0" err="1">
                <a:solidFill>
                  <a:schemeClr val="tx1"/>
                </a:solidFill>
              </a:rPr>
              <a:t>heapify_up</a:t>
            </a:r>
            <a:r>
              <a:rPr lang="fr-FR" sz="2400" b="1" dirty="0">
                <a:solidFill>
                  <a:schemeClr val="tx1"/>
                </a:solidFill>
              </a:rPr>
              <a:t>(): </a:t>
            </a:r>
            <a:r>
              <a:rPr lang="fr-FR" sz="2400" dirty="0" err="1">
                <a:solidFill>
                  <a:schemeClr val="tx1"/>
                </a:solidFill>
              </a:rPr>
              <a:t>maintains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heap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property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after</a:t>
            </a:r>
            <a:r>
              <a:rPr lang="fr-FR" sz="2400" dirty="0">
                <a:solidFill>
                  <a:schemeClr val="tx1"/>
                </a:solidFill>
              </a:rPr>
              <a:t> insertion.</a:t>
            </a:r>
            <a:endParaRPr lang="fr-FR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7451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2E053605-8A14-AE7C-C93E-608D97841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>
            <a:extLst>
              <a:ext uri="{FF2B5EF4-FFF2-40B4-BE49-F238E27FC236}">
                <a16:creationId xmlns:a16="http://schemas.microsoft.com/office/drawing/2014/main" id="{E09E2DA1-7C3D-1386-AFC4-D45FFDCFFC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 err="1"/>
              <a:t>Heap</a:t>
            </a:r>
            <a:endParaRPr sz="3200" dirty="0"/>
          </a:p>
        </p:txBody>
      </p:sp>
      <p:sp>
        <p:nvSpPr>
          <p:cNvPr id="189" name="Google Shape;189;p23">
            <a:extLst>
              <a:ext uri="{FF2B5EF4-FFF2-40B4-BE49-F238E27FC236}">
                <a16:creationId xmlns:a16="http://schemas.microsoft.com/office/drawing/2014/main" id="{6469C92F-FAF0-9950-8BE9-B48A124233BC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>
            <a:extLst>
              <a:ext uri="{FF2B5EF4-FFF2-40B4-BE49-F238E27FC236}">
                <a16:creationId xmlns:a16="http://schemas.microsoft.com/office/drawing/2014/main" id="{209C2ADC-EB12-2AC0-4404-2526AEA966DA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>
            <a:extLst>
              <a:ext uri="{FF2B5EF4-FFF2-40B4-BE49-F238E27FC236}">
                <a16:creationId xmlns:a16="http://schemas.microsoft.com/office/drawing/2014/main" id="{258DEC11-1AF5-4E1B-B151-192735E4D6BF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F94526-CCE8-56E5-080E-60EA5D680E9E}"/>
              </a:ext>
            </a:extLst>
          </p:cNvPr>
          <p:cNvSpPr txBox="1"/>
          <p:nvPr/>
        </p:nvSpPr>
        <p:spPr>
          <a:xfrm>
            <a:off x="811781" y="731837"/>
            <a:ext cx="80602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400" b="1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chemeClr val="tx1"/>
                </a:solidFill>
              </a:rPr>
              <a:t>_</a:t>
            </a:r>
            <a:r>
              <a:rPr lang="fr-FR" sz="2400" b="1" dirty="0" err="1">
                <a:solidFill>
                  <a:schemeClr val="tx1"/>
                </a:solidFill>
              </a:rPr>
              <a:t>heapify_up</a:t>
            </a:r>
            <a:r>
              <a:rPr lang="fr-FR" sz="2400" b="1" dirty="0">
                <a:solidFill>
                  <a:schemeClr val="tx1"/>
                </a:solidFill>
              </a:rPr>
              <a:t>(): </a:t>
            </a:r>
            <a:r>
              <a:rPr lang="fr-FR" sz="2400" dirty="0" err="1">
                <a:solidFill>
                  <a:schemeClr val="tx1"/>
                </a:solidFill>
              </a:rPr>
              <a:t>maintains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heap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property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after</a:t>
            </a:r>
            <a:r>
              <a:rPr lang="fr-FR" sz="2400" dirty="0">
                <a:solidFill>
                  <a:schemeClr val="tx1"/>
                </a:solidFill>
              </a:rPr>
              <a:t> insertion.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Consider an example: adding (2, T) to heap.</a:t>
            </a:r>
            <a:endParaRPr lang="fr-FR" sz="24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E5B905-0469-6EA8-4B85-F9C664AE5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100" y="2862337"/>
            <a:ext cx="6339800" cy="272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9279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854B99C8-B3CE-9DCD-CA2B-0427C344F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>
            <a:extLst>
              <a:ext uri="{FF2B5EF4-FFF2-40B4-BE49-F238E27FC236}">
                <a16:creationId xmlns:a16="http://schemas.microsoft.com/office/drawing/2014/main" id="{71D90B78-1A83-B271-6CA2-1AF2C10C7F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 err="1"/>
              <a:t>Heap</a:t>
            </a:r>
            <a:endParaRPr sz="3200" dirty="0"/>
          </a:p>
        </p:txBody>
      </p:sp>
      <p:sp>
        <p:nvSpPr>
          <p:cNvPr id="189" name="Google Shape;189;p23">
            <a:extLst>
              <a:ext uri="{FF2B5EF4-FFF2-40B4-BE49-F238E27FC236}">
                <a16:creationId xmlns:a16="http://schemas.microsoft.com/office/drawing/2014/main" id="{A1054AF7-27BC-43EB-6955-28E94B773060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>
            <a:extLst>
              <a:ext uri="{FF2B5EF4-FFF2-40B4-BE49-F238E27FC236}">
                <a16:creationId xmlns:a16="http://schemas.microsoft.com/office/drawing/2014/main" id="{BDAA8C99-69D7-5D85-0B2C-CC96B2BD412B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>
            <a:extLst>
              <a:ext uri="{FF2B5EF4-FFF2-40B4-BE49-F238E27FC236}">
                <a16:creationId xmlns:a16="http://schemas.microsoft.com/office/drawing/2014/main" id="{9A0FEB86-4BAA-6C74-68F2-4E3416F4A4F2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0A95F4-393F-3821-A884-6761D85CF23D}"/>
              </a:ext>
            </a:extLst>
          </p:cNvPr>
          <p:cNvSpPr txBox="1"/>
          <p:nvPr/>
        </p:nvSpPr>
        <p:spPr>
          <a:xfrm>
            <a:off x="811781" y="731837"/>
            <a:ext cx="80602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400" b="1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chemeClr val="tx1"/>
                </a:solidFill>
              </a:rPr>
              <a:t>_</a:t>
            </a:r>
            <a:r>
              <a:rPr lang="fr-FR" sz="2400" b="1" dirty="0" err="1">
                <a:solidFill>
                  <a:schemeClr val="tx1"/>
                </a:solidFill>
              </a:rPr>
              <a:t>heapify_up</a:t>
            </a:r>
            <a:r>
              <a:rPr lang="fr-FR" sz="2400" b="1" dirty="0">
                <a:solidFill>
                  <a:schemeClr val="tx1"/>
                </a:solidFill>
              </a:rPr>
              <a:t>(): </a:t>
            </a:r>
            <a:r>
              <a:rPr lang="fr-FR" sz="2400" dirty="0" err="1">
                <a:solidFill>
                  <a:schemeClr val="tx1"/>
                </a:solidFill>
              </a:rPr>
              <a:t>maintains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heap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property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after</a:t>
            </a:r>
            <a:r>
              <a:rPr lang="fr-FR" sz="2400" dirty="0">
                <a:solidFill>
                  <a:schemeClr val="tx1"/>
                </a:solidFill>
              </a:rPr>
              <a:t> insertion.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Consider an example: adding (2, T) to heap.</a:t>
            </a:r>
            <a:endParaRPr lang="fr-FR" sz="2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832E41-FABA-9145-64C5-E525215EA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759" y="2733525"/>
            <a:ext cx="6362525" cy="296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7849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31061A24-C744-AC61-C974-29822B37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>
            <a:extLst>
              <a:ext uri="{FF2B5EF4-FFF2-40B4-BE49-F238E27FC236}">
                <a16:creationId xmlns:a16="http://schemas.microsoft.com/office/drawing/2014/main" id="{B13DF4A2-7265-79F1-D188-83C4909EBD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 err="1"/>
              <a:t>Heap</a:t>
            </a:r>
            <a:endParaRPr sz="3200" dirty="0"/>
          </a:p>
        </p:txBody>
      </p:sp>
      <p:sp>
        <p:nvSpPr>
          <p:cNvPr id="189" name="Google Shape;189;p23">
            <a:extLst>
              <a:ext uri="{FF2B5EF4-FFF2-40B4-BE49-F238E27FC236}">
                <a16:creationId xmlns:a16="http://schemas.microsoft.com/office/drawing/2014/main" id="{094F86D6-1DB3-ECB5-E6BE-A13A541C00FE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>
            <a:extLst>
              <a:ext uri="{FF2B5EF4-FFF2-40B4-BE49-F238E27FC236}">
                <a16:creationId xmlns:a16="http://schemas.microsoft.com/office/drawing/2014/main" id="{0AE9B02D-FAAF-378D-C32E-3C29CBB0CCE1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>
            <a:extLst>
              <a:ext uri="{FF2B5EF4-FFF2-40B4-BE49-F238E27FC236}">
                <a16:creationId xmlns:a16="http://schemas.microsoft.com/office/drawing/2014/main" id="{AE0FA5F4-0E7B-B07D-2C3B-6C7490C5802C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C49A88-8828-50CD-15E0-1F043710BE14}"/>
              </a:ext>
            </a:extLst>
          </p:cNvPr>
          <p:cNvSpPr txBox="1"/>
          <p:nvPr/>
        </p:nvSpPr>
        <p:spPr>
          <a:xfrm>
            <a:off x="811781" y="731837"/>
            <a:ext cx="80602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400" b="1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chemeClr val="tx1"/>
                </a:solidFill>
              </a:rPr>
              <a:t>_</a:t>
            </a:r>
            <a:r>
              <a:rPr lang="fr-FR" sz="2400" b="1" dirty="0" err="1">
                <a:solidFill>
                  <a:schemeClr val="tx1"/>
                </a:solidFill>
              </a:rPr>
              <a:t>heapify_up</a:t>
            </a:r>
            <a:r>
              <a:rPr lang="fr-FR" sz="2400" b="1" dirty="0">
                <a:solidFill>
                  <a:schemeClr val="tx1"/>
                </a:solidFill>
              </a:rPr>
              <a:t>(): </a:t>
            </a:r>
            <a:r>
              <a:rPr lang="fr-FR" sz="2400" dirty="0" err="1">
                <a:solidFill>
                  <a:schemeClr val="tx1"/>
                </a:solidFill>
              </a:rPr>
              <a:t>maintains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heap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property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after</a:t>
            </a:r>
            <a:r>
              <a:rPr lang="fr-FR" sz="2400" dirty="0">
                <a:solidFill>
                  <a:schemeClr val="tx1"/>
                </a:solidFill>
              </a:rPr>
              <a:t> insertion.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Consider an example: adding (2, T) to heap.</a:t>
            </a:r>
            <a:endParaRPr lang="fr-FR" sz="2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019B9E-A256-5A1F-2337-09A5E5E6D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403" y="2656244"/>
            <a:ext cx="6919084" cy="306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4511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D800E1A1-22E1-7E0E-1A9D-0F81BCF0D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>
            <a:extLst>
              <a:ext uri="{FF2B5EF4-FFF2-40B4-BE49-F238E27FC236}">
                <a16:creationId xmlns:a16="http://schemas.microsoft.com/office/drawing/2014/main" id="{08186D27-F07E-05A9-7A16-65218FCB8F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 err="1"/>
              <a:t>Heap</a:t>
            </a:r>
            <a:endParaRPr sz="3200" dirty="0"/>
          </a:p>
        </p:txBody>
      </p:sp>
      <p:sp>
        <p:nvSpPr>
          <p:cNvPr id="189" name="Google Shape;189;p23">
            <a:extLst>
              <a:ext uri="{FF2B5EF4-FFF2-40B4-BE49-F238E27FC236}">
                <a16:creationId xmlns:a16="http://schemas.microsoft.com/office/drawing/2014/main" id="{6CA62CC6-9A27-4EE5-A9CD-CFA3FDB66B42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>
            <a:extLst>
              <a:ext uri="{FF2B5EF4-FFF2-40B4-BE49-F238E27FC236}">
                <a16:creationId xmlns:a16="http://schemas.microsoft.com/office/drawing/2014/main" id="{1C272EA4-AE91-AB58-06B4-42664A7CC0A5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>
            <a:extLst>
              <a:ext uri="{FF2B5EF4-FFF2-40B4-BE49-F238E27FC236}">
                <a16:creationId xmlns:a16="http://schemas.microsoft.com/office/drawing/2014/main" id="{14A73035-F529-C2E7-463F-6C0B1FFD4633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93C1B6-8783-1C4E-6C6A-D1FF350FC420}"/>
              </a:ext>
            </a:extLst>
          </p:cNvPr>
          <p:cNvSpPr txBox="1"/>
          <p:nvPr/>
        </p:nvSpPr>
        <p:spPr>
          <a:xfrm>
            <a:off x="811781" y="731837"/>
            <a:ext cx="80602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400" b="1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chemeClr val="tx1"/>
                </a:solidFill>
              </a:rPr>
              <a:t>_</a:t>
            </a:r>
            <a:r>
              <a:rPr lang="fr-FR" sz="2400" b="1" dirty="0" err="1">
                <a:solidFill>
                  <a:schemeClr val="tx1"/>
                </a:solidFill>
              </a:rPr>
              <a:t>heapify_up</a:t>
            </a:r>
            <a:r>
              <a:rPr lang="fr-FR" sz="2400" b="1" dirty="0">
                <a:solidFill>
                  <a:schemeClr val="tx1"/>
                </a:solidFill>
              </a:rPr>
              <a:t>(): </a:t>
            </a:r>
            <a:r>
              <a:rPr lang="fr-FR" sz="2400" dirty="0" err="1">
                <a:solidFill>
                  <a:schemeClr val="tx1"/>
                </a:solidFill>
              </a:rPr>
              <a:t>maintains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heap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property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after</a:t>
            </a:r>
            <a:r>
              <a:rPr lang="fr-FR" sz="2400" dirty="0">
                <a:solidFill>
                  <a:schemeClr val="tx1"/>
                </a:solidFill>
              </a:rPr>
              <a:t> insertion.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Consider an example: adding (2, T) to heap.</a:t>
            </a:r>
            <a:endParaRPr lang="fr-FR" sz="2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BB50F1-78D9-5F56-4115-59C932236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045" y="2659638"/>
            <a:ext cx="6628875" cy="3022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6434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847DFD93-B1AD-8309-F44D-9FB0F25DB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>
            <a:extLst>
              <a:ext uri="{FF2B5EF4-FFF2-40B4-BE49-F238E27FC236}">
                <a16:creationId xmlns:a16="http://schemas.microsoft.com/office/drawing/2014/main" id="{B34E9F9C-DA93-7056-7357-3D82ADB93E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 err="1"/>
              <a:t>Heap</a:t>
            </a:r>
            <a:endParaRPr sz="3200" dirty="0"/>
          </a:p>
        </p:txBody>
      </p:sp>
      <p:sp>
        <p:nvSpPr>
          <p:cNvPr id="189" name="Google Shape;189;p23">
            <a:extLst>
              <a:ext uri="{FF2B5EF4-FFF2-40B4-BE49-F238E27FC236}">
                <a16:creationId xmlns:a16="http://schemas.microsoft.com/office/drawing/2014/main" id="{EA62860F-425A-AD40-34D3-2B3ACFB6D365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>
            <a:extLst>
              <a:ext uri="{FF2B5EF4-FFF2-40B4-BE49-F238E27FC236}">
                <a16:creationId xmlns:a16="http://schemas.microsoft.com/office/drawing/2014/main" id="{56614B5E-ADDC-2CA7-9374-9D52FF3B5FBD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>
            <a:extLst>
              <a:ext uri="{FF2B5EF4-FFF2-40B4-BE49-F238E27FC236}">
                <a16:creationId xmlns:a16="http://schemas.microsoft.com/office/drawing/2014/main" id="{BD5049DB-D0B1-8202-170A-D02262753E9D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EDA685-277C-E95F-17B0-F819523F5688}"/>
              </a:ext>
            </a:extLst>
          </p:cNvPr>
          <p:cNvSpPr txBox="1"/>
          <p:nvPr/>
        </p:nvSpPr>
        <p:spPr>
          <a:xfrm>
            <a:off x="811781" y="731837"/>
            <a:ext cx="80602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400" b="1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chemeClr val="tx1"/>
                </a:solidFill>
              </a:rPr>
              <a:t>_</a:t>
            </a:r>
            <a:r>
              <a:rPr lang="fr-FR" sz="2400" b="1" dirty="0" err="1">
                <a:solidFill>
                  <a:schemeClr val="tx1"/>
                </a:solidFill>
              </a:rPr>
              <a:t>heapify_up</a:t>
            </a:r>
            <a:r>
              <a:rPr lang="fr-FR" sz="2400" b="1" dirty="0">
                <a:solidFill>
                  <a:schemeClr val="tx1"/>
                </a:solidFill>
              </a:rPr>
              <a:t>(): </a:t>
            </a:r>
            <a:r>
              <a:rPr lang="fr-FR" sz="2400" dirty="0" err="1">
                <a:solidFill>
                  <a:schemeClr val="tx1"/>
                </a:solidFill>
              </a:rPr>
              <a:t>maintains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heap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property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after</a:t>
            </a:r>
            <a:r>
              <a:rPr lang="fr-FR" sz="2400" dirty="0">
                <a:solidFill>
                  <a:schemeClr val="tx1"/>
                </a:solidFill>
              </a:rPr>
              <a:t> insertion.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Consider an example: adding (2, T) to heap.</a:t>
            </a:r>
            <a:endParaRPr lang="fr-FR" sz="2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4A8942-10FF-BE49-F7EF-16260E2E4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045" y="2659638"/>
            <a:ext cx="6628875" cy="3022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4FF48A-A109-B437-7825-CBA4D2B8C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368" y="2721727"/>
            <a:ext cx="6645230" cy="292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2440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862C2351-8A16-D866-A074-2EDA51543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>
            <a:extLst>
              <a:ext uri="{FF2B5EF4-FFF2-40B4-BE49-F238E27FC236}">
                <a16:creationId xmlns:a16="http://schemas.microsoft.com/office/drawing/2014/main" id="{9B7E2A05-7355-91B9-B386-D4875D995D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 err="1"/>
              <a:t>Heap</a:t>
            </a:r>
            <a:endParaRPr sz="3200" dirty="0"/>
          </a:p>
        </p:txBody>
      </p:sp>
      <p:sp>
        <p:nvSpPr>
          <p:cNvPr id="189" name="Google Shape;189;p23">
            <a:extLst>
              <a:ext uri="{FF2B5EF4-FFF2-40B4-BE49-F238E27FC236}">
                <a16:creationId xmlns:a16="http://schemas.microsoft.com/office/drawing/2014/main" id="{BEC8DE57-8462-9B9F-2C9B-DB2FB5D2EFD1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>
            <a:extLst>
              <a:ext uri="{FF2B5EF4-FFF2-40B4-BE49-F238E27FC236}">
                <a16:creationId xmlns:a16="http://schemas.microsoft.com/office/drawing/2014/main" id="{AE950015-CD9B-BF47-6D1E-F5A42933E262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>
            <a:extLst>
              <a:ext uri="{FF2B5EF4-FFF2-40B4-BE49-F238E27FC236}">
                <a16:creationId xmlns:a16="http://schemas.microsoft.com/office/drawing/2014/main" id="{A502D6A0-5B3C-8131-BC4E-C6580A474C9D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8FE137-8D59-5B9E-90CF-35ADC3C765AA}"/>
              </a:ext>
            </a:extLst>
          </p:cNvPr>
          <p:cNvSpPr txBox="1"/>
          <p:nvPr/>
        </p:nvSpPr>
        <p:spPr>
          <a:xfrm>
            <a:off x="811781" y="731837"/>
            <a:ext cx="80602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400" b="1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chemeClr val="tx1"/>
                </a:solidFill>
              </a:rPr>
              <a:t>_</a:t>
            </a:r>
            <a:r>
              <a:rPr lang="fr-FR" sz="2400" b="1" dirty="0" err="1">
                <a:solidFill>
                  <a:schemeClr val="tx1"/>
                </a:solidFill>
              </a:rPr>
              <a:t>heapify_up</a:t>
            </a:r>
            <a:r>
              <a:rPr lang="fr-FR" sz="2400" b="1" dirty="0">
                <a:solidFill>
                  <a:schemeClr val="tx1"/>
                </a:solidFill>
              </a:rPr>
              <a:t>(): </a:t>
            </a:r>
            <a:r>
              <a:rPr lang="fr-FR" sz="2400" dirty="0" err="1">
                <a:solidFill>
                  <a:schemeClr val="tx1"/>
                </a:solidFill>
              </a:rPr>
              <a:t>maintains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heap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property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after</a:t>
            </a:r>
            <a:r>
              <a:rPr lang="fr-FR" sz="2400" dirty="0">
                <a:solidFill>
                  <a:schemeClr val="tx1"/>
                </a:solidFill>
              </a:rPr>
              <a:t> insertion.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Consider an example: adding (2, T) to heap.</a:t>
            </a:r>
            <a:endParaRPr lang="fr-FR" sz="24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2A762E-C89D-8FB5-4104-0D8CA3048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368" y="2721727"/>
            <a:ext cx="6645230" cy="29267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BB0210-EA47-FC1E-1ABB-AC4180BE38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938" y="2704540"/>
            <a:ext cx="6570482" cy="294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5598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E7142FB2-A28A-EAD4-0DF5-E8EDA74D2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>
            <a:extLst>
              <a:ext uri="{FF2B5EF4-FFF2-40B4-BE49-F238E27FC236}">
                <a16:creationId xmlns:a16="http://schemas.microsoft.com/office/drawing/2014/main" id="{B3AF27F1-4FDE-DD71-EE4E-D3FA46165B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 err="1"/>
              <a:t>Heap</a:t>
            </a:r>
            <a:endParaRPr sz="3200" dirty="0"/>
          </a:p>
        </p:txBody>
      </p:sp>
      <p:sp>
        <p:nvSpPr>
          <p:cNvPr id="189" name="Google Shape;189;p23">
            <a:extLst>
              <a:ext uri="{FF2B5EF4-FFF2-40B4-BE49-F238E27FC236}">
                <a16:creationId xmlns:a16="http://schemas.microsoft.com/office/drawing/2014/main" id="{97C72158-82F0-9B33-7DC5-15D92AD17899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>
            <a:extLst>
              <a:ext uri="{FF2B5EF4-FFF2-40B4-BE49-F238E27FC236}">
                <a16:creationId xmlns:a16="http://schemas.microsoft.com/office/drawing/2014/main" id="{EBCAD7BB-9FB1-983A-162B-9F4FCBBA3398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>
            <a:extLst>
              <a:ext uri="{FF2B5EF4-FFF2-40B4-BE49-F238E27FC236}">
                <a16:creationId xmlns:a16="http://schemas.microsoft.com/office/drawing/2014/main" id="{3AE82C59-050F-DA35-AF94-54E9F14164B2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A2EB13-E639-A5B3-EADC-CE3200F256D0}"/>
              </a:ext>
            </a:extLst>
          </p:cNvPr>
          <p:cNvSpPr txBox="1"/>
          <p:nvPr/>
        </p:nvSpPr>
        <p:spPr>
          <a:xfrm>
            <a:off x="1061637" y="1256919"/>
            <a:ext cx="727774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400" b="1" dirty="0">
              <a:solidFill>
                <a:srgbClr val="0070C0"/>
              </a:solidFill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Starts with the root element, which is </a:t>
            </a:r>
            <a:r>
              <a:rPr lang="en-US" sz="2400" b="1" dirty="0">
                <a:solidFill>
                  <a:schemeClr val="tx1"/>
                </a:solidFill>
              </a:rPr>
              <a:t>replaced by </a:t>
            </a:r>
            <a:r>
              <a:rPr lang="en-US" sz="2400" dirty="0">
                <a:solidFill>
                  <a:schemeClr val="tx1"/>
                </a:solidFill>
              </a:rPr>
              <a:t>the </a:t>
            </a:r>
            <a:r>
              <a:rPr lang="en-US" sz="2400" b="1" dirty="0">
                <a:solidFill>
                  <a:schemeClr val="tx1"/>
                </a:solidFill>
              </a:rPr>
              <a:t>last</a:t>
            </a:r>
            <a:r>
              <a:rPr lang="en-US" sz="2400" dirty="0">
                <a:solidFill>
                  <a:schemeClr val="tx1"/>
                </a:solidFill>
              </a:rPr>
              <a:t> element in the heap.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Compares the new root with its children.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If the element is larger (in a min-heap) or smaller (in a max-heap) than any of its children, it is swapped with the smallest (or largest) child.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This process continues until the heap property is restored or the element reaches a leaf node.</a:t>
            </a:r>
            <a:endParaRPr lang="fr-FR" sz="24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B754E2-FBBC-E715-DBE2-EE501F50018F}"/>
              </a:ext>
            </a:extLst>
          </p:cNvPr>
          <p:cNvSpPr txBox="1"/>
          <p:nvPr/>
        </p:nvSpPr>
        <p:spPr>
          <a:xfrm>
            <a:off x="457200" y="681244"/>
            <a:ext cx="84016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400" b="1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chemeClr val="tx1"/>
                </a:solidFill>
              </a:rPr>
              <a:t>_</a:t>
            </a:r>
            <a:r>
              <a:rPr lang="fr-FR" sz="2400" b="1" dirty="0" err="1">
                <a:solidFill>
                  <a:schemeClr val="tx1"/>
                </a:solidFill>
              </a:rPr>
              <a:t>heapify_down</a:t>
            </a:r>
            <a:r>
              <a:rPr lang="fr-FR" sz="2400" b="1" dirty="0">
                <a:solidFill>
                  <a:schemeClr val="tx1"/>
                </a:solidFill>
              </a:rPr>
              <a:t>(): </a:t>
            </a:r>
            <a:r>
              <a:rPr lang="fr-FR" sz="2400" dirty="0" err="1">
                <a:solidFill>
                  <a:schemeClr val="tx1"/>
                </a:solidFill>
              </a:rPr>
              <a:t>maintains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heap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property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after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deletion</a:t>
            </a:r>
            <a:r>
              <a:rPr lang="fr-FR" sz="2400" dirty="0">
                <a:solidFill>
                  <a:schemeClr val="tx1"/>
                </a:solidFill>
              </a:rPr>
              <a:t>.</a:t>
            </a:r>
            <a:endParaRPr lang="fr-FR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05211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051D0410-562E-1EDF-21E9-B51CCA910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>
            <a:extLst>
              <a:ext uri="{FF2B5EF4-FFF2-40B4-BE49-F238E27FC236}">
                <a16:creationId xmlns:a16="http://schemas.microsoft.com/office/drawing/2014/main" id="{FAB38140-917A-16B8-644F-04CB66D5A3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 err="1"/>
              <a:t>Heap</a:t>
            </a:r>
            <a:endParaRPr sz="3200" dirty="0"/>
          </a:p>
        </p:txBody>
      </p:sp>
      <p:sp>
        <p:nvSpPr>
          <p:cNvPr id="189" name="Google Shape;189;p23">
            <a:extLst>
              <a:ext uri="{FF2B5EF4-FFF2-40B4-BE49-F238E27FC236}">
                <a16:creationId xmlns:a16="http://schemas.microsoft.com/office/drawing/2014/main" id="{605E8DFA-8093-5977-DB00-1BF405C01106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>
            <a:extLst>
              <a:ext uri="{FF2B5EF4-FFF2-40B4-BE49-F238E27FC236}">
                <a16:creationId xmlns:a16="http://schemas.microsoft.com/office/drawing/2014/main" id="{4F348E44-7E88-EEE6-A4CC-E2A91E681136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>
            <a:extLst>
              <a:ext uri="{FF2B5EF4-FFF2-40B4-BE49-F238E27FC236}">
                <a16:creationId xmlns:a16="http://schemas.microsoft.com/office/drawing/2014/main" id="{E841C8ED-AFDC-E165-11CD-1A0D6ABFA63A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427147-0E93-0397-BE0E-11C8158B03DB}"/>
              </a:ext>
            </a:extLst>
          </p:cNvPr>
          <p:cNvSpPr txBox="1"/>
          <p:nvPr/>
        </p:nvSpPr>
        <p:spPr>
          <a:xfrm>
            <a:off x="811781" y="731837"/>
            <a:ext cx="848661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400" b="1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chemeClr val="tx1"/>
                </a:solidFill>
              </a:rPr>
              <a:t>_</a:t>
            </a:r>
            <a:r>
              <a:rPr lang="fr-FR" sz="2400" b="1" dirty="0" err="1">
                <a:solidFill>
                  <a:schemeClr val="tx1"/>
                </a:solidFill>
              </a:rPr>
              <a:t>heapify_down</a:t>
            </a:r>
            <a:r>
              <a:rPr lang="fr-FR" sz="2400" b="1" dirty="0">
                <a:solidFill>
                  <a:schemeClr val="tx1"/>
                </a:solidFill>
              </a:rPr>
              <a:t>(): </a:t>
            </a:r>
            <a:r>
              <a:rPr lang="fr-FR" sz="2400" dirty="0" err="1">
                <a:solidFill>
                  <a:schemeClr val="tx1"/>
                </a:solidFill>
              </a:rPr>
              <a:t>maintains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heap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property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after</a:t>
            </a:r>
            <a:r>
              <a:rPr lang="fr-FR" sz="2400" dirty="0">
                <a:solidFill>
                  <a:schemeClr val="tx1"/>
                </a:solidFill>
              </a:rPr>
              <a:t> deletion.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Consider an example: removing (4, C) from the heap.</a:t>
            </a:r>
            <a:endParaRPr lang="fr-FR" sz="24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D55D03-22A3-B46A-A2FC-12875BC01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100" y="2862337"/>
            <a:ext cx="6339800" cy="272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0740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E63AD284-A435-4A9B-7FD6-3F4EF2F31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>
            <a:extLst>
              <a:ext uri="{FF2B5EF4-FFF2-40B4-BE49-F238E27FC236}">
                <a16:creationId xmlns:a16="http://schemas.microsoft.com/office/drawing/2014/main" id="{5971E05D-2987-7C4B-6B58-9DB521FE01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 err="1"/>
              <a:t>Heap</a:t>
            </a:r>
            <a:endParaRPr sz="3200" dirty="0"/>
          </a:p>
        </p:txBody>
      </p:sp>
      <p:sp>
        <p:nvSpPr>
          <p:cNvPr id="189" name="Google Shape;189;p23">
            <a:extLst>
              <a:ext uri="{FF2B5EF4-FFF2-40B4-BE49-F238E27FC236}">
                <a16:creationId xmlns:a16="http://schemas.microsoft.com/office/drawing/2014/main" id="{53FAAA28-DFA1-C183-414E-F87A0697F57B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>
            <a:extLst>
              <a:ext uri="{FF2B5EF4-FFF2-40B4-BE49-F238E27FC236}">
                <a16:creationId xmlns:a16="http://schemas.microsoft.com/office/drawing/2014/main" id="{CD25EA67-79AD-BC64-D312-B4D82F3B6500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>
            <a:extLst>
              <a:ext uri="{FF2B5EF4-FFF2-40B4-BE49-F238E27FC236}">
                <a16:creationId xmlns:a16="http://schemas.microsoft.com/office/drawing/2014/main" id="{8FE51FD6-2FE5-9D73-69EA-480A0E1B5D73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08638A-DE42-78DC-136F-2C5F64EDCB3B}"/>
              </a:ext>
            </a:extLst>
          </p:cNvPr>
          <p:cNvSpPr txBox="1"/>
          <p:nvPr/>
        </p:nvSpPr>
        <p:spPr>
          <a:xfrm>
            <a:off x="811781" y="731837"/>
            <a:ext cx="848661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400" b="1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chemeClr val="tx1"/>
                </a:solidFill>
              </a:rPr>
              <a:t>_</a:t>
            </a:r>
            <a:r>
              <a:rPr lang="fr-FR" sz="2400" b="1" dirty="0" err="1">
                <a:solidFill>
                  <a:schemeClr val="tx1"/>
                </a:solidFill>
              </a:rPr>
              <a:t>heapify_down</a:t>
            </a:r>
            <a:r>
              <a:rPr lang="fr-FR" sz="2400" b="1" dirty="0">
                <a:solidFill>
                  <a:schemeClr val="tx1"/>
                </a:solidFill>
              </a:rPr>
              <a:t>(): </a:t>
            </a:r>
            <a:r>
              <a:rPr lang="fr-FR" sz="2400" dirty="0" err="1">
                <a:solidFill>
                  <a:schemeClr val="tx1"/>
                </a:solidFill>
              </a:rPr>
              <a:t>maintains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heap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property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after</a:t>
            </a:r>
            <a:r>
              <a:rPr lang="fr-FR" sz="2400" dirty="0">
                <a:solidFill>
                  <a:schemeClr val="tx1"/>
                </a:solidFill>
              </a:rPr>
              <a:t> deletion.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Consider an example: removing (4, C) from the heap.</a:t>
            </a:r>
            <a:endParaRPr lang="fr-FR" sz="2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0964D6-CC7C-D4F5-5A20-79C36E07F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168" y="2613991"/>
            <a:ext cx="6269836" cy="293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2693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E205ADC8-02F5-8440-6316-5EF1D46C6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>
            <a:extLst>
              <a:ext uri="{FF2B5EF4-FFF2-40B4-BE49-F238E27FC236}">
                <a16:creationId xmlns:a16="http://schemas.microsoft.com/office/drawing/2014/main" id="{F5D3BDD0-2E17-9E74-424B-1120B669F6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 err="1"/>
              <a:t>Heap</a:t>
            </a:r>
            <a:endParaRPr sz="3200" dirty="0"/>
          </a:p>
        </p:txBody>
      </p:sp>
      <p:sp>
        <p:nvSpPr>
          <p:cNvPr id="189" name="Google Shape;189;p23">
            <a:extLst>
              <a:ext uri="{FF2B5EF4-FFF2-40B4-BE49-F238E27FC236}">
                <a16:creationId xmlns:a16="http://schemas.microsoft.com/office/drawing/2014/main" id="{B59EE533-B726-3DA8-AA1C-59FC607EFA56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>
            <a:extLst>
              <a:ext uri="{FF2B5EF4-FFF2-40B4-BE49-F238E27FC236}">
                <a16:creationId xmlns:a16="http://schemas.microsoft.com/office/drawing/2014/main" id="{E9560BC4-C86B-0993-F870-A1C4713956FD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>
            <a:extLst>
              <a:ext uri="{FF2B5EF4-FFF2-40B4-BE49-F238E27FC236}">
                <a16:creationId xmlns:a16="http://schemas.microsoft.com/office/drawing/2014/main" id="{528B27B6-54EB-F5FF-E0EB-E1D5066788DD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ECD0C4-9D43-8E95-722A-346B488641DB}"/>
              </a:ext>
            </a:extLst>
          </p:cNvPr>
          <p:cNvSpPr txBox="1"/>
          <p:nvPr/>
        </p:nvSpPr>
        <p:spPr>
          <a:xfrm>
            <a:off x="811781" y="731837"/>
            <a:ext cx="848661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400" b="1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chemeClr val="tx1"/>
                </a:solidFill>
              </a:rPr>
              <a:t>_</a:t>
            </a:r>
            <a:r>
              <a:rPr lang="fr-FR" sz="2400" b="1" dirty="0" err="1">
                <a:solidFill>
                  <a:schemeClr val="tx1"/>
                </a:solidFill>
              </a:rPr>
              <a:t>heapify_down</a:t>
            </a:r>
            <a:r>
              <a:rPr lang="fr-FR" sz="2400" b="1" dirty="0">
                <a:solidFill>
                  <a:schemeClr val="tx1"/>
                </a:solidFill>
              </a:rPr>
              <a:t>(): </a:t>
            </a:r>
            <a:r>
              <a:rPr lang="fr-FR" sz="2400" dirty="0" err="1">
                <a:solidFill>
                  <a:schemeClr val="tx1"/>
                </a:solidFill>
              </a:rPr>
              <a:t>maintains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heap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property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after</a:t>
            </a:r>
            <a:r>
              <a:rPr lang="fr-FR" sz="2400" dirty="0">
                <a:solidFill>
                  <a:schemeClr val="tx1"/>
                </a:solidFill>
              </a:rPr>
              <a:t> deletion.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Consider an example: removing (4, C) from the heap.</a:t>
            </a:r>
            <a:endParaRPr lang="fr-FR" sz="2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FB602B-7CD2-5A52-EC53-E636B8D6E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726" y="2655486"/>
            <a:ext cx="6200387" cy="288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1258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382550A3-5E6E-82F7-75FA-4DCA508BF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>
            <a:extLst>
              <a:ext uri="{FF2B5EF4-FFF2-40B4-BE49-F238E27FC236}">
                <a16:creationId xmlns:a16="http://schemas.microsoft.com/office/drawing/2014/main" id="{E23A3DC0-896B-3F22-6DCC-4A70DFE9A2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 err="1"/>
              <a:t>Heap</a:t>
            </a:r>
            <a:endParaRPr sz="3200" dirty="0"/>
          </a:p>
        </p:txBody>
      </p:sp>
      <p:sp>
        <p:nvSpPr>
          <p:cNvPr id="189" name="Google Shape;189;p23">
            <a:extLst>
              <a:ext uri="{FF2B5EF4-FFF2-40B4-BE49-F238E27FC236}">
                <a16:creationId xmlns:a16="http://schemas.microsoft.com/office/drawing/2014/main" id="{FFCF0D66-39FE-5C21-C023-1D0937F33DAF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>
            <a:extLst>
              <a:ext uri="{FF2B5EF4-FFF2-40B4-BE49-F238E27FC236}">
                <a16:creationId xmlns:a16="http://schemas.microsoft.com/office/drawing/2014/main" id="{7AF7CB30-FA66-9024-B035-EBB829C076F0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>
            <a:extLst>
              <a:ext uri="{FF2B5EF4-FFF2-40B4-BE49-F238E27FC236}">
                <a16:creationId xmlns:a16="http://schemas.microsoft.com/office/drawing/2014/main" id="{789D8438-BDF5-92D2-71EB-E0DCDF80C49B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F818C9-822A-CD09-F6B8-3B4904F9B358}"/>
              </a:ext>
            </a:extLst>
          </p:cNvPr>
          <p:cNvSpPr txBox="1"/>
          <p:nvPr/>
        </p:nvSpPr>
        <p:spPr>
          <a:xfrm>
            <a:off x="811781" y="731837"/>
            <a:ext cx="857157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400" b="1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chemeClr val="tx1"/>
                </a:solidFill>
              </a:rPr>
              <a:t>_</a:t>
            </a:r>
            <a:r>
              <a:rPr lang="fr-FR" sz="2400" b="1" dirty="0" err="1">
                <a:solidFill>
                  <a:schemeClr val="tx1"/>
                </a:solidFill>
              </a:rPr>
              <a:t>heapify_down</a:t>
            </a:r>
            <a:r>
              <a:rPr lang="fr-FR" sz="2400" b="1" dirty="0">
                <a:solidFill>
                  <a:schemeClr val="tx1"/>
                </a:solidFill>
              </a:rPr>
              <a:t>(): </a:t>
            </a:r>
            <a:r>
              <a:rPr lang="fr-FR" sz="2400" dirty="0" err="1">
                <a:solidFill>
                  <a:schemeClr val="tx1"/>
                </a:solidFill>
              </a:rPr>
              <a:t>maintains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heap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property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after</a:t>
            </a:r>
            <a:r>
              <a:rPr lang="fr-FR" sz="2400" dirty="0">
                <a:solidFill>
                  <a:schemeClr val="tx1"/>
                </a:solidFill>
              </a:rPr>
              <a:t> deletion.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Consider an example: removing (4, C) from the heap.</a:t>
            </a:r>
            <a:endParaRPr lang="fr-FR" sz="2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6ABB28-9EC6-AE1E-F564-3509FD605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860" y="2634137"/>
            <a:ext cx="6240959" cy="294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4321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7917148F-CF8A-BFFE-E7E7-BCAF17424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>
            <a:extLst>
              <a:ext uri="{FF2B5EF4-FFF2-40B4-BE49-F238E27FC236}">
                <a16:creationId xmlns:a16="http://schemas.microsoft.com/office/drawing/2014/main" id="{47942161-3D07-F6A7-0DCB-98EDCD6B4F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 err="1"/>
              <a:t>Heap</a:t>
            </a:r>
            <a:endParaRPr sz="3200" dirty="0"/>
          </a:p>
        </p:txBody>
      </p:sp>
      <p:sp>
        <p:nvSpPr>
          <p:cNvPr id="189" name="Google Shape;189;p23">
            <a:extLst>
              <a:ext uri="{FF2B5EF4-FFF2-40B4-BE49-F238E27FC236}">
                <a16:creationId xmlns:a16="http://schemas.microsoft.com/office/drawing/2014/main" id="{45B97D43-7174-168E-CF1D-FB971D96D15F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>
            <a:extLst>
              <a:ext uri="{FF2B5EF4-FFF2-40B4-BE49-F238E27FC236}">
                <a16:creationId xmlns:a16="http://schemas.microsoft.com/office/drawing/2014/main" id="{B1794471-B35C-5175-856B-555F8057015F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>
            <a:extLst>
              <a:ext uri="{FF2B5EF4-FFF2-40B4-BE49-F238E27FC236}">
                <a16:creationId xmlns:a16="http://schemas.microsoft.com/office/drawing/2014/main" id="{175689A8-D808-E789-ACDF-396CCA96C985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A3A78F-624F-AFA1-F746-37AB15879FF8}"/>
              </a:ext>
            </a:extLst>
          </p:cNvPr>
          <p:cNvSpPr txBox="1"/>
          <p:nvPr/>
        </p:nvSpPr>
        <p:spPr>
          <a:xfrm>
            <a:off x="811781" y="731837"/>
            <a:ext cx="848661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400" b="1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chemeClr val="tx1"/>
                </a:solidFill>
              </a:rPr>
              <a:t>_</a:t>
            </a:r>
            <a:r>
              <a:rPr lang="fr-FR" sz="2400" b="1" dirty="0" err="1">
                <a:solidFill>
                  <a:schemeClr val="tx1"/>
                </a:solidFill>
              </a:rPr>
              <a:t>heapify_down</a:t>
            </a:r>
            <a:r>
              <a:rPr lang="fr-FR" sz="2400" b="1" dirty="0">
                <a:solidFill>
                  <a:schemeClr val="tx1"/>
                </a:solidFill>
              </a:rPr>
              <a:t>(): </a:t>
            </a:r>
            <a:r>
              <a:rPr lang="fr-FR" sz="2400" dirty="0" err="1">
                <a:solidFill>
                  <a:schemeClr val="tx1"/>
                </a:solidFill>
              </a:rPr>
              <a:t>maintains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heap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property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after</a:t>
            </a:r>
            <a:r>
              <a:rPr lang="fr-FR" sz="2400" dirty="0">
                <a:solidFill>
                  <a:schemeClr val="tx1"/>
                </a:solidFill>
              </a:rPr>
              <a:t> deletion.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Consider an example: removing (4, C) from the heap.</a:t>
            </a:r>
            <a:endParaRPr lang="fr-FR" sz="2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89F810-BB14-CDB4-77FB-24299358C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859" y="2665344"/>
            <a:ext cx="6240959" cy="282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4570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8F7D4B73-23D7-FEF5-D8F6-839FC7E86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>
            <a:extLst>
              <a:ext uri="{FF2B5EF4-FFF2-40B4-BE49-F238E27FC236}">
                <a16:creationId xmlns:a16="http://schemas.microsoft.com/office/drawing/2014/main" id="{95BF039C-6466-6BB3-7617-AB9CC19158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 err="1"/>
              <a:t>Heap</a:t>
            </a:r>
            <a:endParaRPr sz="3200" dirty="0"/>
          </a:p>
        </p:txBody>
      </p:sp>
      <p:sp>
        <p:nvSpPr>
          <p:cNvPr id="189" name="Google Shape;189;p23">
            <a:extLst>
              <a:ext uri="{FF2B5EF4-FFF2-40B4-BE49-F238E27FC236}">
                <a16:creationId xmlns:a16="http://schemas.microsoft.com/office/drawing/2014/main" id="{51163C53-3E95-3A14-3ADB-C5B45C0DC755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>
            <a:extLst>
              <a:ext uri="{FF2B5EF4-FFF2-40B4-BE49-F238E27FC236}">
                <a16:creationId xmlns:a16="http://schemas.microsoft.com/office/drawing/2014/main" id="{757A341D-7C77-1A28-A1E9-D9E1B258FE0F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>
            <a:extLst>
              <a:ext uri="{FF2B5EF4-FFF2-40B4-BE49-F238E27FC236}">
                <a16:creationId xmlns:a16="http://schemas.microsoft.com/office/drawing/2014/main" id="{C963B012-2AFB-931C-F649-D159B195BC45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BABEE8-2CD8-8389-98CA-D0619C46898E}"/>
              </a:ext>
            </a:extLst>
          </p:cNvPr>
          <p:cNvSpPr txBox="1"/>
          <p:nvPr/>
        </p:nvSpPr>
        <p:spPr>
          <a:xfrm>
            <a:off x="811781" y="731837"/>
            <a:ext cx="848661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400" b="1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chemeClr val="tx1"/>
                </a:solidFill>
              </a:rPr>
              <a:t>_</a:t>
            </a:r>
            <a:r>
              <a:rPr lang="fr-FR" sz="2400" b="1" dirty="0" err="1">
                <a:solidFill>
                  <a:schemeClr val="tx1"/>
                </a:solidFill>
              </a:rPr>
              <a:t>heapify_down</a:t>
            </a:r>
            <a:r>
              <a:rPr lang="fr-FR" sz="2400" b="1" dirty="0">
                <a:solidFill>
                  <a:schemeClr val="tx1"/>
                </a:solidFill>
              </a:rPr>
              <a:t>(): </a:t>
            </a:r>
            <a:r>
              <a:rPr lang="fr-FR" sz="2400" dirty="0" err="1">
                <a:solidFill>
                  <a:schemeClr val="tx1"/>
                </a:solidFill>
              </a:rPr>
              <a:t>maintains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heap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property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after</a:t>
            </a:r>
            <a:r>
              <a:rPr lang="fr-FR" sz="2400" dirty="0">
                <a:solidFill>
                  <a:schemeClr val="tx1"/>
                </a:solidFill>
              </a:rPr>
              <a:t> deletion.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Consider an example: removing (4, C) from the heap.</a:t>
            </a:r>
            <a:endParaRPr lang="fr-FR" sz="2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C16AB5-CA10-EAE1-1011-D21D8BF93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859" y="2757268"/>
            <a:ext cx="6281927" cy="28268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4D680A-D78A-3749-D994-010CDD90B794}"/>
              </a:ext>
            </a:extLst>
          </p:cNvPr>
          <p:cNvSpPr txBox="1"/>
          <p:nvPr/>
        </p:nvSpPr>
        <p:spPr>
          <a:xfrm>
            <a:off x="907683" y="5899082"/>
            <a:ext cx="6571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77000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>
          <a:extLst>
            <a:ext uri="{FF2B5EF4-FFF2-40B4-BE49-F238E27FC236}">
              <a16:creationId xmlns:a16="http://schemas.microsoft.com/office/drawing/2014/main" id="{7D920527-CC10-A4C9-0FEB-0573074A4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>
            <a:extLst>
              <a:ext uri="{FF2B5EF4-FFF2-40B4-BE49-F238E27FC236}">
                <a16:creationId xmlns:a16="http://schemas.microsoft.com/office/drawing/2014/main" id="{55399365-D14A-ACD0-5533-2BBEC86426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 err="1"/>
              <a:t>Heap</a:t>
            </a:r>
            <a:endParaRPr sz="3200" dirty="0"/>
          </a:p>
        </p:txBody>
      </p:sp>
      <p:sp>
        <p:nvSpPr>
          <p:cNvPr id="201" name="Google Shape;201;p24">
            <a:extLst>
              <a:ext uri="{FF2B5EF4-FFF2-40B4-BE49-F238E27FC236}">
                <a16:creationId xmlns:a16="http://schemas.microsoft.com/office/drawing/2014/main" id="{D66F5FB2-9DD8-864D-C109-0F885AA00869}"/>
              </a:ext>
            </a:extLst>
          </p:cNvPr>
          <p:cNvSpPr/>
          <p:nvPr/>
        </p:nvSpPr>
        <p:spPr>
          <a:xfrm>
            <a:off x="0" y="6583363"/>
            <a:ext cx="9144000" cy="274500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4">
            <a:extLst>
              <a:ext uri="{FF2B5EF4-FFF2-40B4-BE49-F238E27FC236}">
                <a16:creationId xmlns:a16="http://schemas.microsoft.com/office/drawing/2014/main" id="{0A0473CF-F832-5818-0499-7D97A2372072}"/>
              </a:ext>
            </a:extLst>
          </p:cNvPr>
          <p:cNvSpPr/>
          <p:nvPr/>
        </p:nvSpPr>
        <p:spPr>
          <a:xfrm>
            <a:off x="0" y="618766"/>
            <a:ext cx="1445400" cy="113100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4">
            <a:extLst>
              <a:ext uri="{FF2B5EF4-FFF2-40B4-BE49-F238E27FC236}">
                <a16:creationId xmlns:a16="http://schemas.microsoft.com/office/drawing/2014/main" id="{1E578958-C3C0-C563-D454-111054E6625D}"/>
              </a:ext>
            </a:extLst>
          </p:cNvPr>
          <p:cNvSpPr/>
          <p:nvPr/>
        </p:nvSpPr>
        <p:spPr>
          <a:xfrm>
            <a:off x="1514168" y="618766"/>
            <a:ext cx="7629900" cy="11310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D1207B7-FD5A-6872-FE2F-177634290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10" y="822960"/>
            <a:ext cx="7634719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 of Heap Class in Python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722700" y="1280160"/>
            <a:ext cx="8138160" cy="4754880"/>
          </a:xfrm>
          <a:prstGeom prst="roundRect">
            <a:avLst/>
          </a:prstGeom>
          <a:solidFill>
            <a:srgbClr val="181A22"/>
          </a:solidFill>
          <a:ln w="12700">
            <a:solidFill>
              <a:srgbClr val="41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defRPr sz="1000">
                <a:solidFill>
                  <a:srgbClr val="6EA06E"/>
                </a:solidFill>
                <a:latin typeface="Consolas"/>
              </a:defRPr>
            </a:pPr>
            <a:r>
              <a:rPr lang="en-US" dirty="0"/>
              <a:t># </a:t>
            </a:r>
            <a:r>
              <a:rPr dirty="0"/>
              <a:t>Binary Heap in Python (Lecture-Code/Heap.py)</a:t>
            </a:r>
          </a:p>
          <a:p>
            <a:pPr>
              <a:defRPr sz="1000">
                <a:solidFill>
                  <a:srgbClr val="E6EBF5"/>
                </a:solidFill>
                <a:latin typeface="Consolas"/>
              </a:defRPr>
            </a:pPr>
            <a:r>
              <a:rPr dirty="0"/>
              <a:t>import </a:t>
            </a:r>
            <a:r>
              <a:rPr dirty="0" err="1"/>
              <a:t>heapq</a:t>
            </a:r>
            <a:endParaRPr dirty="0"/>
          </a:p>
          <a:p>
            <a:pPr>
              <a:defRPr sz="1000">
                <a:solidFill>
                  <a:srgbClr val="E6EBF5"/>
                </a:solidFill>
                <a:latin typeface="Consolas"/>
              </a:defRPr>
            </a:pPr>
            <a:endParaRPr dirty="0"/>
          </a:p>
          <a:p>
            <a:pPr>
              <a:defRPr sz="1000">
                <a:solidFill>
                  <a:srgbClr val="6EA06E"/>
                </a:solidFill>
                <a:latin typeface="Consolas"/>
              </a:defRPr>
            </a:pPr>
            <a:r>
              <a:rPr dirty="0"/>
              <a:t># 1. Custom </a:t>
            </a:r>
            <a:r>
              <a:rPr dirty="0" err="1"/>
              <a:t>MinHeap</a:t>
            </a:r>
            <a:r>
              <a:rPr dirty="0"/>
              <a:t> from Scratch (Array-based)</a:t>
            </a:r>
          </a:p>
          <a:p>
            <a:pPr>
              <a:defRPr sz="1000">
                <a:solidFill>
                  <a:srgbClr val="E6EBF5"/>
                </a:solidFill>
                <a:latin typeface="Consolas"/>
              </a:defRPr>
            </a:pPr>
            <a:r>
              <a:rPr dirty="0"/>
              <a:t>heap = </a:t>
            </a:r>
            <a:r>
              <a:rPr dirty="0" err="1"/>
              <a:t>MinHeap</a:t>
            </a:r>
            <a:r>
              <a:rPr dirty="0"/>
              <a:t>()</a:t>
            </a:r>
          </a:p>
          <a:p>
            <a:pPr>
              <a:defRPr sz="1000">
                <a:solidFill>
                  <a:srgbClr val="E6EBF5"/>
                </a:solidFill>
                <a:latin typeface="Consolas"/>
              </a:defRPr>
            </a:pPr>
            <a:r>
              <a:rPr dirty="0"/>
              <a:t>for x in [10, 5, 20, 3, 7, 15, 25]:</a:t>
            </a:r>
          </a:p>
          <a:p>
            <a:pPr>
              <a:defRPr sz="1000">
                <a:solidFill>
                  <a:srgbClr val="E6EBF5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heap.insert</a:t>
            </a:r>
            <a:r>
              <a:rPr dirty="0"/>
              <a:t>(x)                         </a:t>
            </a:r>
          </a:p>
          <a:p>
            <a:pPr>
              <a:defRPr sz="1000">
                <a:solidFill>
                  <a:srgbClr val="E6EBF5"/>
                </a:solidFill>
                <a:latin typeface="Consolas"/>
              </a:defRPr>
            </a:pPr>
            <a:r>
              <a:rPr dirty="0"/>
              <a:t>print('Min element:', </a:t>
            </a:r>
            <a:r>
              <a:rPr dirty="0" err="1"/>
              <a:t>heap.peek</a:t>
            </a:r>
            <a:r>
              <a:rPr dirty="0"/>
              <a:t>())         </a:t>
            </a:r>
          </a:p>
          <a:p>
            <a:pPr>
              <a:defRPr sz="1000">
                <a:solidFill>
                  <a:srgbClr val="E6EBF5"/>
                </a:solidFill>
                <a:latin typeface="Consolas"/>
              </a:defRPr>
            </a:pPr>
            <a:r>
              <a:rPr dirty="0"/>
              <a:t>print('Extracted min:', </a:t>
            </a:r>
            <a:r>
              <a:rPr dirty="0" err="1"/>
              <a:t>heap.extract_min</a:t>
            </a:r>
            <a:r>
              <a:rPr dirty="0"/>
              <a:t>()) </a:t>
            </a:r>
          </a:p>
          <a:p>
            <a:pPr>
              <a:defRPr sz="1000">
                <a:solidFill>
                  <a:srgbClr val="E6EBF5"/>
                </a:solidFill>
                <a:latin typeface="Consolas"/>
              </a:defRPr>
            </a:pPr>
            <a:endParaRPr dirty="0"/>
          </a:p>
          <a:p>
            <a:pPr>
              <a:defRPr sz="1000">
                <a:solidFill>
                  <a:srgbClr val="6EA06E"/>
                </a:solidFill>
                <a:latin typeface="Consolas"/>
              </a:defRPr>
            </a:pPr>
            <a:r>
              <a:rPr dirty="0"/>
              <a:t># 2. Built-in Python </a:t>
            </a:r>
            <a:r>
              <a:rPr dirty="0" err="1"/>
              <a:t>heapq</a:t>
            </a:r>
            <a:r>
              <a:rPr dirty="0"/>
              <a:t> Module (Production Grade)</a:t>
            </a:r>
          </a:p>
          <a:p>
            <a:pPr>
              <a:defRPr sz="1000">
                <a:solidFill>
                  <a:srgbClr val="E6EBF5"/>
                </a:solidFill>
                <a:latin typeface="Consolas"/>
              </a:defRPr>
            </a:pPr>
            <a:r>
              <a:rPr dirty="0"/>
              <a:t>data = [10, 5, 20, 3, 7, 15, 25]</a:t>
            </a:r>
          </a:p>
          <a:p>
            <a:pPr>
              <a:defRPr sz="1000">
                <a:solidFill>
                  <a:srgbClr val="E6EBF5"/>
                </a:solidFill>
                <a:latin typeface="Consolas"/>
              </a:defRPr>
            </a:pPr>
            <a:r>
              <a:rPr dirty="0" err="1"/>
              <a:t>heapq.heapify</a:t>
            </a:r>
            <a:r>
              <a:rPr dirty="0"/>
              <a:t>(data)                        </a:t>
            </a:r>
            <a:endParaRPr lang="en-US" dirty="0"/>
          </a:p>
          <a:p>
            <a:pPr>
              <a:defRPr sz="1000">
                <a:solidFill>
                  <a:srgbClr val="E6EBF5"/>
                </a:solidFill>
                <a:latin typeface="Consolas"/>
              </a:defRPr>
            </a:pPr>
            <a:r>
              <a:rPr lang="en-US" dirty="0" err="1"/>
              <a:t>heapq.heappush</a:t>
            </a:r>
            <a:r>
              <a:rPr lang="en-US" dirty="0"/>
              <a:t>(data, 1)                    </a:t>
            </a:r>
          </a:p>
          <a:p>
            <a:pPr>
              <a:defRPr sz="1000">
                <a:solidFill>
                  <a:srgbClr val="E6EBF5"/>
                </a:solidFill>
                <a:latin typeface="Consolas"/>
              </a:defRPr>
            </a:pPr>
            <a:r>
              <a:rPr dirty="0"/>
              <a:t>smallest = </a:t>
            </a:r>
            <a:r>
              <a:rPr dirty="0" err="1"/>
              <a:t>heapq.heappop</a:t>
            </a:r>
            <a:r>
              <a:rPr dirty="0"/>
              <a:t>(data)             </a:t>
            </a:r>
          </a:p>
          <a:p>
            <a:pPr>
              <a:defRPr sz="1000">
                <a:solidFill>
                  <a:srgbClr val="E6EBF5"/>
                </a:solidFill>
                <a:latin typeface="Consolas"/>
              </a:defRPr>
            </a:pPr>
            <a:r>
              <a:rPr dirty="0"/>
              <a:t>print('3 Smallest:', </a:t>
            </a:r>
            <a:r>
              <a:rPr dirty="0" err="1"/>
              <a:t>heapq.nsmallest</a:t>
            </a:r>
            <a:r>
              <a:rPr dirty="0"/>
              <a:t>(3, data)) # [3, 5, 7]</a:t>
            </a:r>
          </a:p>
        </p:txBody>
      </p:sp>
    </p:spTree>
    <p:extLst>
      <p:ext uri="{BB962C8B-B14F-4D97-AF65-F5344CB8AC3E}">
        <p14:creationId xmlns:p14="http://schemas.microsoft.com/office/powerpoint/2010/main" val="33793663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85912-47BB-EF81-571A-A9AA8A21F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295FB-9027-9E7A-E839-EC38883EE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14714"/>
            <a:ext cx="8229600" cy="1143000"/>
          </a:xfrm>
        </p:spPr>
        <p:txBody>
          <a:bodyPr/>
          <a:lstStyle/>
          <a:p>
            <a:r>
              <a:rPr lang="fr-FR" dirty="0"/>
              <a:t>Hash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4363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blockchain&#10;&#10;AI-generated content may be incorrect.">
            <a:extLst>
              <a:ext uri="{FF2B5EF4-FFF2-40B4-BE49-F238E27FC236}">
                <a16:creationId xmlns:a16="http://schemas.microsoft.com/office/drawing/2014/main" id="{F92F77C9-106D-11C0-0F2B-9A66DE545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457" y="4118428"/>
            <a:ext cx="4526229" cy="2565380"/>
          </a:xfrm>
          <a:prstGeom prst="rect">
            <a:avLst/>
          </a:prstGeom>
        </p:spPr>
      </p:pic>
      <p:sp>
        <p:nvSpPr>
          <p:cNvPr id="211" name="Google Shape;211;p25"/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dirty="0"/>
              <a:t>Hash Table</a:t>
            </a:r>
            <a:endParaRPr sz="3200" dirty="0"/>
          </a:p>
        </p:txBody>
      </p:sp>
      <p:sp>
        <p:nvSpPr>
          <p:cNvPr id="212" name="Google Shape;212;p25"/>
          <p:cNvSpPr/>
          <p:nvPr/>
        </p:nvSpPr>
        <p:spPr>
          <a:xfrm>
            <a:off x="0" y="6583363"/>
            <a:ext cx="9144000" cy="274500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5"/>
          <p:cNvSpPr/>
          <p:nvPr/>
        </p:nvSpPr>
        <p:spPr>
          <a:xfrm>
            <a:off x="0" y="618766"/>
            <a:ext cx="1445400" cy="113100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5"/>
          <p:cNvSpPr/>
          <p:nvPr/>
        </p:nvSpPr>
        <p:spPr>
          <a:xfrm>
            <a:off x="1514168" y="618766"/>
            <a:ext cx="7629900" cy="11310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5"/>
          <p:cNvSpPr txBox="1"/>
          <p:nvPr/>
        </p:nvSpPr>
        <p:spPr>
          <a:xfrm>
            <a:off x="369000" y="931461"/>
            <a:ext cx="8082000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Char char="•"/>
            </a:pP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0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hash table </a:t>
            </a: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(low-level dictionary) is </a:t>
            </a: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data structure that maps </a:t>
            </a:r>
            <a:r>
              <a:rPr lang="en-US" sz="20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keys</a:t>
            </a: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to </a:t>
            </a:r>
            <a:r>
              <a:rPr lang="en-US" sz="20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values</a:t>
            </a: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using a </a:t>
            </a:r>
            <a:r>
              <a:rPr lang="en-US" sz="20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hash</a:t>
            </a: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function.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Char char="•"/>
            </a:pPr>
            <a:endParaRPr lang="en-US" sz="20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Char char="•"/>
            </a:pP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It’s efficient in operations: insertion, deletion, and lookup (often done in constant time).</a:t>
            </a:r>
            <a:endParaRPr sz="1200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25"/>
          <p:cNvSpPr txBox="1"/>
          <p:nvPr/>
        </p:nvSpPr>
        <p:spPr>
          <a:xfrm>
            <a:off x="369000" y="2633281"/>
            <a:ext cx="7993800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❖"/>
            </a:pPr>
            <a:r>
              <a:rPr lang="en-US" sz="20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Important Operations of Basic Hash Table: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_</a:t>
            </a:r>
            <a:r>
              <a:rPr lang="en-US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hash_function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(key):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Computes the index for a given key.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insert(key, value):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inserting key-value pair into to the hash table.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get(key):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Retrieves the value associated with a given key.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delete(key):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Removes a key-value pair from the hash table.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>
          <a:extLst>
            <a:ext uri="{FF2B5EF4-FFF2-40B4-BE49-F238E27FC236}">
              <a16:creationId xmlns:a16="http://schemas.microsoft.com/office/drawing/2014/main" id="{955A2EE0-7F2E-2EC4-52CF-07C035391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>
            <a:extLst>
              <a:ext uri="{FF2B5EF4-FFF2-40B4-BE49-F238E27FC236}">
                <a16:creationId xmlns:a16="http://schemas.microsoft.com/office/drawing/2014/main" id="{C840B880-ED9B-2288-E9BD-35573F57FD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dirty="0"/>
              <a:t>Hash Table</a:t>
            </a:r>
            <a:endParaRPr sz="3200" dirty="0"/>
          </a:p>
        </p:txBody>
      </p:sp>
      <p:sp>
        <p:nvSpPr>
          <p:cNvPr id="212" name="Google Shape;212;p25">
            <a:extLst>
              <a:ext uri="{FF2B5EF4-FFF2-40B4-BE49-F238E27FC236}">
                <a16:creationId xmlns:a16="http://schemas.microsoft.com/office/drawing/2014/main" id="{2466BC01-F151-9EEB-4EFE-63A1918C9E76}"/>
              </a:ext>
            </a:extLst>
          </p:cNvPr>
          <p:cNvSpPr/>
          <p:nvPr/>
        </p:nvSpPr>
        <p:spPr>
          <a:xfrm>
            <a:off x="0" y="6583363"/>
            <a:ext cx="9144000" cy="274500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5">
            <a:extLst>
              <a:ext uri="{FF2B5EF4-FFF2-40B4-BE49-F238E27FC236}">
                <a16:creationId xmlns:a16="http://schemas.microsoft.com/office/drawing/2014/main" id="{926B51FA-CF91-453D-D8DE-2EBDEF0D7590}"/>
              </a:ext>
            </a:extLst>
          </p:cNvPr>
          <p:cNvSpPr/>
          <p:nvPr/>
        </p:nvSpPr>
        <p:spPr>
          <a:xfrm>
            <a:off x="0" y="618766"/>
            <a:ext cx="1445400" cy="113100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5">
            <a:extLst>
              <a:ext uri="{FF2B5EF4-FFF2-40B4-BE49-F238E27FC236}">
                <a16:creationId xmlns:a16="http://schemas.microsoft.com/office/drawing/2014/main" id="{B7889369-1FE3-6B4E-686C-921FB9AC66A1}"/>
              </a:ext>
            </a:extLst>
          </p:cNvPr>
          <p:cNvSpPr/>
          <p:nvPr/>
        </p:nvSpPr>
        <p:spPr>
          <a:xfrm>
            <a:off x="1514168" y="618766"/>
            <a:ext cx="7629900" cy="11310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Google Shape;215;p25">
                <a:extLst>
                  <a:ext uri="{FF2B5EF4-FFF2-40B4-BE49-F238E27FC236}">
                    <a16:creationId xmlns:a16="http://schemas.microsoft.com/office/drawing/2014/main" id="{85ADCE10-A7AF-496A-3000-50EC30B46105}"/>
                  </a:ext>
                </a:extLst>
              </p:cNvPr>
              <p:cNvSpPr txBox="1"/>
              <p:nvPr/>
            </p:nvSpPr>
            <p:spPr>
              <a:xfrm>
                <a:off x="369000" y="793697"/>
                <a:ext cx="8441368" cy="56476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Wingdings" panose="05000000000000000000" pitchFamily="2" charset="2"/>
                  <a:buChar char="v"/>
                </a:pPr>
                <a:r>
                  <a:rPr lang="en-US" sz="190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Hash function</a:t>
                </a:r>
              </a:p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Wingdings" panose="05000000000000000000" pitchFamily="2" charset="2"/>
                  <a:buChar char="v"/>
                </a:pPr>
                <a:endParaRPr lang="en-US" sz="1900" b="1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Inter"/>
                  <a:buChar char="•"/>
                </a:pPr>
                <a:r>
                  <a:rPr lang="en-US" sz="1900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In mapping from </a:t>
                </a:r>
                <a:r>
                  <a:rPr lang="en-US" sz="1900" b="1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keys</a:t>
                </a:r>
                <a:r>
                  <a:rPr lang="en-US" sz="1900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 to values, </a:t>
                </a:r>
                <a:r>
                  <a:rPr lang="en-US" sz="1900" b="1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keys</a:t>
                </a:r>
                <a:r>
                  <a:rPr lang="en-US" sz="1900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 can be anything. Hash function converts </a:t>
                </a:r>
                <a:r>
                  <a:rPr lang="en-US" sz="1900" b="1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keys</a:t>
                </a:r>
                <a:r>
                  <a:rPr lang="en-US" sz="1900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 into a unique </a:t>
                </a:r>
                <a:r>
                  <a:rPr lang="en-US" sz="1900" b="1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index</a:t>
                </a:r>
                <a:r>
                  <a:rPr lang="en-US" sz="1900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 (mostly integers).</a:t>
                </a:r>
              </a:p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Inter"/>
                  <a:buChar char="•"/>
                </a:pPr>
                <a:endParaRPr lang="en-US" sz="1900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Inter"/>
                  <a:buChar char="•"/>
                </a:pPr>
                <a:r>
                  <a:rPr lang="en-US" sz="19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Instead of matching original keys (which can be strings or other mutable objects), the </a:t>
                </a:r>
                <a:r>
                  <a:rPr lang="en-US" sz="190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hashed</a:t>
                </a:r>
                <a:r>
                  <a:rPr lang="en-US" sz="19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lang="en-US" sz="190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index</a:t>
                </a:r>
                <a:r>
                  <a:rPr lang="en-US" sz="19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 is always an integer, making it easier to match with its corresponding value.</a:t>
                </a:r>
              </a:p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Inter"/>
                  <a:buChar char="•"/>
                </a:pPr>
                <a:endParaRPr lang="en-US" sz="1900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Inter"/>
                  <a:buChar char="•"/>
                </a:pPr>
                <a:r>
                  <a:rPr lang="en-US" sz="1900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Example: </a:t>
                </a:r>
                <a:r>
                  <a:rPr lang="en-US" sz="190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Modulo hash for a table of size </a:t>
                </a:r>
                <a14:m>
                  <m:oMath xmlns:m="http://schemas.openxmlformats.org/officeDocument/2006/math">
                    <m:r>
                      <a:rPr lang="fr-FR" sz="1900" b="1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Inter"/>
                        <a:cs typeface="Inter"/>
                        <a:sym typeface="Inter"/>
                      </a:rPr>
                      <m:t>𝒏</m:t>
                    </m:r>
                  </m:oMath>
                </a14:m>
                <a:r>
                  <a:rPr lang="en-US" sz="190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 is defined by</a:t>
                </a:r>
              </a:p>
              <a:p>
                <a:pPr lvl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</a:pPr>
                <a:r>
                  <a:rPr lang="en-US" sz="190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			</a:t>
                </a:r>
                <a14:m>
                  <m:oMath xmlns:m="http://schemas.openxmlformats.org/officeDocument/2006/math">
                    <m:r>
                      <a:rPr lang="fr-FR" sz="1900" b="1" i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Inter"/>
                        <a:cs typeface="Inter"/>
                        <a:sym typeface="Inter"/>
                      </a:rPr>
                      <m:t>𝐢𝐧𝐝𝐞𝐱</m:t>
                    </m:r>
                    <m:r>
                      <a:rPr lang="fr-FR" sz="1900" b="1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Inter"/>
                        <a:cs typeface="Inter"/>
                        <a:sym typeface="Inter"/>
                      </a:rPr>
                      <m:t>=</m:t>
                    </m:r>
                    <m:r>
                      <a:rPr lang="fr-FR" sz="1900" b="1" i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Inter"/>
                        <a:cs typeface="Inter"/>
                        <a:sym typeface="Inter"/>
                      </a:rPr>
                      <m:t>𝐤𝐞𝐲</m:t>
                    </m:r>
                    <m:r>
                      <a:rPr lang="fr-FR" sz="1900" b="1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Inter"/>
                        <a:cs typeface="Inter"/>
                        <a:sym typeface="Inter"/>
                      </a:rPr>
                      <m:t> % </m:t>
                    </m:r>
                    <m:r>
                      <a:rPr lang="fr-FR" sz="1900" b="1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Inter"/>
                        <a:cs typeface="Inter"/>
                        <a:sym typeface="Inter"/>
                      </a:rPr>
                      <m:t>𝒏</m:t>
                    </m:r>
                  </m:oMath>
                </a14:m>
                <a:endParaRPr lang="en-US" sz="1900" b="1" dirty="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lvl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</a:pPr>
                <a:r>
                  <a:rPr lang="en-US" sz="1900" b="1" dirty="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      </a:t>
                </a:r>
                <a:r>
                  <a:rPr lang="en-US" sz="1900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where </a:t>
                </a:r>
                <a:r>
                  <a:rPr lang="en-US" sz="1900" b="1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keys</a:t>
                </a:r>
                <a:r>
                  <a:rPr lang="en-US" sz="1900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 are integers. If </a:t>
                </a:r>
                <a14:m>
                  <m:oMath xmlns:m="http://schemas.openxmlformats.org/officeDocument/2006/math">
                    <m:r>
                      <a:rPr lang="fr-FR" sz="19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Inter"/>
                        <a:sym typeface="Inter"/>
                      </a:rPr>
                      <m:t>𝑛</m:t>
                    </m:r>
                    <m:r>
                      <a:rPr lang="fr-FR" sz="19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Inter"/>
                        <a:sym typeface="Inter"/>
                      </a:rPr>
                      <m:t>=17</m:t>
                    </m:r>
                  </m:oMath>
                </a14:m>
                <a:r>
                  <a:rPr lang="en-US" sz="1900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, thus a key = 12345 will be the </a:t>
                </a:r>
              </a:p>
              <a:p>
                <a:pPr lvl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</a:pPr>
                <a:r>
                  <a:rPr lang="en-US" sz="1900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      index = 12345 % 17 = 3.</a:t>
                </a:r>
              </a:p>
              <a:p>
                <a:pPr lvl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</a:pPr>
                <a:endParaRPr lang="en-US" sz="1900" dirty="0">
                  <a:solidFill>
                    <a:schemeClr val="dk1"/>
                  </a:solidFill>
                  <a:latin typeface="Inter"/>
                  <a:ea typeface="Inter"/>
                  <a:sym typeface="Inter"/>
                </a:endParaRPr>
              </a:p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20204" pitchFamily="34" charset="0"/>
                  <a:buChar char="•"/>
                </a:pPr>
                <a:r>
                  <a:rPr lang="en-US" sz="1900" b="1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Collision Problem: </a:t>
                </a:r>
                <a:r>
                  <a:rPr lang="en-US" sz="1900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different keys may have the same index!</a:t>
                </a:r>
              </a:p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20204" pitchFamily="34" charset="0"/>
                  <a:buChar char="•"/>
                </a:pPr>
                <a:r>
                  <a:rPr lang="en-US" sz="1900" b="1" dirty="0">
                    <a:solidFill>
                      <a:srgbClr val="00B050"/>
                    </a:solidFill>
                    <a:latin typeface="Inter"/>
                    <a:ea typeface="Inter"/>
                    <a:sym typeface="Inter"/>
                  </a:rPr>
                  <a:t>Solution: </a:t>
                </a:r>
                <a:r>
                  <a:rPr lang="en-US" sz="1900" b="1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Separate chains</a:t>
                </a:r>
                <a:r>
                  <a:rPr lang="en-US" sz="1900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, </a:t>
                </a:r>
                <a:r>
                  <a:rPr lang="en-US" sz="1900" b="1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Open addressing</a:t>
                </a:r>
                <a:r>
                  <a:rPr lang="en-US" sz="1900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, </a:t>
                </a:r>
                <a:r>
                  <a:rPr lang="en-US" sz="1900" b="1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Rehashing</a:t>
                </a:r>
                <a:r>
                  <a:rPr lang="en-US" sz="1900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…</a:t>
                </a:r>
              </a:p>
              <a:p>
                <a:pPr lvl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</a:pPr>
                <a:r>
                  <a:rPr lang="en-US" sz="1900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     For more read: </a:t>
                </a:r>
                <a:r>
                  <a:rPr lang="en-US" sz="1900" dirty="0">
                    <a:solidFill>
                      <a:schemeClr val="bg2"/>
                    </a:solidFill>
                    <a:latin typeface="Inter"/>
                    <a:ea typeface="Inter"/>
                    <a:sym typeface="Inter"/>
                  </a:rPr>
                  <a:t>section 10.2. of Michael et al (2013)</a:t>
                </a:r>
                <a:r>
                  <a:rPr lang="en-US" sz="1900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.</a:t>
                </a:r>
              </a:p>
              <a:p>
                <a:pPr lvl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</a:pPr>
                <a:endParaRPr lang="en-US" sz="1900" dirty="0">
                  <a:solidFill>
                    <a:schemeClr val="dk1"/>
                  </a:solidFill>
                  <a:latin typeface="Inter"/>
                  <a:ea typeface="Inter"/>
                  <a:sym typeface="Inter"/>
                </a:endParaRPr>
              </a:p>
              <a:p>
                <a:pPr marL="342900" lvl="0" indent="-3429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20204" pitchFamily="34" charset="0"/>
                  <a:buChar char="•"/>
                </a:pPr>
                <a:r>
                  <a:rPr lang="en-US" sz="1900" b="1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Good hash</a:t>
                </a:r>
                <a:r>
                  <a:rPr lang="en-US" sz="1900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 functions produce </a:t>
                </a:r>
                <a:r>
                  <a:rPr lang="en-US" sz="1900" b="1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uniform indices </a:t>
                </a:r>
                <a:r>
                  <a:rPr lang="en-US" sz="1900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and </a:t>
                </a:r>
                <a:r>
                  <a:rPr lang="en-US" sz="1900" b="1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rare collisions</a:t>
                </a:r>
                <a:r>
                  <a:rPr lang="en-US" sz="1900" dirty="0">
                    <a:solidFill>
                      <a:schemeClr val="dk1"/>
                    </a:solidFill>
                    <a:latin typeface="Inter"/>
                    <a:ea typeface="Inter"/>
                    <a:sym typeface="Inter"/>
                  </a:rPr>
                  <a:t>.</a:t>
                </a:r>
              </a:p>
            </p:txBody>
          </p:sp>
        </mc:Choice>
        <mc:Fallback xmlns="">
          <p:sp>
            <p:nvSpPr>
              <p:cNvPr id="215" name="Google Shape;215;p25">
                <a:extLst>
                  <a:ext uri="{FF2B5EF4-FFF2-40B4-BE49-F238E27FC236}">
                    <a16:creationId xmlns:a16="http://schemas.microsoft.com/office/drawing/2014/main" id="{85ADCE10-A7AF-496A-3000-50EC30B46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000" y="793697"/>
                <a:ext cx="8441368" cy="5647660"/>
              </a:xfrm>
              <a:prstGeom prst="rect">
                <a:avLst/>
              </a:prstGeom>
              <a:blipFill>
                <a:blip r:embed="rId3"/>
                <a:stretch>
                  <a:fillRect l="-1156" t="-1510" b="-140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32256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800" dirty="0"/>
              <a:t>Hash Table</a:t>
            </a:r>
            <a:endParaRPr sz="2900" dirty="0"/>
          </a:p>
        </p:txBody>
      </p:sp>
      <p:sp>
        <p:nvSpPr>
          <p:cNvPr id="224" name="Google Shape;224;p26"/>
          <p:cNvSpPr/>
          <p:nvPr/>
        </p:nvSpPr>
        <p:spPr>
          <a:xfrm>
            <a:off x="0" y="6583363"/>
            <a:ext cx="9144000" cy="274500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6"/>
          <p:cNvSpPr/>
          <p:nvPr/>
        </p:nvSpPr>
        <p:spPr>
          <a:xfrm>
            <a:off x="0" y="618766"/>
            <a:ext cx="1445400" cy="113100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6"/>
          <p:cNvSpPr/>
          <p:nvPr/>
        </p:nvSpPr>
        <p:spPr>
          <a:xfrm>
            <a:off x="1514168" y="618766"/>
            <a:ext cx="7629900" cy="11310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6"/>
          <p:cNvSpPr txBox="1"/>
          <p:nvPr/>
        </p:nvSpPr>
        <p:spPr>
          <a:xfrm>
            <a:off x="457200" y="1101856"/>
            <a:ext cx="8082000" cy="3308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900" b="1" dirty="0">
                <a:solidFill>
                  <a:schemeClr val="dk1"/>
                </a:solidFill>
                <a:latin typeface="Inter"/>
                <a:ea typeface="Inter"/>
              </a:rPr>
              <a:t>Python hash </a:t>
            </a:r>
            <a:r>
              <a:rPr lang="fr-FR" sz="1900" b="1" dirty="0" err="1">
                <a:solidFill>
                  <a:schemeClr val="dk1"/>
                </a:solidFill>
                <a:latin typeface="Inter"/>
                <a:ea typeface="Inter"/>
              </a:rPr>
              <a:t>function</a:t>
            </a:r>
            <a:r>
              <a:rPr lang="fr-FR" sz="1900" dirty="0">
                <a:solidFill>
                  <a:schemeClr val="dk1"/>
                </a:solidFill>
                <a:latin typeface="Inter"/>
                <a:ea typeface="Inter"/>
              </a:rPr>
              <a:t>: </a:t>
            </a:r>
            <a:r>
              <a:rPr lang="fr-FR" sz="1900" dirty="0" err="1">
                <a:solidFill>
                  <a:schemeClr val="dk1"/>
                </a:solidFill>
                <a:latin typeface="Inter"/>
                <a:ea typeface="Inter"/>
              </a:rPr>
              <a:t>robust</a:t>
            </a:r>
            <a:r>
              <a:rPr lang="fr-FR" sz="1900" dirty="0">
                <a:solidFill>
                  <a:schemeClr val="dk1"/>
                </a:solidFill>
                <a:latin typeface="Inter"/>
                <a:ea typeface="Inter"/>
              </a:rPr>
              <a:t>, efficient and </a:t>
            </a:r>
            <a:r>
              <a:rPr lang="fr-FR" sz="1900" dirty="0" err="1">
                <a:solidFill>
                  <a:schemeClr val="dk1"/>
                </a:solidFill>
                <a:latin typeface="Inter"/>
                <a:ea typeface="Inter"/>
              </a:rPr>
              <a:t>secured</a:t>
            </a:r>
            <a:r>
              <a:rPr lang="fr-FR" sz="1900" dirty="0">
                <a:solidFill>
                  <a:schemeClr val="dk1"/>
                </a:solidFill>
                <a:latin typeface="Inter"/>
                <a:ea typeface="Inter"/>
              </a:rPr>
              <a:t>.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fr-FR" sz="1900" b="1" dirty="0">
              <a:solidFill>
                <a:schemeClr val="dk1"/>
              </a:solidFill>
              <a:latin typeface="Inter"/>
              <a:ea typeface="Inter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900" b="1" dirty="0">
                <a:solidFill>
                  <a:schemeClr val="dk1"/>
                </a:solidFill>
                <a:latin typeface="Inter"/>
                <a:ea typeface="Inter"/>
              </a:rPr>
              <a:t>Task3: </a:t>
            </a:r>
            <a:r>
              <a:rPr lang="fr-FR" sz="1900" dirty="0">
                <a:solidFill>
                  <a:schemeClr val="dk1"/>
                </a:solidFill>
                <a:latin typeface="Inter"/>
                <a:ea typeface="Inter"/>
              </a:rPr>
              <a:t>Try Python </a:t>
            </a:r>
            <a:r>
              <a:rPr lang="fr-FR" sz="1900" dirty="0" err="1">
                <a:solidFill>
                  <a:schemeClr val="dk1"/>
                </a:solidFill>
                <a:latin typeface="Inter"/>
                <a:ea typeface="Inter"/>
              </a:rPr>
              <a:t>built-in</a:t>
            </a:r>
            <a:r>
              <a:rPr lang="fr-FR" sz="1900" dirty="0">
                <a:solidFill>
                  <a:schemeClr val="dk1"/>
                </a:solidFill>
                <a:latin typeface="Inter"/>
                <a:ea typeface="Inter"/>
              </a:rPr>
              <a:t> hash </a:t>
            </a:r>
            <a:r>
              <a:rPr lang="fr-FR" sz="1900" dirty="0" err="1">
                <a:solidFill>
                  <a:schemeClr val="dk1"/>
                </a:solidFill>
                <a:latin typeface="Inter"/>
                <a:ea typeface="Inter"/>
              </a:rPr>
              <a:t>function</a:t>
            </a:r>
            <a:r>
              <a:rPr lang="fr-FR" sz="1900" dirty="0">
                <a:solidFill>
                  <a:schemeClr val="dk1"/>
                </a:solidFill>
                <a:latin typeface="Inter"/>
                <a:ea typeface="Inter"/>
              </a:rPr>
              <a:t>:</a:t>
            </a:r>
          </a:p>
          <a:p>
            <a:pPr lvl="1"/>
            <a:r>
              <a:rPr lang="fr-FR" sz="1900" dirty="0">
                <a:solidFill>
                  <a:schemeClr val="dk1"/>
                </a:solidFill>
                <a:latin typeface="Inter"/>
                <a:ea typeface="Inter"/>
              </a:rPr>
              <a:t>	- </a:t>
            </a:r>
            <a:r>
              <a:rPr lang="fr-FR" sz="1900" dirty="0">
                <a:solidFill>
                  <a:schemeClr val="bg2"/>
                </a:solidFill>
                <a:latin typeface="Inter"/>
                <a:ea typeface="Inter"/>
              </a:rPr>
              <a:t>hash</a:t>
            </a:r>
            <a:r>
              <a:rPr lang="fr-FR" sz="1900" dirty="0">
                <a:solidFill>
                  <a:schemeClr val="dk1"/>
                </a:solidFill>
                <a:latin typeface="Inter"/>
                <a:ea typeface="Inter"/>
              </a:rPr>
              <a:t>(‘Apple’)</a:t>
            </a:r>
          </a:p>
          <a:p>
            <a:pPr lvl="1"/>
            <a:r>
              <a:rPr lang="fr-FR" sz="1900" dirty="0">
                <a:solidFill>
                  <a:schemeClr val="dk1"/>
                </a:solidFill>
                <a:latin typeface="Inter"/>
                <a:ea typeface="Inter"/>
              </a:rPr>
              <a:t>           	- </a:t>
            </a:r>
            <a:r>
              <a:rPr lang="fr-FR" sz="1900" dirty="0">
                <a:solidFill>
                  <a:schemeClr val="bg2"/>
                </a:solidFill>
                <a:latin typeface="Inter"/>
                <a:ea typeface="Inter"/>
              </a:rPr>
              <a:t>hash</a:t>
            </a:r>
            <a:r>
              <a:rPr lang="fr-FR" sz="1900" dirty="0">
                <a:solidFill>
                  <a:schemeClr val="dk1"/>
                </a:solidFill>
                <a:latin typeface="Inter"/>
                <a:ea typeface="Inter"/>
              </a:rPr>
              <a:t>(‘Python’)</a:t>
            </a:r>
          </a:p>
          <a:p>
            <a:pPr lvl="1"/>
            <a:r>
              <a:rPr lang="fr-FR" sz="1900" dirty="0">
                <a:solidFill>
                  <a:schemeClr val="dk1"/>
                </a:solidFill>
                <a:latin typeface="Inter"/>
                <a:ea typeface="Inter"/>
              </a:rPr>
              <a:t>	- </a:t>
            </a:r>
            <a:r>
              <a:rPr lang="fr-FR" sz="1900" dirty="0">
                <a:solidFill>
                  <a:schemeClr val="bg2"/>
                </a:solidFill>
                <a:latin typeface="Inter"/>
                <a:ea typeface="Inter"/>
              </a:rPr>
              <a:t>hash</a:t>
            </a:r>
            <a:r>
              <a:rPr lang="fr-FR" sz="1900" dirty="0">
                <a:solidFill>
                  <a:schemeClr val="dk1"/>
                </a:solidFill>
                <a:latin typeface="Inter"/>
                <a:ea typeface="Inter"/>
              </a:rPr>
              <a:t>((1,2,3))</a:t>
            </a:r>
            <a:endParaRPr lang="fr-FR" sz="1900" b="1" dirty="0">
              <a:solidFill>
                <a:schemeClr val="dk1"/>
              </a:solidFill>
              <a:latin typeface="Inter"/>
              <a:ea typeface="Inter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fr-FR" sz="1900" b="1" dirty="0">
              <a:solidFill>
                <a:schemeClr val="dk1"/>
              </a:solidFill>
              <a:latin typeface="Inter"/>
              <a:ea typeface="Inter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900" b="1" dirty="0" err="1">
                <a:solidFill>
                  <a:schemeClr val="dk1"/>
                </a:solidFill>
                <a:latin typeface="Inter"/>
                <a:ea typeface="Inter"/>
              </a:rPr>
              <a:t>Complexity</a:t>
            </a:r>
            <a:r>
              <a:rPr lang="fr-FR" sz="1900" b="1" dirty="0">
                <a:solidFill>
                  <a:schemeClr val="dk1"/>
                </a:solidFill>
                <a:latin typeface="Inter"/>
                <a:ea typeface="Inter"/>
              </a:rPr>
              <a:t> </a:t>
            </a:r>
            <a:r>
              <a:rPr lang="fr-FR" sz="1900" b="1" dirty="0" err="1">
                <a:solidFill>
                  <a:schemeClr val="dk1"/>
                </a:solidFill>
                <a:latin typeface="Inter"/>
                <a:ea typeface="Inter"/>
              </a:rPr>
              <a:t>Analysis</a:t>
            </a:r>
            <a:r>
              <a:rPr lang="fr-FR" sz="1900" b="1" dirty="0">
                <a:solidFill>
                  <a:schemeClr val="dk1"/>
                </a:solidFill>
                <a:latin typeface="Inter"/>
                <a:ea typeface="Inter"/>
              </a:rPr>
              <a:t>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fr-FR" sz="1900" b="1" dirty="0">
                <a:solidFill>
                  <a:schemeClr val="dk1"/>
                </a:solidFill>
                <a:latin typeface="Inter"/>
                <a:ea typeface="Inter"/>
              </a:rPr>
              <a:t>     </a:t>
            </a:r>
            <a:r>
              <a:rPr lang="en-US" sz="1900" dirty="0">
                <a:solidFill>
                  <a:schemeClr val="dk1"/>
                </a:solidFill>
                <a:latin typeface="Inter"/>
                <a:ea typeface="Inter"/>
              </a:rPr>
              <a:t>Although an in-depth complexity analysis is beyond our scope,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sz="1900" dirty="0">
                <a:solidFill>
                  <a:schemeClr val="dk1"/>
                </a:solidFill>
                <a:latin typeface="Inter"/>
                <a:ea typeface="Inter"/>
              </a:rPr>
              <a:t>    we provide a comparison of the complexity between lists and hash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sz="1900" dirty="0">
                <a:solidFill>
                  <a:schemeClr val="dk1"/>
                </a:solidFill>
                <a:latin typeface="Inter"/>
                <a:ea typeface="Inter"/>
              </a:rPr>
              <a:t>    tables below.</a:t>
            </a:r>
            <a:endParaRPr sz="1900" dirty="0">
              <a:solidFill>
                <a:schemeClr val="dk1"/>
              </a:solidFill>
              <a:latin typeface="Inter"/>
              <a:ea typeface="Inter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4858F1-5F67-97AB-5E62-3CC2898C9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632" y="4266033"/>
            <a:ext cx="4412735" cy="2154756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>
          <a:extLst>
            <a:ext uri="{FF2B5EF4-FFF2-40B4-BE49-F238E27FC236}">
              <a16:creationId xmlns:a16="http://schemas.microsoft.com/office/drawing/2014/main" id="{04B592A1-4E1F-09C3-FFA0-434AD1DEF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>
            <a:extLst>
              <a:ext uri="{FF2B5EF4-FFF2-40B4-BE49-F238E27FC236}">
                <a16:creationId xmlns:a16="http://schemas.microsoft.com/office/drawing/2014/main" id="{F6081D34-8F2A-8FFA-DFCE-19EC601E37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4192"/>
            <a:ext cx="822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fr-FR" sz="3200" dirty="0" err="1"/>
              <a:t>Hash Table</a:t>
            </a:r>
            <a:endParaRPr sz="3200" dirty="0"/>
          </a:p>
        </p:txBody>
      </p:sp>
      <p:sp>
        <p:nvSpPr>
          <p:cNvPr id="201" name="Google Shape;201;p24">
            <a:extLst>
              <a:ext uri="{FF2B5EF4-FFF2-40B4-BE49-F238E27FC236}">
                <a16:creationId xmlns:a16="http://schemas.microsoft.com/office/drawing/2014/main" id="{76F8FDBE-6E27-D869-B18A-0BE4D229E036}"/>
              </a:ext>
            </a:extLst>
          </p:cNvPr>
          <p:cNvSpPr/>
          <p:nvPr/>
        </p:nvSpPr>
        <p:spPr>
          <a:xfrm>
            <a:off x="0" y="6583363"/>
            <a:ext cx="9144000" cy="274500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4">
            <a:extLst>
              <a:ext uri="{FF2B5EF4-FFF2-40B4-BE49-F238E27FC236}">
                <a16:creationId xmlns:a16="http://schemas.microsoft.com/office/drawing/2014/main" id="{F0123195-799E-1AA0-7263-0EDAA756EA9B}"/>
              </a:ext>
            </a:extLst>
          </p:cNvPr>
          <p:cNvSpPr/>
          <p:nvPr/>
        </p:nvSpPr>
        <p:spPr>
          <a:xfrm>
            <a:off x="0" y="618766"/>
            <a:ext cx="1445400" cy="113100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4">
            <a:extLst>
              <a:ext uri="{FF2B5EF4-FFF2-40B4-BE49-F238E27FC236}">
                <a16:creationId xmlns:a16="http://schemas.microsoft.com/office/drawing/2014/main" id="{C9A409AD-07AD-6DDF-B78F-EBCC52DF1389}"/>
              </a:ext>
            </a:extLst>
          </p:cNvPr>
          <p:cNvSpPr/>
          <p:nvPr/>
        </p:nvSpPr>
        <p:spPr>
          <a:xfrm>
            <a:off x="1514168" y="618766"/>
            <a:ext cx="7629900" cy="113100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142241F-7857-C2C7-D3FB-8967BE241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700" y="822960"/>
            <a:ext cx="7634719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 of </a:t>
            </a:r>
            <a:r>
              <a:rPr lang="en-US" altLang="en-US" sz="240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HashTable</a:t>
            </a:r>
            <a:r>
              <a:rPr lang="en-US" alt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Class 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</a:t>
            </a:r>
            <a:r>
              <a:rPr lang="en-US" alt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Modulo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hash function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539820" y="1419041"/>
            <a:ext cx="8138160" cy="4754880"/>
          </a:xfrm>
          <a:prstGeom prst="roundRect">
            <a:avLst/>
          </a:prstGeom>
          <a:solidFill>
            <a:srgbClr val="181A22"/>
          </a:solidFill>
          <a:ln w="12700">
            <a:solidFill>
              <a:srgbClr val="41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defRPr sz="950">
                <a:solidFill>
                  <a:srgbClr val="6EA06E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HashTable</a:t>
            </a:r>
            <a:r>
              <a:rPr dirty="0"/>
              <a:t> with Separate Chaining (Lecture-Code/HashTable.py)</a:t>
            </a:r>
          </a:p>
          <a:p>
            <a:pPr>
              <a:defRPr sz="950">
                <a:solidFill>
                  <a:srgbClr val="E68C5A"/>
                </a:solidFill>
                <a:latin typeface="Consolas"/>
              </a:defRPr>
            </a:pPr>
            <a:r>
              <a:rPr dirty="0"/>
              <a:t>class </a:t>
            </a:r>
            <a:r>
              <a:rPr dirty="0" err="1"/>
              <a:t>HashTable</a:t>
            </a:r>
            <a:r>
              <a:rPr dirty="0"/>
              <a:t>:</a:t>
            </a:r>
          </a:p>
          <a:p>
            <a:pPr>
              <a:defRPr sz="950">
                <a:solidFill>
                  <a:srgbClr val="E68C5A"/>
                </a:solidFill>
                <a:latin typeface="Consolas"/>
              </a:defRPr>
            </a:pPr>
            <a:r>
              <a:rPr dirty="0"/>
              <a:t>    def __</a:t>
            </a:r>
            <a:r>
              <a:rPr dirty="0" err="1"/>
              <a:t>init</a:t>
            </a:r>
            <a:r>
              <a:rPr dirty="0"/>
              <a:t>__(self, size=7):</a:t>
            </a:r>
          </a:p>
          <a:p>
            <a:pPr>
              <a:defRPr sz="950">
                <a:solidFill>
                  <a:srgbClr val="E6EBF5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self.size</a:t>
            </a:r>
            <a:r>
              <a:rPr dirty="0"/>
              <a:t> = size</a:t>
            </a:r>
          </a:p>
          <a:p>
            <a:pPr>
              <a:defRPr sz="950">
                <a:solidFill>
                  <a:srgbClr val="E6EBF5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self.table</a:t>
            </a:r>
            <a:r>
              <a:rPr dirty="0"/>
              <a:t> = [[] for _ in range(size)]  # Buckets for separate chaining</a:t>
            </a:r>
          </a:p>
          <a:p>
            <a:pPr>
              <a:defRPr sz="950">
                <a:solidFill>
                  <a:srgbClr val="E6EBF5"/>
                </a:solidFill>
                <a:latin typeface="Consolas"/>
              </a:defRPr>
            </a:pPr>
            <a:endParaRPr dirty="0"/>
          </a:p>
          <a:p>
            <a:pPr>
              <a:defRPr sz="950">
                <a:solidFill>
                  <a:srgbClr val="E68C5A"/>
                </a:solidFill>
                <a:latin typeface="Consolas"/>
              </a:defRPr>
            </a:pPr>
            <a:r>
              <a:rPr dirty="0"/>
              <a:t>    def _hash(self, key):</a:t>
            </a:r>
          </a:p>
          <a:p>
            <a:pPr>
              <a:defRPr sz="950">
                <a:solidFill>
                  <a:srgbClr val="E68C5A"/>
                </a:solidFill>
                <a:latin typeface="Consolas"/>
              </a:defRPr>
            </a:pPr>
            <a:r>
              <a:rPr dirty="0"/>
              <a:t>        return hash(key) % </a:t>
            </a:r>
            <a:r>
              <a:rPr dirty="0" err="1"/>
              <a:t>self.size</a:t>
            </a:r>
            <a:r>
              <a:rPr dirty="0"/>
              <a:t>           # Modulo compression function</a:t>
            </a:r>
          </a:p>
          <a:p>
            <a:pPr>
              <a:defRPr sz="950">
                <a:solidFill>
                  <a:srgbClr val="E6EBF5"/>
                </a:solidFill>
                <a:latin typeface="Consolas"/>
              </a:defRPr>
            </a:pPr>
            <a:endParaRPr dirty="0"/>
          </a:p>
          <a:p>
            <a:pPr>
              <a:defRPr sz="950">
                <a:solidFill>
                  <a:srgbClr val="E68C5A"/>
                </a:solidFill>
                <a:latin typeface="Consolas"/>
              </a:defRPr>
            </a:pPr>
            <a:r>
              <a:rPr dirty="0"/>
              <a:t>    def __</a:t>
            </a:r>
            <a:r>
              <a:rPr dirty="0" err="1"/>
              <a:t>setitem</a:t>
            </a:r>
            <a:r>
              <a:rPr dirty="0"/>
              <a:t>__(self, key, value):</a:t>
            </a:r>
          </a:p>
          <a:p>
            <a:pPr>
              <a:defRPr sz="950">
                <a:solidFill>
                  <a:srgbClr val="E6EBF5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idx</a:t>
            </a:r>
            <a:r>
              <a:rPr dirty="0"/>
              <a:t> = </a:t>
            </a:r>
            <a:r>
              <a:rPr dirty="0" err="1"/>
              <a:t>self._hash</a:t>
            </a:r>
            <a:r>
              <a:rPr dirty="0"/>
              <a:t>(key)</a:t>
            </a:r>
          </a:p>
          <a:p>
            <a:pPr>
              <a:defRPr sz="950">
                <a:solidFill>
                  <a:srgbClr val="E6EBF5"/>
                </a:solidFill>
                <a:latin typeface="Consolas"/>
              </a:defRPr>
            </a:pPr>
            <a:r>
              <a:rPr dirty="0"/>
              <a:t>        for </a:t>
            </a:r>
            <a:r>
              <a:rPr dirty="0" err="1"/>
              <a:t>kv</a:t>
            </a:r>
            <a:r>
              <a:rPr dirty="0"/>
              <a:t> in </a:t>
            </a:r>
            <a:r>
              <a:rPr dirty="0" err="1"/>
              <a:t>self.table</a:t>
            </a:r>
            <a:r>
              <a:rPr dirty="0"/>
              <a:t>[</a:t>
            </a:r>
            <a:r>
              <a:rPr dirty="0" err="1"/>
              <a:t>idx</a:t>
            </a:r>
            <a:r>
              <a:rPr dirty="0"/>
              <a:t>]:</a:t>
            </a:r>
          </a:p>
          <a:p>
            <a:pPr>
              <a:defRPr sz="950">
                <a:solidFill>
                  <a:srgbClr val="E6EBF5"/>
                </a:solidFill>
                <a:latin typeface="Consolas"/>
              </a:defRPr>
            </a:pPr>
            <a:r>
              <a:rPr dirty="0"/>
              <a:t>            if </a:t>
            </a:r>
            <a:r>
              <a:rPr dirty="0" err="1"/>
              <a:t>kv</a:t>
            </a:r>
            <a:r>
              <a:rPr dirty="0"/>
              <a:t>[0] == key: </a:t>
            </a:r>
            <a:r>
              <a:rPr dirty="0" err="1"/>
              <a:t>kv</a:t>
            </a:r>
            <a:r>
              <a:rPr dirty="0"/>
              <a:t>[1] = value; return  # Update existing key</a:t>
            </a:r>
          </a:p>
          <a:p>
            <a:pPr>
              <a:defRPr sz="950">
                <a:solidFill>
                  <a:srgbClr val="E6EBF5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self.table</a:t>
            </a:r>
            <a:r>
              <a:rPr dirty="0"/>
              <a:t>[</a:t>
            </a:r>
            <a:r>
              <a:rPr dirty="0" err="1"/>
              <a:t>idx</a:t>
            </a:r>
            <a:r>
              <a:rPr dirty="0"/>
              <a:t>].append([key, value])        # Insert new key-value pair</a:t>
            </a:r>
          </a:p>
          <a:p>
            <a:pPr>
              <a:defRPr sz="950">
                <a:solidFill>
                  <a:srgbClr val="E6EBF5"/>
                </a:solidFill>
                <a:latin typeface="Consolas"/>
              </a:defRPr>
            </a:pPr>
            <a:endParaRPr dirty="0"/>
          </a:p>
          <a:p>
            <a:pPr>
              <a:defRPr sz="950">
                <a:solidFill>
                  <a:srgbClr val="E68C5A"/>
                </a:solidFill>
                <a:latin typeface="Consolas"/>
              </a:defRPr>
            </a:pPr>
            <a:r>
              <a:rPr dirty="0"/>
              <a:t>    def __</a:t>
            </a:r>
            <a:r>
              <a:rPr dirty="0" err="1"/>
              <a:t>getitem</a:t>
            </a:r>
            <a:r>
              <a:rPr dirty="0"/>
              <a:t>__(self, key):</a:t>
            </a:r>
          </a:p>
          <a:p>
            <a:pPr>
              <a:defRPr sz="950">
                <a:solidFill>
                  <a:srgbClr val="E6EBF5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idx</a:t>
            </a:r>
            <a:r>
              <a:rPr dirty="0"/>
              <a:t> = </a:t>
            </a:r>
            <a:r>
              <a:rPr dirty="0" err="1"/>
              <a:t>self._hash</a:t>
            </a:r>
            <a:r>
              <a:rPr dirty="0"/>
              <a:t>(key)</a:t>
            </a:r>
          </a:p>
          <a:p>
            <a:pPr>
              <a:defRPr sz="950">
                <a:solidFill>
                  <a:srgbClr val="E6EBF5"/>
                </a:solidFill>
                <a:latin typeface="Consolas"/>
              </a:defRPr>
            </a:pPr>
            <a:r>
              <a:rPr dirty="0"/>
              <a:t>        for k, v in </a:t>
            </a:r>
            <a:r>
              <a:rPr dirty="0" err="1"/>
              <a:t>self.table</a:t>
            </a:r>
            <a:r>
              <a:rPr dirty="0"/>
              <a:t>[</a:t>
            </a:r>
            <a:r>
              <a:rPr dirty="0" err="1"/>
              <a:t>idx</a:t>
            </a:r>
            <a:r>
              <a:rPr dirty="0"/>
              <a:t>]:</a:t>
            </a:r>
          </a:p>
          <a:p>
            <a:pPr>
              <a:defRPr sz="950">
                <a:solidFill>
                  <a:srgbClr val="E6EBF5"/>
                </a:solidFill>
                <a:latin typeface="Consolas"/>
              </a:defRPr>
            </a:pPr>
            <a:r>
              <a:rPr dirty="0"/>
              <a:t>            if k == key: return v</a:t>
            </a:r>
          </a:p>
          <a:p>
            <a:pPr>
              <a:defRPr sz="950">
                <a:solidFill>
                  <a:srgbClr val="E6EBF5"/>
                </a:solidFill>
                <a:latin typeface="Consolas"/>
              </a:defRPr>
            </a:pPr>
            <a:r>
              <a:rPr dirty="0"/>
              <a:t>        raise </a:t>
            </a:r>
            <a:r>
              <a:rPr dirty="0" err="1"/>
              <a:t>KeyError</a:t>
            </a:r>
            <a:r>
              <a:rPr dirty="0"/>
              <a:t>(key)</a:t>
            </a:r>
          </a:p>
          <a:p>
            <a:pPr>
              <a:defRPr sz="950">
                <a:solidFill>
                  <a:srgbClr val="E6EBF5"/>
                </a:solidFill>
                <a:latin typeface="Consolas"/>
              </a:defRPr>
            </a:pPr>
            <a:endParaRPr dirty="0"/>
          </a:p>
          <a:p>
            <a:pPr>
              <a:defRPr sz="950">
                <a:solidFill>
                  <a:srgbClr val="6EA06E"/>
                </a:solidFill>
                <a:latin typeface="Consolas"/>
              </a:defRPr>
            </a:pPr>
            <a:r>
              <a:rPr dirty="0"/>
              <a:t># Usage: </a:t>
            </a:r>
            <a:r>
              <a:rPr dirty="0" err="1"/>
              <a:t>ht</a:t>
            </a:r>
            <a:r>
              <a:rPr dirty="0"/>
              <a:t> = </a:t>
            </a:r>
            <a:r>
              <a:rPr dirty="0" err="1"/>
              <a:t>HashTable</a:t>
            </a:r>
            <a:r>
              <a:rPr dirty="0"/>
              <a:t>(); </a:t>
            </a:r>
            <a:r>
              <a:rPr dirty="0" err="1"/>
              <a:t>ht</a:t>
            </a:r>
            <a:r>
              <a:rPr dirty="0"/>
              <a:t>['apple'] = 100; print(</a:t>
            </a:r>
            <a:r>
              <a:rPr dirty="0" err="1"/>
              <a:t>ht</a:t>
            </a:r>
            <a:r>
              <a:rPr dirty="0"/>
              <a:t>['apple']) -&gt; 100</a:t>
            </a:r>
          </a:p>
        </p:txBody>
      </p:sp>
    </p:spTree>
    <p:extLst>
      <p:ext uri="{BB962C8B-B14F-4D97-AF65-F5344CB8AC3E}">
        <p14:creationId xmlns:p14="http://schemas.microsoft.com/office/powerpoint/2010/main" val="395812261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3"/>
          <p:cNvSpPr txBox="1">
            <a:spLocks noGrp="1"/>
          </p:cNvSpPr>
          <p:nvPr>
            <p:ph type="title"/>
          </p:nvPr>
        </p:nvSpPr>
        <p:spPr>
          <a:xfrm>
            <a:off x="457200" y="159654"/>
            <a:ext cx="8229600" cy="39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404040"/>
                </a:solidFill>
              </a:rPr>
              <a:t>Q &amp; A</a:t>
            </a:r>
            <a:endParaRPr/>
          </a:p>
        </p:txBody>
      </p:sp>
      <p:sp>
        <p:nvSpPr>
          <p:cNvPr id="533" name="Google Shape;533;p53"/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53"/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53"/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53"/>
          <p:cNvSpPr txBox="1"/>
          <p:nvPr/>
        </p:nvSpPr>
        <p:spPr>
          <a:xfrm>
            <a:off x="703007" y="1358998"/>
            <a:ext cx="5127521" cy="1064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699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Lecture-Code:</a:t>
            </a:r>
            <a:endParaRPr/>
          </a:p>
          <a:p>
            <a:pPr marL="927100" marR="0" lvl="1" indent="-457200" algn="l" rtl="0">
              <a:spcBef>
                <a:spcPts val="109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BinaryTree.py | Heap.py | HashTable.py</a:t>
            </a:r>
            <a:endParaRPr sz="2600" b="0" i="0" u="none" strike="noStrike" cap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7" name="Google Shape;537;p53" descr="PPT - Overview of DBMS recovery and concurrency control: PowerPoint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1371600"/>
            <a:ext cx="4038600" cy="30289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538" name="Google Shape;538;p53" descr="Funny Questions Comments or Concern Sign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67200" y="1523373"/>
            <a:ext cx="3811254" cy="3811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1675</TotalTime>
  <Words>3185</Words>
  <Application>Microsoft Office PowerPoint</Application>
  <PresentationFormat>On-screen Show (4:3)</PresentationFormat>
  <Paragraphs>475</Paragraphs>
  <Slides>53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2" baseType="lpstr">
      <vt:lpstr>Calibri</vt:lpstr>
      <vt:lpstr>Inter</vt:lpstr>
      <vt:lpstr>Courier New</vt:lpstr>
      <vt:lpstr>Arial</vt:lpstr>
      <vt:lpstr>Cambria Math</vt:lpstr>
      <vt:lpstr>Noto Sans Symbols</vt:lpstr>
      <vt:lpstr>Bahnschrift</vt:lpstr>
      <vt:lpstr>Wingdings</vt:lpstr>
      <vt:lpstr>Office Theme</vt:lpstr>
      <vt:lpstr>CHAPTER 8-9: TREE &amp; HEAP STRUCTURES</vt:lpstr>
      <vt:lpstr>Contents</vt:lpstr>
      <vt:lpstr>Objective</vt:lpstr>
      <vt:lpstr>Motivation</vt:lpstr>
      <vt:lpstr>Motivation</vt:lpstr>
      <vt:lpstr>Trees and Binary Trees</vt:lpstr>
      <vt:lpstr>Trees and Binary Trees</vt:lpstr>
      <vt:lpstr>Trees and Binary Trees</vt:lpstr>
      <vt:lpstr>Trees and Binary Trees</vt:lpstr>
      <vt:lpstr>Trees and Binary Trees</vt:lpstr>
      <vt:lpstr>Trees and Binary Trees</vt:lpstr>
      <vt:lpstr>Tree Traversal</vt:lpstr>
      <vt:lpstr>Tree Traversal</vt:lpstr>
      <vt:lpstr>Tree Traversal</vt:lpstr>
      <vt:lpstr>Tree Traversal</vt:lpstr>
      <vt:lpstr>Tree Traversal</vt:lpstr>
      <vt:lpstr>Tree Traversal</vt:lpstr>
      <vt:lpstr>Tree Traversal</vt:lpstr>
      <vt:lpstr>Tree Traversal</vt:lpstr>
      <vt:lpstr>Tree Traversal</vt:lpstr>
      <vt:lpstr>Tree Traversal</vt:lpstr>
      <vt:lpstr>Tree Traversal</vt:lpstr>
      <vt:lpstr>Tree Traversal</vt:lpstr>
      <vt:lpstr>Tree Traversal</vt:lpstr>
      <vt:lpstr>Tree Traversal</vt:lpstr>
      <vt:lpstr>Tree Traversal</vt:lpstr>
      <vt:lpstr>Heap</vt:lpstr>
      <vt:lpstr>Heap</vt:lpstr>
      <vt:lpstr>Heap</vt:lpstr>
      <vt:lpstr>Heap</vt:lpstr>
      <vt:lpstr>Heap</vt:lpstr>
      <vt:lpstr>Heap</vt:lpstr>
      <vt:lpstr>Heap</vt:lpstr>
      <vt:lpstr>Heap</vt:lpstr>
      <vt:lpstr>Heap</vt:lpstr>
      <vt:lpstr>Heap</vt:lpstr>
      <vt:lpstr>Heap</vt:lpstr>
      <vt:lpstr>Heap</vt:lpstr>
      <vt:lpstr>Heap</vt:lpstr>
      <vt:lpstr>Heap</vt:lpstr>
      <vt:lpstr>Heap</vt:lpstr>
      <vt:lpstr>Heap</vt:lpstr>
      <vt:lpstr>Heap</vt:lpstr>
      <vt:lpstr>Heap</vt:lpstr>
      <vt:lpstr>Heap</vt:lpstr>
      <vt:lpstr>Heap</vt:lpstr>
      <vt:lpstr>Heap</vt:lpstr>
      <vt:lpstr>Hash Table</vt:lpstr>
      <vt:lpstr>Hash Table</vt:lpstr>
      <vt:lpstr>Hash Table</vt:lpstr>
      <vt:lpstr>Hash Table</vt:lpstr>
      <vt:lpstr>Hash Table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PC</dc:creator>
  <cp:lastModifiedBy>Kuy Movsun</cp:lastModifiedBy>
  <cp:revision>270</cp:revision>
  <dcterms:modified xsi:type="dcterms:W3CDTF">2026-09-24T13:56:31Z</dcterms:modified>
</cp:coreProperties>
</file>