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7" r:id="rId14"/>
    <p:sldId id="304" r:id="rId15"/>
    <p:sldId id="268" r:id="rId16"/>
    <p:sldId id="269" r:id="rId17"/>
    <p:sldId id="270" r:id="rId18"/>
    <p:sldId id="272" r:id="rId19"/>
    <p:sldId id="298" r:id="rId20"/>
    <p:sldId id="299" r:id="rId21"/>
    <p:sldId id="303" r:id="rId22"/>
    <p:sldId id="306" r:id="rId23"/>
    <p:sldId id="276" r:id="rId24"/>
    <p:sldId id="281" r:id="rId25"/>
    <p:sldId id="282" r:id="rId26"/>
    <p:sldId id="283" r:id="rId27"/>
    <p:sldId id="302" r:id="rId28"/>
    <p:sldId id="289" r:id="rId29"/>
    <p:sldId id="290" r:id="rId30"/>
    <p:sldId id="291" r:id="rId31"/>
    <p:sldId id="292" r:id="rId32"/>
    <p:sldId id="305" r:id="rId33"/>
    <p:sldId id="296" r:id="rId34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Inter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8" d="100"/>
          <a:sy n="68" d="100"/>
        </p:scale>
        <p:origin x="12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3720c69cd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333720c69cd_3_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33720c69cd_3_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7D53A2F-AD00-66B7-A83A-C251FE736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3720c69cd_3_57:notes">
            <a:extLst>
              <a:ext uri="{FF2B5EF4-FFF2-40B4-BE49-F238E27FC236}">
                <a16:creationId xmlns:a16="http://schemas.microsoft.com/office/drawing/2014/main" id="{A8AB29E5-81EF-079C-80A5-C76317F3FF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333720c69cd_3_57:notes">
            <a:extLst>
              <a:ext uri="{FF2B5EF4-FFF2-40B4-BE49-F238E27FC236}">
                <a16:creationId xmlns:a16="http://schemas.microsoft.com/office/drawing/2014/main" id="{3E210840-9AB3-9754-9FB7-D692E7D432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33720c69cd_3_57:notes">
            <a:extLst>
              <a:ext uri="{FF2B5EF4-FFF2-40B4-BE49-F238E27FC236}">
                <a16:creationId xmlns:a16="http://schemas.microsoft.com/office/drawing/2014/main" id="{A66D29EF-35FE-1832-F6C2-DAF5155060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20448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CDF03EA-6975-50C9-E670-EC96029DD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3720c69cd_3_57:notes">
            <a:extLst>
              <a:ext uri="{FF2B5EF4-FFF2-40B4-BE49-F238E27FC236}">
                <a16:creationId xmlns:a16="http://schemas.microsoft.com/office/drawing/2014/main" id="{AD003C7F-21E1-4736-BB44-B24BAA7CA8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333720c69cd_3_57:notes">
            <a:extLst>
              <a:ext uri="{FF2B5EF4-FFF2-40B4-BE49-F238E27FC236}">
                <a16:creationId xmlns:a16="http://schemas.microsoft.com/office/drawing/2014/main" id="{1E6376D0-3F55-C704-F421-BC59948CB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33720c69cd_3_57:notes">
            <a:extLst>
              <a:ext uri="{FF2B5EF4-FFF2-40B4-BE49-F238E27FC236}">
                <a16:creationId xmlns:a16="http://schemas.microsoft.com/office/drawing/2014/main" id="{1795892C-C16C-BE91-D857-3786738A42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7704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33720c69c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33720c69cd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33720c69cd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33720c69c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33720c69cd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33720c69cd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33720c69c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333720c69cd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333720c69cd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33720c69cd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333720c69cd_0_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333720c69cd_0_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>
          <a:extLst>
            <a:ext uri="{FF2B5EF4-FFF2-40B4-BE49-F238E27FC236}">
              <a16:creationId xmlns:a16="http://schemas.microsoft.com/office/drawing/2014/main" id="{B5A0B963-0557-D693-381A-FCDDA618E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33720c69cd_0_66:notes">
            <a:extLst>
              <a:ext uri="{FF2B5EF4-FFF2-40B4-BE49-F238E27FC236}">
                <a16:creationId xmlns:a16="http://schemas.microsoft.com/office/drawing/2014/main" id="{26CC2452-D88C-BF59-3728-18DF1BECBD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333720c69cd_0_66:notes">
            <a:extLst>
              <a:ext uri="{FF2B5EF4-FFF2-40B4-BE49-F238E27FC236}">
                <a16:creationId xmlns:a16="http://schemas.microsoft.com/office/drawing/2014/main" id="{987D0DB3-D66C-9F2B-63E5-C1A75CD777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333720c69cd_0_66:notes">
            <a:extLst>
              <a:ext uri="{FF2B5EF4-FFF2-40B4-BE49-F238E27FC236}">
                <a16:creationId xmlns:a16="http://schemas.microsoft.com/office/drawing/2014/main" id="{17D88E2F-7391-06E1-87E7-4F327ABFAE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12408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>
          <a:extLst>
            <a:ext uri="{FF2B5EF4-FFF2-40B4-BE49-F238E27FC236}">
              <a16:creationId xmlns:a16="http://schemas.microsoft.com/office/drawing/2014/main" id="{3082DB1B-64EF-3FC6-61B6-2D75339D3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33720c69cd_0_66:notes">
            <a:extLst>
              <a:ext uri="{FF2B5EF4-FFF2-40B4-BE49-F238E27FC236}">
                <a16:creationId xmlns:a16="http://schemas.microsoft.com/office/drawing/2014/main" id="{9328F7A5-5E4D-B27C-6519-FD9240839D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333720c69cd_0_66:notes">
            <a:extLst>
              <a:ext uri="{FF2B5EF4-FFF2-40B4-BE49-F238E27FC236}">
                <a16:creationId xmlns:a16="http://schemas.microsoft.com/office/drawing/2014/main" id="{7B2E93E1-AF63-8E9E-5976-717BAD2883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333720c69cd_0_66:notes">
            <a:extLst>
              <a:ext uri="{FF2B5EF4-FFF2-40B4-BE49-F238E27FC236}">
                <a16:creationId xmlns:a16="http://schemas.microsoft.com/office/drawing/2014/main" id="{C37969CB-25E1-9CE5-BC13-D5CB82C8AC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54404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A0258C78-BDEE-F929-7455-8215589AF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33720c69cd_6_58:notes">
            <a:extLst>
              <a:ext uri="{FF2B5EF4-FFF2-40B4-BE49-F238E27FC236}">
                <a16:creationId xmlns:a16="http://schemas.microsoft.com/office/drawing/2014/main" id="{C6333392-064C-4B9E-2099-DC829CF1A7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g333720c69cd_6_58:notes">
            <a:extLst>
              <a:ext uri="{FF2B5EF4-FFF2-40B4-BE49-F238E27FC236}">
                <a16:creationId xmlns:a16="http://schemas.microsoft.com/office/drawing/2014/main" id="{3D6B9811-A346-3BF0-733E-856FB37621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333720c69cd_6_58:notes">
            <a:extLst>
              <a:ext uri="{FF2B5EF4-FFF2-40B4-BE49-F238E27FC236}">
                <a16:creationId xmlns:a16="http://schemas.microsoft.com/office/drawing/2014/main" id="{5A0A940D-27E0-0625-565C-5C7100AEDD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06761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E2B10DD0-28EC-ADFA-DD41-019BED50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33720c69cd_6_58:notes">
            <a:extLst>
              <a:ext uri="{FF2B5EF4-FFF2-40B4-BE49-F238E27FC236}">
                <a16:creationId xmlns:a16="http://schemas.microsoft.com/office/drawing/2014/main" id="{9F6AC513-C345-19CF-E0D4-CB337EB0B9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g333720c69cd_6_58:notes">
            <a:extLst>
              <a:ext uri="{FF2B5EF4-FFF2-40B4-BE49-F238E27FC236}">
                <a16:creationId xmlns:a16="http://schemas.microsoft.com/office/drawing/2014/main" id="{BEB1B69A-715E-C2EA-8282-A1975F4EFE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333720c69cd_6_58:notes">
            <a:extLst>
              <a:ext uri="{FF2B5EF4-FFF2-40B4-BE49-F238E27FC236}">
                <a16:creationId xmlns:a16="http://schemas.microsoft.com/office/drawing/2014/main" id="{074FD039-F38D-8D0D-33B5-5533EDC928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94778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33720c69cd_3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g333720c69cd_3_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333720c69cd_3_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33720c69cd_6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33720c69cd_6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333720c69cd_6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3720c69cd_6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g333720c69cd_6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333720c69cd_6_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33720c69cd_6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g333720c69cd_6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333720c69cd_6_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668CA20B-C0B1-821C-471D-28CF523B3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33720c69cd_6_58:notes">
            <a:extLst>
              <a:ext uri="{FF2B5EF4-FFF2-40B4-BE49-F238E27FC236}">
                <a16:creationId xmlns:a16="http://schemas.microsoft.com/office/drawing/2014/main" id="{70583DC4-CA62-4EB8-0461-8BA4ABEC51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g333720c69cd_6_58:notes">
            <a:extLst>
              <a:ext uri="{FF2B5EF4-FFF2-40B4-BE49-F238E27FC236}">
                <a16:creationId xmlns:a16="http://schemas.microsoft.com/office/drawing/2014/main" id="{1E3ED7D0-FDF1-6180-67E6-5A06A5D752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333720c69cd_6_58:notes">
            <a:extLst>
              <a:ext uri="{FF2B5EF4-FFF2-40B4-BE49-F238E27FC236}">
                <a16:creationId xmlns:a16="http://schemas.microsoft.com/office/drawing/2014/main" id="{C6698BF5-22B7-4746-1F46-7985EC2663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38500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3720c69cd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8" name="Google Shape;458;g333720c69cd_0_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g333720c69cd_0_1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33720c69cd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g333720c69cd_0_1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g333720c69cd_0_1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33720c69cd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9" name="Google Shape;479;g333720c69cd_0_1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g333720c69cd_0_1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33720c69cd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g333720c69cd_0_2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g333720c69cd_0_2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27454937-A59E-360A-C71D-9D39EFFC0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33720c69cd_6_58:notes">
            <a:extLst>
              <a:ext uri="{FF2B5EF4-FFF2-40B4-BE49-F238E27FC236}">
                <a16:creationId xmlns:a16="http://schemas.microsoft.com/office/drawing/2014/main" id="{11D21EF5-3314-F29D-C82C-5805E51DC4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g333720c69cd_6_58:notes">
            <a:extLst>
              <a:ext uri="{FF2B5EF4-FFF2-40B4-BE49-F238E27FC236}">
                <a16:creationId xmlns:a16="http://schemas.microsoft.com/office/drawing/2014/main" id="{BC6A0108-7DEB-5F95-13A0-B310213015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333720c69cd_6_58:notes">
            <a:extLst>
              <a:ext uri="{FF2B5EF4-FFF2-40B4-BE49-F238E27FC236}">
                <a16:creationId xmlns:a16="http://schemas.microsoft.com/office/drawing/2014/main" id="{DF365D91-C951-B550-09B5-928B0AE8E1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69541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9" name="Google Shape;52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5F55">
            <a:alpha val="92941"/>
          </a:srgbClr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685165" y="358773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EBDDC3"/>
              </a:buClr>
              <a:buSzPts val="4400"/>
              <a:buFont typeface="Calibri"/>
              <a:buNone/>
            </a:pPr>
            <a:r>
              <a:rPr lang="en-US" cap="none">
                <a:solidFill>
                  <a:srgbClr val="EBDDC3"/>
                </a:solidFill>
              </a:rPr>
              <a:t>CHAPTER 6-9:CORE DATA STRUCTURES</a:t>
            </a:r>
            <a:endParaRPr cap="none">
              <a:solidFill>
                <a:srgbClr val="EBDDC3"/>
              </a:solidFill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371600" y="5225948"/>
            <a:ext cx="6400800" cy="85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None/>
            </a:pPr>
            <a:r>
              <a:rPr lang="en-US">
                <a:solidFill>
                  <a:srgbClr val="00B0F0"/>
                </a:solidFill>
              </a:rPr>
              <a:t>COSC 221 (Computer Science B)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381762" y="5107685"/>
            <a:ext cx="8380730" cy="18415"/>
          </a:xfrm>
          <a:custGeom>
            <a:avLst/>
            <a:gdLst/>
            <a:ahLst/>
            <a:cxnLst/>
            <a:rect l="l" t="t" r="r" b="b"/>
            <a:pathLst>
              <a:path w="8380730" h="18414" extrusionOk="0">
                <a:moveTo>
                  <a:pt x="0" y="18287"/>
                </a:moveTo>
                <a:lnTo>
                  <a:pt x="8380476" y="0"/>
                </a:lnTo>
              </a:path>
            </a:pathLst>
          </a:custGeom>
          <a:noFill/>
          <a:ln w="38100" cap="flat" cmpd="sng">
            <a:solidFill>
              <a:srgbClr val="538C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226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457200" y="977642"/>
            <a:ext cx="8470490" cy="502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u="sng"/>
              <a:t>Motivation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u="sng"/>
              <a:t>Stacks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u="sng"/>
              <a:t>Queues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u="sng"/>
              <a:t>Linked Lists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u="sng"/>
              <a:t>Priority Queues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 u="sng"/>
              <a:t>Applications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59B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457200" y="137652"/>
            <a:ext cx="8229600" cy="36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Objective</a:t>
            </a:r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457200" y="1147583"/>
            <a:ext cx="8229600" cy="481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dirty="0"/>
              <a:t>Define and explain the purpose of Stacks, Queues, Linked Lists, and Priority Queues.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dirty="0"/>
              <a:t>Understand and apply the LIFO principle for stacks and the FIFO principle for queues.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dirty="0"/>
              <a:t>Perform basic operations for: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dirty="0"/>
              <a:t>Stacks: </a:t>
            </a:r>
            <a:r>
              <a:rPr lang="en-US" dirty="0">
                <a:solidFill>
                  <a:schemeClr val="bg2"/>
                </a:solidFill>
              </a:rPr>
              <a:t>push(), pop()</a:t>
            </a:r>
            <a:r>
              <a:rPr lang="en-US" dirty="0"/>
              <a:t>, </a:t>
            </a:r>
            <a:r>
              <a:rPr lang="en-US" dirty="0">
                <a:solidFill>
                  <a:schemeClr val="bg2"/>
                </a:solidFill>
              </a:rPr>
              <a:t>top().</a:t>
            </a:r>
            <a:endParaRPr dirty="0">
              <a:solidFill>
                <a:schemeClr val="bg2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dirty="0"/>
              <a:t>Queues: </a:t>
            </a:r>
            <a:r>
              <a:rPr lang="en-US" dirty="0">
                <a:solidFill>
                  <a:schemeClr val="bg2"/>
                </a:solidFill>
              </a:rPr>
              <a:t>enqueue()</a:t>
            </a:r>
            <a:r>
              <a:rPr lang="en-US" dirty="0"/>
              <a:t>, </a:t>
            </a:r>
            <a:r>
              <a:rPr lang="en-US" dirty="0">
                <a:solidFill>
                  <a:schemeClr val="bg2"/>
                </a:solidFill>
              </a:rPr>
              <a:t>dequeue()</a:t>
            </a:r>
            <a:r>
              <a:rPr lang="en-US" dirty="0"/>
              <a:t>, </a:t>
            </a:r>
            <a:r>
              <a:rPr lang="en-US" dirty="0">
                <a:solidFill>
                  <a:schemeClr val="bg2"/>
                </a:solidFill>
              </a:rPr>
              <a:t>first()</a:t>
            </a:r>
            <a:r>
              <a:rPr lang="en-US" dirty="0"/>
              <a:t>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dirty="0"/>
              <a:t>Linked Lists: </a:t>
            </a:r>
            <a:r>
              <a:rPr lang="en-US" dirty="0">
                <a:solidFill>
                  <a:schemeClr val="bg2"/>
                </a:solidFill>
              </a:rPr>
              <a:t>Insertion</a:t>
            </a:r>
            <a:r>
              <a:rPr lang="en-US" dirty="0"/>
              <a:t>, </a:t>
            </a:r>
            <a:r>
              <a:rPr lang="en-US" dirty="0">
                <a:solidFill>
                  <a:schemeClr val="bg2"/>
                </a:solidFill>
              </a:rPr>
              <a:t>deletion</a:t>
            </a:r>
            <a:r>
              <a:rPr lang="en-US" dirty="0"/>
              <a:t>, </a:t>
            </a:r>
            <a:r>
              <a:rPr lang="en-US" dirty="0">
                <a:solidFill>
                  <a:schemeClr val="bg2"/>
                </a:solidFill>
              </a:rPr>
              <a:t>traversal</a:t>
            </a:r>
            <a:r>
              <a:rPr lang="en-US" dirty="0"/>
              <a:t>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dirty="0"/>
              <a:t>Priority Queues: </a:t>
            </a:r>
            <a:r>
              <a:rPr lang="en-US" dirty="0">
                <a:solidFill>
                  <a:schemeClr val="bg2"/>
                </a:solidFill>
              </a:rPr>
              <a:t>insert()</a:t>
            </a:r>
            <a:r>
              <a:rPr lang="en-US" dirty="0"/>
              <a:t>, </a:t>
            </a:r>
            <a:r>
              <a:rPr lang="en-US" dirty="0" err="1">
                <a:solidFill>
                  <a:schemeClr val="bg2"/>
                </a:solidFill>
              </a:rPr>
              <a:t>remove_min</a:t>
            </a:r>
            <a:r>
              <a:rPr lang="en-US" dirty="0">
                <a:solidFill>
                  <a:schemeClr val="bg2"/>
                </a:solidFill>
              </a:rPr>
              <a:t>()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06" name="Google Shape;106;p15"/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457200" y="2361534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/>
              <a:t>Motivation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388374" y="145308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Motivation</a:t>
            </a:r>
            <a:endParaRPr sz="3600"/>
          </a:p>
        </p:txBody>
      </p:sp>
      <p:sp>
        <p:nvSpPr>
          <p:cNvPr id="122" name="Google Shape;122;p17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722671" y="1263677"/>
            <a:ext cx="7967816" cy="483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computing, we often need to manage data in specific ways: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Undoing actions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tasks in reverse order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Managing multiple requests in the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order they arrive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Efficiently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updating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accessing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 that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over time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Motivation</a:t>
            </a:r>
            <a:endParaRPr sz="3200"/>
          </a:p>
        </p:txBody>
      </p:sp>
      <p:sp>
        <p:nvSpPr>
          <p:cNvPr id="132" name="Google Shape;132;p18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575188" y="937858"/>
            <a:ext cx="82296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address these, we use data structures like: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Stacks</a:t>
            </a:r>
            <a:r>
              <a:rPr lang="en-US" sz="28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reversing data (</a:t>
            </a:r>
            <a:r>
              <a:rPr lang="en-US" sz="2800" i="0" u="none" strike="noStrike" cap="none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undo operations</a:t>
            </a:r>
            <a:r>
              <a:rPr lang="en-US" sz="28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Queues</a:t>
            </a:r>
            <a:r>
              <a:rPr lang="en-US" sz="28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processing data in sequence (</a:t>
            </a:r>
            <a:r>
              <a:rPr lang="en-US" sz="2800" i="0" u="none" strike="noStrike" cap="none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task scheduling</a:t>
            </a:r>
            <a:r>
              <a:rPr lang="en-US" sz="28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</a:t>
            </a:r>
            <a:r>
              <a:rPr lang="en-US" sz="28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r>
              <a:rPr lang="en-US" sz="28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en-US" sz="2800" i="0" u="none" strike="noStrike" cap="none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flexible data storage</a:t>
            </a:r>
            <a:r>
              <a:rPr lang="en-US" sz="28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Priority</a:t>
            </a:r>
            <a:r>
              <a:rPr lang="en-US" sz="28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queues for </a:t>
            </a:r>
            <a:r>
              <a:rPr lang="en-US" sz="2800" i="0" u="none" strike="noStrike" cap="none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prioritizing tasks based on importance</a:t>
            </a:r>
            <a:r>
              <a:rPr lang="en-US" sz="28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structures help solve common problems and improve program efficiency.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Stacks</a:t>
            </a:r>
            <a:endParaRPr sz="3200"/>
          </a:p>
        </p:txBody>
      </p:sp>
      <p:sp>
        <p:nvSpPr>
          <p:cNvPr id="142" name="Google Shape;142;p19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373626" y="868319"/>
            <a:ext cx="76299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stack is a collection of objects that are inserted and removed according to the last-in, first-out (LIFO) principle.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9" descr="What is a Stack Data Structure | JavaScript"/>
          <p:cNvPicPr preferRelativeResize="0"/>
          <p:nvPr/>
        </p:nvPicPr>
        <p:blipFill rotWithShape="1">
          <a:blip r:embed="rId3">
            <a:alphaModFix/>
          </a:blip>
          <a:srcRect l="15406" t="7654" r="24563" b="6254"/>
          <a:stretch/>
        </p:blipFill>
        <p:spPr>
          <a:xfrm>
            <a:off x="5329084" y="1829873"/>
            <a:ext cx="3671037" cy="358184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457200" y="2204673"/>
            <a:ext cx="46260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 Operations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push():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an object to the top of the stack.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pop():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and return the top object from the stack.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top():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 (but do not remove) the top object.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Stacks</a:t>
            </a:r>
            <a:endParaRPr sz="3200"/>
          </a:p>
        </p:txBody>
      </p:sp>
      <p:sp>
        <p:nvSpPr>
          <p:cNvPr id="154" name="Google Shape;154;p20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231059" y="1163762"/>
            <a:ext cx="48327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b="1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r>
              <a:rPr lang="en-US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</a:t>
            </a:r>
            <a:r>
              <a:rPr lang="en-US" sz="2400" b="1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Stacks</a:t>
            </a:r>
            <a:r>
              <a:rPr lang="en-US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o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Problem: How does a browser let you go back to previously visited sites?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o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time you visit a new site; its address is </a:t>
            </a:r>
            <a:r>
              <a:rPr lang="en-US" sz="240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pushed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onto a stack.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1257300" marR="0" lvl="2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you click the "back" button, the browser </a:t>
            </a:r>
            <a:r>
              <a:rPr lang="en-US" sz="240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pops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most recent address from the stack.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98158" y="1326324"/>
            <a:ext cx="3914783" cy="3194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Stacks</a:t>
            </a:r>
            <a:endParaRPr sz="3200"/>
          </a:p>
        </p:txBody>
      </p:sp>
      <p:sp>
        <p:nvSpPr>
          <p:cNvPr id="165" name="Google Shape;165;p21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457200" y="1101856"/>
            <a:ext cx="808211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1: Reversing a String Using a Stack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703008" y="1636836"/>
            <a:ext cx="5923800" cy="219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 to Solve: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each character of the string onto the stack.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-1524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each character from the stack to build the reversed string.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1081548" y="3711098"/>
            <a:ext cx="7256474" cy="2241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5375" rIns="91425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 Phase: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string "hello" is iterated character by character.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character (h, e, l, l, o) is pushed onto the stack.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after pushing: ['h', 'e', 'l', 'l', 'o'] (top is o).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Stacks</a:t>
            </a:r>
            <a:endParaRPr sz="3200"/>
          </a:p>
        </p:txBody>
      </p:sp>
      <p:sp>
        <p:nvSpPr>
          <p:cNvPr id="177" name="Google Shape;177;p22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457200" y="1101856"/>
            <a:ext cx="80821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Problem 1: Reversing a String Using a Stack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835742" y="1765118"/>
            <a:ext cx="7472400" cy="3354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2. Pop Phase: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Calibri"/>
              <a:buChar char="•"/>
            </a:pPr>
            <a:r>
              <a:rPr lang="en-US" sz="2400" i="0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Characters are popped from the stack one by one.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Calibri"/>
              <a:buChar char="•"/>
            </a:pPr>
            <a:r>
              <a:rPr lang="en-US" sz="2400" i="0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Since the stack is LIFO, the first character popped is o, then l, l, e, and finally h.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Calibri"/>
              <a:buChar char="•"/>
            </a:pPr>
            <a:r>
              <a:rPr lang="en-US" sz="2400" i="0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These characters are concatenated to form the reversed string "</a:t>
            </a:r>
            <a:r>
              <a:rPr lang="en-US" sz="2400" i="0" u="none" strike="noStrike" cap="none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olleh</a:t>
            </a:r>
            <a:r>
              <a:rPr lang="en-US" sz="2400" i="0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".</a:t>
            </a:r>
            <a:endParaRPr lang="en-US" sz="24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</a:pPr>
            <a:endParaRPr lang="en-US" sz="2400" i="0" u="none" strike="noStrike" cap="none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</a:pPr>
            <a:r>
              <a:rPr lang="en-US" sz="24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Task: </a:t>
            </a:r>
            <a:r>
              <a:rPr lang="en-US" sz="20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Write a function that takes the length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‘n’ of a string </a:t>
            </a:r>
            <a:r>
              <a:rPr lang="en-US" sz="20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followed by each </a:t>
            </a:r>
            <a:r>
              <a:rPr lang="fr-FR" sz="20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of </a:t>
            </a:r>
            <a:r>
              <a:rPr lang="fr-FR" sz="2000" i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its</a:t>
            </a:r>
            <a:r>
              <a:rPr lang="fr-FR" sz="20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000" i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characters</a:t>
            </a:r>
            <a:r>
              <a:rPr lang="fr-FR" sz="20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fr-FR" sz="2000" i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fr-FR" sz="20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return the </a:t>
            </a:r>
            <a:r>
              <a:rPr lang="fr-FR" sz="2000" i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reversed</a:t>
            </a:r>
            <a:r>
              <a:rPr lang="fr-FR" sz="20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string.</a:t>
            </a:r>
            <a:endParaRPr lang="en-US" sz="2400" i="1" u="none" strike="noStrike" cap="none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23777" y="5514277"/>
            <a:ext cx="5010614" cy="817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Stacks</a:t>
            </a:r>
            <a:endParaRPr sz="3200"/>
          </a:p>
        </p:txBody>
      </p:sp>
      <p:sp>
        <p:nvSpPr>
          <p:cNvPr id="189" name="Google Shape;189;p23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3"/>
          <p:cNvSpPr txBox="1"/>
          <p:nvPr/>
        </p:nvSpPr>
        <p:spPr>
          <a:xfrm>
            <a:off x="457200" y="1101856"/>
            <a:ext cx="8082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Problem 2: Balancing Parentheses Using a Stack</a:t>
            </a:r>
            <a:endParaRPr sz="23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269100" y="1493577"/>
            <a:ext cx="7893900" cy="27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Statement:</a:t>
            </a:r>
            <a:b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 string containing parentheses </a:t>
            </a:r>
            <a:r>
              <a:rPr lang="en-US" sz="21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braces </a:t>
            </a:r>
            <a:r>
              <a:rPr lang="en-US" sz="21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{}</a:t>
            </a: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square brackets </a:t>
            </a:r>
            <a:r>
              <a:rPr lang="en-US" sz="21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[]</a:t>
            </a: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determine if the input string has balanced parentheses. A string is balanced if:</a:t>
            </a: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opening symbol has a corresponding closing symbol.</a:t>
            </a: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pairs are properly nested.</a:t>
            </a: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5329084" y="3975667"/>
            <a:ext cx="2518200" cy="19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b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Input: </a:t>
            </a:r>
            <a:r>
              <a:rPr lang="en-US" sz="24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{[()()]}</a:t>
            </a:r>
            <a:br>
              <a:rPr lang="en-US" sz="24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US" sz="24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US" sz="24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Input: </a:t>
            </a:r>
            <a:r>
              <a:rPr lang="en-US" sz="24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{[(])}</a:t>
            </a:r>
            <a:br>
              <a:rPr lang="en-US" sz="24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US" sz="24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5CB0A3-3C7C-A126-ED9B-406B004A557F}"/>
              </a:ext>
            </a:extLst>
          </p:cNvPr>
          <p:cNvSpPr/>
          <p:nvPr/>
        </p:nvSpPr>
        <p:spPr>
          <a:xfrm>
            <a:off x="4667952" y="4246286"/>
            <a:ext cx="3041681" cy="2130165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Stacks</a:t>
            </a:r>
            <a:endParaRPr sz="3200"/>
          </a:p>
        </p:txBody>
      </p:sp>
      <p:sp>
        <p:nvSpPr>
          <p:cNvPr id="201" name="Google Shape;201;p24"/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457200" y="857902"/>
            <a:ext cx="321023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dirty="0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Problem 2: </a:t>
            </a:r>
            <a:r>
              <a:rPr lang="en-US" sz="2000" b="1" dirty="0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Solution</a:t>
            </a:r>
            <a:endParaRPr sz="1200" dirty="0"/>
          </a:p>
        </p:txBody>
      </p:sp>
      <p:sp>
        <p:nvSpPr>
          <p:cNvPr id="205" name="Google Shape;205;p24"/>
          <p:cNvSpPr txBox="1"/>
          <p:nvPr/>
        </p:nvSpPr>
        <p:spPr>
          <a:xfrm>
            <a:off x="531000" y="1371393"/>
            <a:ext cx="8082000" cy="50199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is_balanced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(expression):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stack = []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# Dictionary to hold matching pairs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matching_pairs</a:t>
            </a: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{')': '(', '}': '{', ']': '['}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for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char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expression: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if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char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lang="en-US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matching_pairs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6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US" sz="1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# If it's one of the opening symbols</a:t>
            </a:r>
            <a:endParaRPr sz="1600" dirty="0">
              <a:solidFill>
                <a:schemeClr val="tx1">
                  <a:lumMod val="50000"/>
                  <a:lumOff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lang="en-US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stack.append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char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char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lang="en-US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matching_pairs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6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r>
              <a:rPr lang="en-US" sz="1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# If it's one of the closing symbols</a:t>
            </a:r>
            <a:endParaRPr sz="1600" dirty="0">
              <a:solidFill>
                <a:schemeClr val="tx1">
                  <a:lumMod val="50000"/>
                  <a:lumOff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if </a:t>
            </a: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[] or </a:t>
            </a:r>
            <a:r>
              <a:rPr lang="en-US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stack.pop</a:t>
            </a: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 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!= </a:t>
            </a:r>
            <a:r>
              <a:rPr lang="en-US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matching_pairs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char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]: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return False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== 0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Test cases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expression1 = "{[()()]}"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expression2 = "{[(])}"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is_balanced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(expression1)) 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# Output: True</a:t>
            </a:r>
            <a:endParaRPr sz="1600" dirty="0">
              <a:solidFill>
                <a:schemeClr val="tx1">
                  <a:lumMod val="50000"/>
                  <a:lumOff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is_balanced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(expression2)) 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# Output: False</a:t>
            </a:r>
            <a:endParaRPr sz="1600" dirty="0">
              <a:solidFill>
                <a:schemeClr val="tx1">
                  <a:lumMod val="50000"/>
                  <a:lumOff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975483D2-C67C-3CEA-793D-1401D9803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>
            <a:extLst>
              <a:ext uri="{FF2B5EF4-FFF2-40B4-BE49-F238E27FC236}">
                <a16:creationId xmlns:a16="http://schemas.microsoft.com/office/drawing/2014/main" id="{C5728E3E-38EA-3AC0-F1A8-2884511912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Stacks</a:t>
            </a:r>
            <a:endParaRPr sz="3200"/>
          </a:p>
        </p:txBody>
      </p:sp>
      <p:sp>
        <p:nvSpPr>
          <p:cNvPr id="201" name="Google Shape;201;p24">
            <a:extLst>
              <a:ext uri="{FF2B5EF4-FFF2-40B4-BE49-F238E27FC236}">
                <a16:creationId xmlns:a16="http://schemas.microsoft.com/office/drawing/2014/main" id="{97C39C8F-CAEF-8421-AD39-A948100A33CA}"/>
              </a:ext>
            </a:extLst>
          </p:cNvPr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4">
            <a:extLst>
              <a:ext uri="{FF2B5EF4-FFF2-40B4-BE49-F238E27FC236}">
                <a16:creationId xmlns:a16="http://schemas.microsoft.com/office/drawing/2014/main" id="{54928626-744C-742E-689F-2ACA72E2B1DC}"/>
              </a:ext>
            </a:extLst>
          </p:cNvPr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>
            <a:extLst>
              <a:ext uri="{FF2B5EF4-FFF2-40B4-BE49-F238E27FC236}">
                <a16:creationId xmlns:a16="http://schemas.microsoft.com/office/drawing/2014/main" id="{224BA84D-7FC2-CE7C-0711-41269660EAF1}"/>
              </a:ext>
            </a:extLst>
          </p:cNvPr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4">
            <a:extLst>
              <a:ext uri="{FF2B5EF4-FFF2-40B4-BE49-F238E27FC236}">
                <a16:creationId xmlns:a16="http://schemas.microsoft.com/office/drawing/2014/main" id="{879B874F-7C6F-9910-A325-8D1C92BF41F3}"/>
              </a:ext>
            </a:extLst>
          </p:cNvPr>
          <p:cNvSpPr txBox="1"/>
          <p:nvPr/>
        </p:nvSpPr>
        <p:spPr>
          <a:xfrm>
            <a:off x="457200" y="1013360"/>
            <a:ext cx="808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404040"/>
                </a:solidFill>
                <a:latin typeface="Inter"/>
                <a:ea typeface="Inter"/>
              </a:rPr>
              <a:t>Challenge 1: Adding More Delimiters</a:t>
            </a:r>
            <a:endParaRPr sz="2400" b="1" dirty="0">
              <a:solidFill>
                <a:srgbClr val="404040"/>
              </a:solidFill>
              <a:latin typeface="Inter"/>
              <a:ea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61C4B9-7AB0-7EE4-A804-667FA24160A8}"/>
              </a:ext>
            </a:extLst>
          </p:cNvPr>
          <p:cNvSpPr txBox="1"/>
          <p:nvPr/>
        </p:nvSpPr>
        <p:spPr>
          <a:xfrm>
            <a:off x="1445400" y="1692329"/>
            <a:ext cx="46260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9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sym typeface="Calibri"/>
              </a:rPr>
              <a:t>&lt; &gt; (angle brackets)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9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sym typeface="Calibri"/>
              </a:rPr>
              <a:t>' ' (single quotes)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9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sym typeface="Calibri"/>
              </a:rPr>
              <a:t>" " (double quotes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3813121-8157-1D2B-D3A7-54FEAE354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10" y="2932986"/>
            <a:ext cx="76347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b="1" i="1" dirty="0">
                <a:solidFill>
                  <a:schemeClr val="tx1"/>
                </a:solidFill>
                <a:latin typeface="Arial" panose="020B0604020202020204" pitchFamily="34" charset="0"/>
              </a:rPr>
              <a:t>Question</a:t>
            </a:r>
            <a:r>
              <a:rPr lang="en-US" altLang="en-US" sz="1800" i="1" dirty="0">
                <a:solidFill>
                  <a:schemeClr val="tx1"/>
                </a:solidFill>
                <a:latin typeface="Arial" panose="020B0604020202020204" pitchFamily="34" charset="0"/>
              </a:rPr>
              <a:t>: How would you modify the </a:t>
            </a:r>
            <a:r>
              <a:rPr lang="en-US" altLang="en-US" sz="1800" i="1" dirty="0" err="1">
                <a:solidFill>
                  <a:schemeClr val="tx1"/>
                </a:solidFill>
                <a:latin typeface="Arial" panose="020B0604020202020204" pitchFamily="34" charset="0"/>
              </a:rPr>
              <a:t>matching_pairs</a:t>
            </a:r>
            <a:r>
              <a:rPr lang="en-US" altLang="en-US" sz="1800" i="1" dirty="0">
                <a:solidFill>
                  <a:schemeClr val="tx1"/>
                </a:solidFill>
                <a:latin typeface="Arial" panose="020B0604020202020204" pitchFamily="34" charset="0"/>
              </a:rPr>
              <a:t> dictionary to include these new symbols?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AA887D-6034-C84B-7E60-34EC3AAEAE6A}"/>
              </a:ext>
            </a:extLst>
          </p:cNvPr>
          <p:cNvSpPr txBox="1"/>
          <p:nvPr/>
        </p:nvSpPr>
        <p:spPr>
          <a:xfrm>
            <a:off x="589935" y="3999346"/>
            <a:ext cx="6823588" cy="40011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dk1"/>
                </a:solidFill>
                <a:latin typeface="Inter"/>
                <a:ea typeface="Inter"/>
              </a:rPr>
              <a:t>Hint: You would need to update the dictionary</a:t>
            </a:r>
          </a:p>
        </p:txBody>
      </p:sp>
    </p:spTree>
    <p:extLst>
      <p:ext uri="{BB962C8B-B14F-4D97-AF65-F5344CB8AC3E}">
        <p14:creationId xmlns:p14="http://schemas.microsoft.com/office/powerpoint/2010/main" val="2212381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7D920527-CC10-A4C9-0FEB-0573074A4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>
            <a:extLst>
              <a:ext uri="{FF2B5EF4-FFF2-40B4-BE49-F238E27FC236}">
                <a16:creationId xmlns:a16="http://schemas.microsoft.com/office/drawing/2014/main" id="{55399365-D14A-ACD0-5533-2BBEC86426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Stacks</a:t>
            </a:r>
            <a:endParaRPr sz="3200"/>
          </a:p>
        </p:txBody>
      </p:sp>
      <p:sp>
        <p:nvSpPr>
          <p:cNvPr id="201" name="Google Shape;201;p24">
            <a:extLst>
              <a:ext uri="{FF2B5EF4-FFF2-40B4-BE49-F238E27FC236}">
                <a16:creationId xmlns:a16="http://schemas.microsoft.com/office/drawing/2014/main" id="{D66F5FB2-9DD8-864D-C109-0F885AA00869}"/>
              </a:ext>
            </a:extLst>
          </p:cNvPr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4">
            <a:extLst>
              <a:ext uri="{FF2B5EF4-FFF2-40B4-BE49-F238E27FC236}">
                <a16:creationId xmlns:a16="http://schemas.microsoft.com/office/drawing/2014/main" id="{0A0473CF-F832-5818-0499-7D97A2372072}"/>
              </a:ext>
            </a:extLst>
          </p:cNvPr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>
            <a:extLst>
              <a:ext uri="{FF2B5EF4-FFF2-40B4-BE49-F238E27FC236}">
                <a16:creationId xmlns:a16="http://schemas.microsoft.com/office/drawing/2014/main" id="{1E578958-C3C0-C563-D454-111054E6625D}"/>
              </a:ext>
            </a:extLst>
          </p:cNvPr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D1207B7-FD5A-6872-FE2F-177634290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10" y="3025319"/>
            <a:ext cx="7634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379366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Queues</a:t>
            </a:r>
            <a:endParaRPr sz="3200"/>
          </a:p>
        </p:txBody>
      </p:sp>
      <p:sp>
        <p:nvSpPr>
          <p:cNvPr id="212" name="Google Shape;212;p25"/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5"/>
          <p:cNvSpPr txBox="1"/>
          <p:nvPr/>
        </p:nvSpPr>
        <p:spPr>
          <a:xfrm>
            <a:off x="369000" y="931461"/>
            <a:ext cx="8082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Char char="•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20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queue</a:t>
            </a: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is a collection of objects that are inserted and removed according to the first-in, first-out (FIFO) principle.</a:t>
            </a:r>
            <a:endParaRPr sz="12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25"/>
          <p:cNvSpPr txBox="1"/>
          <p:nvPr/>
        </p:nvSpPr>
        <p:spPr>
          <a:xfrm>
            <a:off x="254018" y="1709136"/>
            <a:ext cx="50751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 Operations: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Q.enqueue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(e):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Add element e to the back of queue Q. 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Q.dequeue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):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Remove and return the first element from queue Q.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Q.first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):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Return a reference to the element at the front of queue Q, without removing it.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4100" y="2606727"/>
            <a:ext cx="3242700" cy="2057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5E1A4C-26D1-8C35-BAED-8072287C82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248"/>
          <a:stretch/>
        </p:blipFill>
        <p:spPr>
          <a:xfrm>
            <a:off x="369000" y="4785263"/>
            <a:ext cx="5636653" cy="16504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Queues</a:t>
            </a:r>
            <a:endParaRPr sz="2900"/>
          </a:p>
        </p:txBody>
      </p:sp>
      <p:sp>
        <p:nvSpPr>
          <p:cNvPr id="224" name="Google Shape;224;p26"/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6"/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6"/>
          <p:cNvSpPr txBox="1"/>
          <p:nvPr/>
        </p:nvSpPr>
        <p:spPr>
          <a:xfrm>
            <a:off x="457200" y="1101856"/>
            <a:ext cx="808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6"/>
          <p:cNvSpPr txBox="1"/>
          <p:nvPr/>
        </p:nvSpPr>
        <p:spPr>
          <a:xfrm>
            <a:off x="211385" y="1072110"/>
            <a:ext cx="8229600" cy="29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•"/>
            </a:pPr>
            <a:r>
              <a:rPr lang="en-US" sz="2300" b="1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 of </a:t>
            </a:r>
            <a:r>
              <a:rPr lang="en-US" sz="23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Queues</a:t>
            </a:r>
            <a:r>
              <a:rPr lang="en-US" sz="2300" b="1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300" b="1" dirty="0">
              <a:latin typeface="Calibri"/>
              <a:ea typeface="Calibri"/>
              <a:cs typeface="Calibri"/>
              <a:sym typeface="Calibri"/>
            </a:endParaRPr>
          </a:p>
          <a:p>
            <a:pPr marL="800100" marR="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o"/>
            </a:pPr>
            <a:r>
              <a:rPr lang="en-US" sz="2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r>
              <a:rPr lang="en-US" sz="23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a ticket booking system manage customers efficiently?</a:t>
            </a:r>
            <a:endParaRPr sz="2300" dirty="0">
              <a:latin typeface="Calibri"/>
              <a:ea typeface="Calibri"/>
              <a:cs typeface="Calibri"/>
              <a:sym typeface="Calibri"/>
            </a:endParaRPr>
          </a:p>
          <a:p>
            <a:pPr marL="800100" marR="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o"/>
            </a:pPr>
            <a:r>
              <a:rPr lang="en-US" sz="2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r>
              <a:rPr lang="en-US" sz="23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300" dirty="0">
              <a:latin typeface="Calibri"/>
              <a:ea typeface="Calibri"/>
              <a:cs typeface="Calibri"/>
              <a:sym typeface="Calibri"/>
            </a:endParaRPr>
          </a:p>
          <a:p>
            <a:pPr marL="857250" lvl="0" indent="-203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Customers are served in the order they arrive → FIFO (First In, First Out)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57250" lvl="0" indent="-203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customers join the queue → Enqueue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57250" lvl="0" indent="-203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first customer in the queue gets served → Dequeue</a:t>
            </a:r>
            <a:endParaRPr sz="23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997" y="4200887"/>
            <a:ext cx="4956375" cy="217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Queues</a:t>
            </a:r>
            <a:endParaRPr sz="3200"/>
          </a:p>
        </p:txBody>
      </p:sp>
      <p:sp>
        <p:nvSpPr>
          <p:cNvPr id="236" name="Google Shape;236;p27"/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7"/>
          <p:cNvSpPr txBox="1"/>
          <p:nvPr/>
        </p:nvSpPr>
        <p:spPr>
          <a:xfrm>
            <a:off x="457200" y="1101856"/>
            <a:ext cx="808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-235953" y="1053803"/>
            <a:ext cx="809895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1: </a:t>
            </a:r>
            <a:r>
              <a:rPr lang="en-US" sz="2000" dirty="0"/>
              <a:t>Simulate a queue of people waiting for a service (like at a bank). Each person arrives at the bank and waits for their turn to be served.</a:t>
            </a:r>
            <a:endParaRPr sz="2000" dirty="0"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134638-B65A-BAF1-70A8-076C6C6766BE}"/>
              </a:ext>
            </a:extLst>
          </p:cNvPr>
          <p:cNvSpPr txBox="1"/>
          <p:nvPr/>
        </p:nvSpPr>
        <p:spPr>
          <a:xfrm>
            <a:off x="648578" y="2167364"/>
            <a:ext cx="72144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Note: Each person</a:t>
            </a:r>
            <a:r>
              <a:rPr lang="en-US" sz="2000" dirty="0"/>
              <a:t> has a name and the time they arrive.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C70BCB-76E7-ACD0-FD01-BC68A4421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578" y="2676783"/>
            <a:ext cx="3461306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/>
              <a:t>Queue Operations: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/>
          </a:p>
          <a:p>
            <a:pPr lvl="7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/>
              <a:t>enqueue(): A person arrives and joins the queue.</a:t>
            </a:r>
          </a:p>
          <a:p>
            <a:pPr lvl="7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dirty="0"/>
          </a:p>
          <a:p>
            <a:pPr lvl="7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/>
              <a:t>dequeue(): The person at the front of the queue is served and leaves.</a:t>
            </a:r>
          </a:p>
          <a:p>
            <a:pPr lvl="7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dirty="0"/>
          </a:p>
          <a:p>
            <a:pPr lvl="7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/>
              <a:t>first(): Check who is next in 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1" name="Picture 3" descr="Bank Queue. People Standing in Row To Bank Worker, Clients Verifying ...">
            <a:extLst>
              <a:ext uri="{FF2B5EF4-FFF2-40B4-BE49-F238E27FC236}">
                <a16:creationId xmlns:a16="http://schemas.microsoft.com/office/drawing/2014/main" id="{4B46DEFF-C027-8C9B-8C88-2DFC0FF260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666"/>
          <a:stretch/>
        </p:blipFill>
        <p:spPr bwMode="auto">
          <a:xfrm>
            <a:off x="4182046" y="3225295"/>
            <a:ext cx="4740612" cy="2250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9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Queues</a:t>
            </a:r>
            <a:endParaRPr sz="3200"/>
          </a:p>
        </p:txBody>
      </p:sp>
      <p:sp>
        <p:nvSpPr>
          <p:cNvPr id="260" name="Google Shape;260;p29"/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9"/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9"/>
          <p:cNvSpPr txBox="1"/>
          <p:nvPr/>
        </p:nvSpPr>
        <p:spPr>
          <a:xfrm>
            <a:off x="457200" y="1101856"/>
            <a:ext cx="808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9"/>
          <p:cNvSpPr txBox="1"/>
          <p:nvPr/>
        </p:nvSpPr>
        <p:spPr>
          <a:xfrm>
            <a:off x="366450" y="1101850"/>
            <a:ext cx="8411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5" name="Google Shape;265;p29"/>
          <p:cNvSpPr txBox="1"/>
          <p:nvPr/>
        </p:nvSpPr>
        <p:spPr>
          <a:xfrm>
            <a:off x="457200" y="978706"/>
            <a:ext cx="8019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Problem 1: Solution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64516-9046-5E3F-19AA-518C4C458046}"/>
              </a:ext>
            </a:extLst>
          </p:cNvPr>
          <p:cNvSpPr txBox="1"/>
          <p:nvPr/>
        </p:nvSpPr>
        <p:spPr>
          <a:xfrm>
            <a:off x="543430" y="1738469"/>
            <a:ext cx="7932770" cy="315875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</a:t>
            </a:r>
          </a:p>
          <a:p>
            <a:pPr>
              <a:lnSpc>
                <a:spcPts val="2025"/>
              </a:lnSpc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is_empty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"""Check if the queue is empty"""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"""Add person to the back of the queue"""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086CBD39-3371-FA4F-CBBC-AD5F40A2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9">
            <a:extLst>
              <a:ext uri="{FF2B5EF4-FFF2-40B4-BE49-F238E27FC236}">
                <a16:creationId xmlns:a16="http://schemas.microsoft.com/office/drawing/2014/main" id="{8AAE9193-34C4-1868-6ABB-64A56DE727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Queues</a:t>
            </a:r>
            <a:endParaRPr sz="3200"/>
          </a:p>
        </p:txBody>
      </p:sp>
      <p:sp>
        <p:nvSpPr>
          <p:cNvPr id="260" name="Google Shape;260;p29">
            <a:extLst>
              <a:ext uri="{FF2B5EF4-FFF2-40B4-BE49-F238E27FC236}">
                <a16:creationId xmlns:a16="http://schemas.microsoft.com/office/drawing/2014/main" id="{449EDF34-B6E4-F6A0-ACBE-5078D3B3DE7F}"/>
              </a:ext>
            </a:extLst>
          </p:cNvPr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9">
            <a:extLst>
              <a:ext uri="{FF2B5EF4-FFF2-40B4-BE49-F238E27FC236}">
                <a16:creationId xmlns:a16="http://schemas.microsoft.com/office/drawing/2014/main" id="{F2D41B01-98F2-8C87-EA8B-1D43DCF58278}"/>
              </a:ext>
            </a:extLst>
          </p:cNvPr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9">
            <a:extLst>
              <a:ext uri="{FF2B5EF4-FFF2-40B4-BE49-F238E27FC236}">
                <a16:creationId xmlns:a16="http://schemas.microsoft.com/office/drawing/2014/main" id="{518F9AD1-02BA-2B59-3A77-A3DCE54E971C}"/>
              </a:ext>
            </a:extLst>
          </p:cNvPr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9">
            <a:extLst>
              <a:ext uri="{FF2B5EF4-FFF2-40B4-BE49-F238E27FC236}">
                <a16:creationId xmlns:a16="http://schemas.microsoft.com/office/drawing/2014/main" id="{2277754E-8870-A4DE-D708-655FA9ACFCD4}"/>
              </a:ext>
            </a:extLst>
          </p:cNvPr>
          <p:cNvSpPr txBox="1"/>
          <p:nvPr/>
        </p:nvSpPr>
        <p:spPr>
          <a:xfrm>
            <a:off x="457200" y="1101856"/>
            <a:ext cx="808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9">
            <a:extLst>
              <a:ext uri="{FF2B5EF4-FFF2-40B4-BE49-F238E27FC236}">
                <a16:creationId xmlns:a16="http://schemas.microsoft.com/office/drawing/2014/main" id="{3EC492C5-D665-9F88-6674-08A7F68AC68D}"/>
              </a:ext>
            </a:extLst>
          </p:cNvPr>
          <p:cNvSpPr txBox="1"/>
          <p:nvPr/>
        </p:nvSpPr>
        <p:spPr>
          <a:xfrm>
            <a:off x="366450" y="1101850"/>
            <a:ext cx="8411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5" name="Google Shape;265;p29">
            <a:extLst>
              <a:ext uri="{FF2B5EF4-FFF2-40B4-BE49-F238E27FC236}">
                <a16:creationId xmlns:a16="http://schemas.microsoft.com/office/drawing/2014/main" id="{F6531465-3E7B-F7F7-07EF-C3D23AB6A615}"/>
              </a:ext>
            </a:extLst>
          </p:cNvPr>
          <p:cNvSpPr txBox="1"/>
          <p:nvPr/>
        </p:nvSpPr>
        <p:spPr>
          <a:xfrm>
            <a:off x="457200" y="1101850"/>
            <a:ext cx="8019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Problem 1: Solution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B793D-1B9F-3AC6-DDE6-173F456DEB1C}"/>
              </a:ext>
            </a:extLst>
          </p:cNvPr>
          <p:cNvSpPr txBox="1"/>
          <p:nvPr/>
        </p:nvSpPr>
        <p:spPr>
          <a:xfrm>
            <a:off x="543430" y="1875980"/>
            <a:ext cx="7756020" cy="341523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"""Remove and return the first person in the queue"""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is_empty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 one is in the queue"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"""Return the first person in the queue without removing"""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is_empty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 one is in the queue"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</a:p>
        </p:txBody>
      </p:sp>
    </p:spTree>
    <p:extLst>
      <p:ext uri="{BB962C8B-B14F-4D97-AF65-F5344CB8AC3E}">
        <p14:creationId xmlns:p14="http://schemas.microsoft.com/office/powerpoint/2010/main" val="2032384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09295438-1D36-9DD0-FB54-8A31EDD26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9">
            <a:extLst>
              <a:ext uri="{FF2B5EF4-FFF2-40B4-BE49-F238E27FC236}">
                <a16:creationId xmlns:a16="http://schemas.microsoft.com/office/drawing/2014/main" id="{D6151E87-19AE-26C2-A8F0-87AC754068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dirty="0"/>
              <a:t>Queues</a:t>
            </a:r>
            <a:endParaRPr sz="3200" dirty="0"/>
          </a:p>
        </p:txBody>
      </p:sp>
      <p:sp>
        <p:nvSpPr>
          <p:cNvPr id="260" name="Google Shape;260;p29">
            <a:extLst>
              <a:ext uri="{FF2B5EF4-FFF2-40B4-BE49-F238E27FC236}">
                <a16:creationId xmlns:a16="http://schemas.microsoft.com/office/drawing/2014/main" id="{945027AF-39A7-87D2-1C1F-21A78D681369}"/>
              </a:ext>
            </a:extLst>
          </p:cNvPr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9">
            <a:extLst>
              <a:ext uri="{FF2B5EF4-FFF2-40B4-BE49-F238E27FC236}">
                <a16:creationId xmlns:a16="http://schemas.microsoft.com/office/drawing/2014/main" id="{F4F0278F-2E7A-5B2C-95D3-7DCFC28438D1}"/>
              </a:ext>
            </a:extLst>
          </p:cNvPr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9">
            <a:extLst>
              <a:ext uri="{FF2B5EF4-FFF2-40B4-BE49-F238E27FC236}">
                <a16:creationId xmlns:a16="http://schemas.microsoft.com/office/drawing/2014/main" id="{3E8061CF-AA5A-7DA9-A840-04D283E24CC9}"/>
              </a:ext>
            </a:extLst>
          </p:cNvPr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9">
            <a:extLst>
              <a:ext uri="{FF2B5EF4-FFF2-40B4-BE49-F238E27FC236}">
                <a16:creationId xmlns:a16="http://schemas.microsoft.com/office/drawing/2014/main" id="{07E4351E-81F9-113B-1D46-F1E5165FCDA7}"/>
              </a:ext>
            </a:extLst>
          </p:cNvPr>
          <p:cNvSpPr txBox="1"/>
          <p:nvPr/>
        </p:nvSpPr>
        <p:spPr>
          <a:xfrm>
            <a:off x="457200" y="1101856"/>
            <a:ext cx="808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9">
            <a:extLst>
              <a:ext uri="{FF2B5EF4-FFF2-40B4-BE49-F238E27FC236}">
                <a16:creationId xmlns:a16="http://schemas.microsoft.com/office/drawing/2014/main" id="{2DAADB97-6FC9-185B-C7BE-9AA733912D9E}"/>
              </a:ext>
            </a:extLst>
          </p:cNvPr>
          <p:cNvSpPr txBox="1"/>
          <p:nvPr/>
        </p:nvSpPr>
        <p:spPr>
          <a:xfrm>
            <a:off x="366450" y="1101850"/>
            <a:ext cx="8411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5" name="Google Shape;265;p29">
            <a:extLst>
              <a:ext uri="{FF2B5EF4-FFF2-40B4-BE49-F238E27FC236}">
                <a16:creationId xmlns:a16="http://schemas.microsoft.com/office/drawing/2014/main" id="{34FF6877-CD7E-084D-C2C3-1FFA7678EB94}"/>
              </a:ext>
            </a:extLst>
          </p:cNvPr>
          <p:cNvSpPr txBox="1"/>
          <p:nvPr/>
        </p:nvSpPr>
        <p:spPr>
          <a:xfrm>
            <a:off x="488700" y="978706"/>
            <a:ext cx="8019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Problem 1: Solution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3DD4E8-566D-E0EA-DB86-7701D57D73F0}"/>
              </a:ext>
            </a:extLst>
          </p:cNvPr>
          <p:cNvSpPr txBox="1"/>
          <p:nvPr/>
        </p:nvSpPr>
        <p:spPr>
          <a:xfrm>
            <a:off x="592592" y="1532650"/>
            <a:ext cx="7086402" cy="4434547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Simulation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025"/>
              </a:lnSpc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Adding people to the queue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</a:pP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</a:pP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"Charlie"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Checking the first person in the queue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"First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in line: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Output: Alice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Serving the first person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served_person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"Served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served_person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Output: Alice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Checking who is next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"Next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in line: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Output: Bob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819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>
          <a:extLst>
            <a:ext uri="{FF2B5EF4-FFF2-40B4-BE49-F238E27FC236}">
              <a16:creationId xmlns:a16="http://schemas.microsoft.com/office/drawing/2014/main" id="{66A081D8-5417-3829-447F-4BAFE7AB2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0">
            <a:extLst>
              <a:ext uri="{FF2B5EF4-FFF2-40B4-BE49-F238E27FC236}">
                <a16:creationId xmlns:a16="http://schemas.microsoft.com/office/drawing/2014/main" id="{DE4E0DF1-E3E2-DE88-77D3-6BADFA3051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dirty="0"/>
              <a:t>Queues</a:t>
            </a:r>
            <a:endParaRPr sz="2900" dirty="0"/>
          </a:p>
        </p:txBody>
      </p:sp>
      <p:sp>
        <p:nvSpPr>
          <p:cNvPr id="394" name="Google Shape;394;p40">
            <a:extLst>
              <a:ext uri="{FF2B5EF4-FFF2-40B4-BE49-F238E27FC236}">
                <a16:creationId xmlns:a16="http://schemas.microsoft.com/office/drawing/2014/main" id="{0902AD8E-64F5-B9A0-35C4-1F19FA092001}"/>
              </a:ext>
            </a:extLst>
          </p:cNvPr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0">
            <a:extLst>
              <a:ext uri="{FF2B5EF4-FFF2-40B4-BE49-F238E27FC236}">
                <a16:creationId xmlns:a16="http://schemas.microsoft.com/office/drawing/2014/main" id="{00D52F75-7C11-6B48-39E0-07063FD34BA1}"/>
              </a:ext>
            </a:extLst>
          </p:cNvPr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37EDBBEB-E910-3D67-2155-9514F4442D15}"/>
              </a:ext>
            </a:extLst>
          </p:cNvPr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0">
            <a:extLst>
              <a:ext uri="{FF2B5EF4-FFF2-40B4-BE49-F238E27FC236}">
                <a16:creationId xmlns:a16="http://schemas.microsoft.com/office/drawing/2014/main" id="{FB6A4B7B-1ADF-E55A-7F7E-1E7D59E36704}"/>
              </a:ext>
            </a:extLst>
          </p:cNvPr>
          <p:cNvSpPr txBox="1"/>
          <p:nvPr/>
        </p:nvSpPr>
        <p:spPr>
          <a:xfrm>
            <a:off x="457200" y="1101856"/>
            <a:ext cx="808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F7E5D4-5887-F495-CB92-B34B702C0CEE}"/>
              </a:ext>
            </a:extLst>
          </p:cNvPr>
          <p:cNvSpPr txBox="1"/>
          <p:nvPr/>
        </p:nvSpPr>
        <p:spPr>
          <a:xfrm>
            <a:off x="312637" y="3096692"/>
            <a:ext cx="817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88319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>
          <a:extLst>
            <a:ext uri="{FF2B5EF4-FFF2-40B4-BE49-F238E27FC236}">
              <a16:creationId xmlns:a16="http://schemas.microsoft.com/office/drawing/2014/main" id="{7D9DB114-819A-8F26-8845-BFFEB46E1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0">
            <a:extLst>
              <a:ext uri="{FF2B5EF4-FFF2-40B4-BE49-F238E27FC236}">
                <a16:creationId xmlns:a16="http://schemas.microsoft.com/office/drawing/2014/main" id="{03D77EB0-FCB3-71CC-0912-5BE5CE18E8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dirty="0"/>
              <a:t>Main limitations of </a:t>
            </a:r>
            <a:r>
              <a:rPr lang="en-US" sz="3200" b="1" dirty="0"/>
              <a:t>Stack</a:t>
            </a:r>
            <a:r>
              <a:rPr lang="en-US" sz="3200" dirty="0"/>
              <a:t> &amp; </a:t>
            </a:r>
            <a:r>
              <a:rPr lang="en-US" sz="3200" b="1" dirty="0"/>
              <a:t>Queues</a:t>
            </a:r>
            <a:endParaRPr sz="3200" b="1" dirty="0"/>
          </a:p>
        </p:txBody>
      </p:sp>
      <p:sp>
        <p:nvSpPr>
          <p:cNvPr id="394" name="Google Shape;394;p40">
            <a:extLst>
              <a:ext uri="{FF2B5EF4-FFF2-40B4-BE49-F238E27FC236}">
                <a16:creationId xmlns:a16="http://schemas.microsoft.com/office/drawing/2014/main" id="{4634DCC2-3C32-275A-6C10-7665F4C9E63C}"/>
              </a:ext>
            </a:extLst>
          </p:cNvPr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0">
            <a:extLst>
              <a:ext uri="{FF2B5EF4-FFF2-40B4-BE49-F238E27FC236}">
                <a16:creationId xmlns:a16="http://schemas.microsoft.com/office/drawing/2014/main" id="{6EB0CE47-4698-3DCE-4634-6D6F407855E1}"/>
              </a:ext>
            </a:extLst>
          </p:cNvPr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6354750F-0AE0-FA62-9654-964A8E8E54BA}"/>
              </a:ext>
            </a:extLst>
          </p:cNvPr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0">
            <a:extLst>
              <a:ext uri="{FF2B5EF4-FFF2-40B4-BE49-F238E27FC236}">
                <a16:creationId xmlns:a16="http://schemas.microsoft.com/office/drawing/2014/main" id="{0A3FE904-9BDF-E168-71DA-00C0667F124A}"/>
              </a:ext>
            </a:extLst>
          </p:cNvPr>
          <p:cNvSpPr txBox="1"/>
          <p:nvPr/>
        </p:nvSpPr>
        <p:spPr>
          <a:xfrm>
            <a:off x="457200" y="1101856"/>
            <a:ext cx="808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61E7D3-F59C-018D-EFA5-B4DF4D5B2D61}"/>
              </a:ext>
            </a:extLst>
          </p:cNvPr>
          <p:cNvSpPr txBox="1"/>
          <p:nvPr/>
        </p:nvSpPr>
        <p:spPr>
          <a:xfrm>
            <a:off x="1445400" y="1037810"/>
            <a:ext cx="6015850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There are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some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main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limations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with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22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Stack 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and </a:t>
            </a:r>
            <a:r>
              <a:rPr lang="fr-FR" sz="22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Queue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data structure: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Fixed size: 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In general (with arrays), stacks and queues are implemented with a </a:t>
            </a: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fixed size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 When it’s full, no more elements can be added, leading to </a:t>
            </a:r>
            <a:r>
              <a:rPr lang="en-US" sz="2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overflow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!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Memory Utilization: 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With arrays, you need to allocate a </a:t>
            </a: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contiguous block of memory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 It becomes difficult to manage memory efficiently when the size exceeds this block.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Insertion and deletion: 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when performed, it requires shifting all elements by 1 position.</a:t>
            </a:r>
          </a:p>
          <a:p>
            <a:pPr lvl="1"/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Now, we will have a look at a more flexible data structure…</a:t>
            </a:r>
          </a:p>
        </p:txBody>
      </p:sp>
    </p:spTree>
    <p:extLst>
      <p:ext uri="{BB962C8B-B14F-4D97-AF65-F5344CB8AC3E}">
        <p14:creationId xmlns:p14="http://schemas.microsoft.com/office/powerpoint/2010/main" val="2666380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dirty="0"/>
              <a:t>Linked Lists</a:t>
            </a:r>
            <a:endParaRPr sz="2900" dirty="0"/>
          </a:p>
        </p:txBody>
      </p:sp>
      <p:sp>
        <p:nvSpPr>
          <p:cNvPr id="308" name="Google Shape;308;p33"/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3"/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3"/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3"/>
          <p:cNvSpPr txBox="1"/>
          <p:nvPr/>
        </p:nvSpPr>
        <p:spPr>
          <a:xfrm>
            <a:off x="457200" y="1101856"/>
            <a:ext cx="808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33"/>
          <p:cNvSpPr txBox="1"/>
          <p:nvPr/>
        </p:nvSpPr>
        <p:spPr>
          <a:xfrm>
            <a:off x="360150" y="1010030"/>
            <a:ext cx="83265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linked list</a:t>
            </a:r>
            <a:r>
              <a:rPr lang="en-US" sz="2000" dirty="0"/>
              <a:t> is a collection of elements, called </a:t>
            </a:r>
            <a:r>
              <a:rPr lang="en-US" sz="2000" b="1" dirty="0"/>
              <a:t>nodes</a:t>
            </a:r>
            <a:r>
              <a:rPr lang="en-US" sz="2000" dirty="0"/>
              <a:t>, where each node stores two things: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Data</a:t>
            </a:r>
            <a:r>
              <a:rPr lang="en-US" sz="2000" dirty="0"/>
              <a:t>: The actual value or information.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Next</a:t>
            </a:r>
            <a:r>
              <a:rPr lang="en-US" sz="2000" dirty="0"/>
              <a:t>: A link (or pointer) to the next node in the list</a:t>
            </a:r>
          </a:p>
        </p:txBody>
      </p:sp>
      <p:pic>
        <p:nvPicPr>
          <p:cNvPr id="314" name="Google Shape;31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194" y="3345607"/>
            <a:ext cx="5271626" cy="143476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3"/>
          <p:cNvSpPr txBox="1"/>
          <p:nvPr/>
        </p:nvSpPr>
        <p:spPr>
          <a:xfrm>
            <a:off x="360150" y="5342225"/>
            <a:ext cx="8326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simple words, a linked list consists of nodes where each node contains a data field and a reference (link) to the next node in the list.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5F7F3C-81E5-8874-AF07-440123A2C6E8}"/>
              </a:ext>
            </a:extLst>
          </p:cNvPr>
          <p:cNvSpPr txBox="1"/>
          <p:nvPr/>
        </p:nvSpPr>
        <p:spPr>
          <a:xfrm>
            <a:off x="457200" y="2485575"/>
            <a:ext cx="8003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ym typeface="Calibri"/>
              </a:rPr>
              <a:t>The elements in a linked list are linked using pointers as shown in the below image: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Linked Lists</a:t>
            </a:r>
            <a:endParaRPr sz="2900"/>
          </a:p>
        </p:txBody>
      </p:sp>
      <p:sp>
        <p:nvSpPr>
          <p:cNvPr id="372" name="Google Shape;372;p38"/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8"/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8"/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8"/>
          <p:cNvSpPr txBox="1"/>
          <p:nvPr/>
        </p:nvSpPr>
        <p:spPr>
          <a:xfrm>
            <a:off x="457200" y="938715"/>
            <a:ext cx="808200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"</a:t>
            </a:r>
            <a:r>
              <a:rPr lang="en-US" altLang="en-US" sz="20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</a:t>
            </a:r>
            <a:r>
              <a:rPr lang="en-US" altLang="en-US"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helps us know which node comes after the current node, and we keep following the links until we reach None, which tells us the list has ended. </a:t>
            </a:r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6" name="Google Shape;376;p38"/>
          <p:cNvSpPr txBox="1"/>
          <p:nvPr/>
        </p:nvSpPr>
        <p:spPr>
          <a:xfrm>
            <a:off x="457200" y="1791763"/>
            <a:ext cx="8322600" cy="4970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 Operations of a Linked List: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L.insertFirst</a:t>
            </a: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(e): 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element </a:t>
            </a:r>
            <a:r>
              <a:rPr lang="en-US" sz="22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the beginning.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L.insertLast</a:t>
            </a: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(e):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Add element </a:t>
            </a:r>
            <a:r>
              <a:rPr lang="en-US" sz="22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the end.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L.removeFirst</a:t>
            </a: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():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Remove and return the first element.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L.removeLast</a:t>
            </a: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():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Remove and return the last element.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L.remove</a:t>
            </a: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(e): 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the first occurrence of </a:t>
            </a:r>
            <a:r>
              <a:rPr lang="en-US" sz="22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L.search</a:t>
            </a: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(e):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Return the node with value </a:t>
            </a:r>
            <a:r>
              <a:rPr lang="en-US" sz="22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US" sz="22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not found.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L.isEmpty</a:t>
            </a: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():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Return </a:t>
            </a:r>
            <a:r>
              <a:rPr lang="en-US" sz="22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list is empty.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L.size</a:t>
            </a: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():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Return the number of nodes in the list.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L.display</a:t>
            </a: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(): 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 all elements in the list.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9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Linked Lists</a:t>
            </a:r>
            <a:endParaRPr sz="2900"/>
          </a:p>
        </p:txBody>
      </p:sp>
      <p:sp>
        <p:nvSpPr>
          <p:cNvPr id="383" name="Google Shape;383;p39"/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9"/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9"/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9"/>
          <p:cNvSpPr txBox="1"/>
          <p:nvPr/>
        </p:nvSpPr>
        <p:spPr>
          <a:xfrm>
            <a:off x="457200" y="1101856"/>
            <a:ext cx="808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9"/>
          <p:cNvSpPr txBox="1"/>
          <p:nvPr/>
        </p:nvSpPr>
        <p:spPr>
          <a:xfrm>
            <a:off x="364200" y="904540"/>
            <a:ext cx="8322600" cy="4057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 of Linked Lists: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Undo/Redo: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Linked list stores previous/next states in software, allowing navigation through actions.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Management: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Free memory blocks are managed as nodes, with </a:t>
            </a: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allocation 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deallocation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Music Playlist: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Linked list stores songs, allowing easy forward/backward navigation.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Browser History: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Stores visited pages as nodes, enabling backward/forward navigation.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0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Linked Lists</a:t>
            </a:r>
            <a:endParaRPr sz="2900"/>
          </a:p>
        </p:txBody>
      </p:sp>
      <p:sp>
        <p:nvSpPr>
          <p:cNvPr id="394" name="Google Shape;394;p40"/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0"/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0"/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0"/>
          <p:cNvSpPr txBox="1"/>
          <p:nvPr/>
        </p:nvSpPr>
        <p:spPr>
          <a:xfrm>
            <a:off x="457200" y="1101856"/>
            <a:ext cx="808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40"/>
          <p:cNvSpPr txBox="1"/>
          <p:nvPr/>
        </p:nvSpPr>
        <p:spPr>
          <a:xfrm>
            <a:off x="238836" y="771098"/>
            <a:ext cx="8322600" cy="771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1:</a:t>
            </a:r>
            <a:r>
              <a:rPr lang="en-US" sz="23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Music Playlist (Linked List)</a:t>
            </a:r>
            <a:endParaRPr sz="23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6A1BE-ED4F-EA24-1B1F-90BAE6AF9914}"/>
              </a:ext>
            </a:extLst>
          </p:cNvPr>
          <p:cNvSpPr txBox="1"/>
          <p:nvPr/>
        </p:nvSpPr>
        <p:spPr>
          <a:xfrm>
            <a:off x="722700" y="1487789"/>
            <a:ext cx="807717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simple playlist system can easily be extended to manage a collection of songs where you can add songs dynamically and play them one by one, just like in music apps such as </a:t>
            </a: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Spotify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or </a:t>
            </a: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Apple Music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74177-2508-34A9-DC5C-CF38172CC4FD}"/>
              </a:ext>
            </a:extLst>
          </p:cNvPr>
          <p:cNvSpPr txBox="1"/>
          <p:nvPr/>
        </p:nvSpPr>
        <p:spPr>
          <a:xfrm>
            <a:off x="344129" y="2907033"/>
            <a:ext cx="8175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1. Problem</a:t>
            </a:r>
            <a:r>
              <a:rPr lang="en-US" b="1" dirty="0"/>
              <a:t>: 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Write a class </a:t>
            </a:r>
            <a:r>
              <a:rPr lang="en-US" sz="22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SongNode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with </a:t>
            </a:r>
            <a:r>
              <a:rPr lang="en-US" sz="22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song_name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data and </a:t>
            </a:r>
            <a:r>
              <a:rPr lang="en-US" sz="2200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next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method, and </a:t>
            </a:r>
            <a:r>
              <a:rPr lang="en-US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wite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a class </a:t>
            </a:r>
            <a:r>
              <a:rPr lang="en-US" sz="22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Playlist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to organize a playlist of songs in a way that songs can be added dynamically and played in sequence.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D27325-7CBD-9184-C202-AAB653D149A9}"/>
              </a:ext>
            </a:extLst>
          </p:cNvPr>
          <p:cNvSpPr txBox="1"/>
          <p:nvPr/>
        </p:nvSpPr>
        <p:spPr>
          <a:xfrm>
            <a:off x="364199" y="4145034"/>
            <a:ext cx="80718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2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Concept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 A linked list stores songs where each song is linked to the next song in the sequence</a:t>
            </a:r>
            <a:r>
              <a:rPr lang="en-US" dirty="0"/>
              <a:t>.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64523D-A567-0D1E-93FF-F6BA5CFD52F4}"/>
              </a:ext>
            </a:extLst>
          </p:cNvPr>
          <p:cNvSpPr txBox="1"/>
          <p:nvPr/>
        </p:nvSpPr>
        <p:spPr>
          <a:xfrm>
            <a:off x="364199" y="4999511"/>
            <a:ext cx="46260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b="1"/>
            </a:lvl1pPr>
          </a:lstStyle>
          <a:p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3. Key Operations of </a:t>
            </a:r>
            <a:r>
              <a:rPr lang="en-US" sz="2200" b="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Playlist</a:t>
            </a:r>
            <a:r>
              <a:rPr lang="en-US" sz="1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class</a:t>
            </a:r>
            <a:r>
              <a:rPr lang="en-US" dirty="0"/>
              <a:t>: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84FDD21-4909-223B-4606-9860E47D0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710" y="605667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Song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Insert new songs at the end of the playlist (linked list).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 Next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Play and remove the first song, then move to the next 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>
          <a:extLst>
            <a:ext uri="{FF2B5EF4-FFF2-40B4-BE49-F238E27FC236}">
              <a16:creationId xmlns:a16="http://schemas.microsoft.com/office/drawing/2014/main" id="{5835B68E-9FE1-1513-7B9B-FA2BA67A2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0">
            <a:extLst>
              <a:ext uri="{FF2B5EF4-FFF2-40B4-BE49-F238E27FC236}">
                <a16:creationId xmlns:a16="http://schemas.microsoft.com/office/drawing/2014/main" id="{FDF925A0-A15F-69B4-A2CD-448C6760D6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Linked Lists</a:t>
            </a:r>
            <a:endParaRPr sz="2900"/>
          </a:p>
        </p:txBody>
      </p:sp>
      <p:sp>
        <p:nvSpPr>
          <p:cNvPr id="394" name="Google Shape;394;p40">
            <a:extLst>
              <a:ext uri="{FF2B5EF4-FFF2-40B4-BE49-F238E27FC236}">
                <a16:creationId xmlns:a16="http://schemas.microsoft.com/office/drawing/2014/main" id="{5FED25C0-8050-F9FC-9CB8-C525CABB4871}"/>
              </a:ext>
            </a:extLst>
          </p:cNvPr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0">
            <a:extLst>
              <a:ext uri="{FF2B5EF4-FFF2-40B4-BE49-F238E27FC236}">
                <a16:creationId xmlns:a16="http://schemas.microsoft.com/office/drawing/2014/main" id="{A3F259A1-3776-8A45-2B7D-B15B85E1FFBC}"/>
              </a:ext>
            </a:extLst>
          </p:cNvPr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BB488569-7651-0A3C-90B6-BC9957A58249}"/>
              </a:ext>
            </a:extLst>
          </p:cNvPr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0">
            <a:extLst>
              <a:ext uri="{FF2B5EF4-FFF2-40B4-BE49-F238E27FC236}">
                <a16:creationId xmlns:a16="http://schemas.microsoft.com/office/drawing/2014/main" id="{A81F32A6-FD41-7CB8-5102-418E5DF3B77A}"/>
              </a:ext>
            </a:extLst>
          </p:cNvPr>
          <p:cNvSpPr txBox="1"/>
          <p:nvPr/>
        </p:nvSpPr>
        <p:spPr>
          <a:xfrm>
            <a:off x="457200" y="1101856"/>
            <a:ext cx="808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33D4EC-0BD3-56CC-17B7-3615842C8FAE}"/>
              </a:ext>
            </a:extLst>
          </p:cNvPr>
          <p:cNvSpPr txBox="1"/>
          <p:nvPr/>
        </p:nvSpPr>
        <p:spPr>
          <a:xfrm>
            <a:off x="312637" y="3096692"/>
            <a:ext cx="817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3057535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6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Priority Queues</a:t>
            </a:r>
            <a:endParaRPr sz="3200"/>
          </a:p>
        </p:txBody>
      </p:sp>
      <p:sp>
        <p:nvSpPr>
          <p:cNvPr id="462" name="Google Shape;462;p46"/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6"/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6"/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6"/>
          <p:cNvSpPr txBox="1"/>
          <p:nvPr/>
        </p:nvSpPr>
        <p:spPr>
          <a:xfrm>
            <a:off x="457200" y="1101856"/>
            <a:ext cx="8082000" cy="44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Priority Queues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an abstract data type (ADT) that stores elements along with their priorities. Unlike a regular queue (FIFO), a priority queue removes elements based on their priority, not their insertion order.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element in a priority queue is stored as a key-value pair (k, v):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(k):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Represents the priority (lower key → higher priority).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 (v):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actual data associated with the key.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element with the smallest key is dequeued first.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7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Priority Queues</a:t>
            </a:r>
            <a:endParaRPr sz="3200"/>
          </a:p>
        </p:txBody>
      </p:sp>
      <p:sp>
        <p:nvSpPr>
          <p:cNvPr id="472" name="Google Shape;472;p47"/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7"/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7"/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7"/>
          <p:cNvSpPr txBox="1"/>
          <p:nvPr/>
        </p:nvSpPr>
        <p:spPr>
          <a:xfrm>
            <a:off x="703650" y="1228925"/>
            <a:ext cx="7736700" cy="25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❖"/>
            </a:pP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 Operations: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add(k, v): </a:t>
            </a: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Inserts an item with key k and value v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min():</a:t>
            </a: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Returns the item (k, v) with the smallest key without removing it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remove_min</a:t>
            </a:r>
            <a:r>
              <a:rPr lang="en-US" sz="23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():</a:t>
            </a: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Removes and returns the item (k, v) with the smallest key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6" name="Google Shape;47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450" y="3729987"/>
            <a:ext cx="6403100" cy="272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8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Priority Queues</a:t>
            </a:r>
            <a:endParaRPr sz="3200"/>
          </a:p>
        </p:txBody>
      </p:sp>
      <p:sp>
        <p:nvSpPr>
          <p:cNvPr id="483" name="Google Shape;483;p48"/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8"/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8"/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8"/>
          <p:cNvSpPr txBox="1"/>
          <p:nvPr/>
        </p:nvSpPr>
        <p:spPr>
          <a:xfrm>
            <a:off x="637650" y="928075"/>
            <a:ext cx="7868700" cy="54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 of Priority Queues: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57250" lvl="1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○"/>
            </a:pP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Problem: How does an air-traffic control system manage landing priority efficiently?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57250" lvl="1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○"/>
            </a:pP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14450" lvl="0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Planes are prioritized based on urgency rather than arrival order.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14450" lvl="0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Factors affecting priority: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57350" lvl="0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from the runway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57350" lvl="0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spent in holding pattern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57350" lvl="0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Remaining fuel level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14450" lvl="0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plane with the highest priority is cleared for landing first.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9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dirty="0"/>
              <a:t>Priority Queues</a:t>
            </a:r>
            <a:endParaRPr sz="3200" dirty="0"/>
          </a:p>
        </p:txBody>
      </p:sp>
      <p:sp>
        <p:nvSpPr>
          <p:cNvPr id="493" name="Google Shape;493;p49"/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9"/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9"/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92985-CD12-C0F0-BC25-DEE708FC1CDB}"/>
              </a:ext>
            </a:extLst>
          </p:cNvPr>
          <p:cNvSpPr txBox="1"/>
          <p:nvPr/>
        </p:nvSpPr>
        <p:spPr>
          <a:xfrm>
            <a:off x="457200" y="973206"/>
            <a:ext cx="76298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Example:</a:t>
            </a:r>
          </a:p>
          <a:p>
            <a:r>
              <a:rPr lang="en-US" sz="2000" dirty="0"/>
              <a:t>Simulate a </a:t>
            </a:r>
            <a:r>
              <a:rPr lang="en-US" sz="2000" b="1" dirty="0"/>
              <a:t>queue of people</a:t>
            </a:r>
            <a:r>
              <a:rPr lang="en-US" sz="2000" dirty="0"/>
              <a:t> waiting for a service (like at a bank). Each person arrives at the bank and waits for their turn to be 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4A0B11-4594-CB01-1DA4-4FE1474369EE}"/>
              </a:ext>
            </a:extLst>
          </p:cNvPr>
          <p:cNvSpPr txBox="1"/>
          <p:nvPr/>
        </p:nvSpPr>
        <p:spPr>
          <a:xfrm>
            <a:off x="934064" y="5507434"/>
            <a:ext cx="76298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Modify the program to include </a:t>
            </a:r>
            <a:r>
              <a:rPr lang="en-US" sz="2000" b="1" dirty="0"/>
              <a:t>priority</a:t>
            </a:r>
            <a:r>
              <a:rPr lang="en-US" sz="2000" dirty="0"/>
              <a:t>. For example, VIP customers should be served first.</a:t>
            </a:r>
          </a:p>
        </p:txBody>
      </p:sp>
      <p:pic>
        <p:nvPicPr>
          <p:cNvPr id="5126" name="Picture 6" descr="Businessman Pointing On Sign Vip Golden Stock Photo 217875535 ...">
            <a:extLst>
              <a:ext uri="{FF2B5EF4-FFF2-40B4-BE49-F238E27FC236}">
                <a16:creationId xmlns:a16="http://schemas.microsoft.com/office/drawing/2014/main" id="{6A9DF2D5-E166-3FB4-9C71-757DD7F067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48"/>
          <a:stretch/>
        </p:blipFill>
        <p:spPr bwMode="auto">
          <a:xfrm>
            <a:off x="2714625" y="2308867"/>
            <a:ext cx="3714750" cy="237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>
          <a:extLst>
            <a:ext uri="{FF2B5EF4-FFF2-40B4-BE49-F238E27FC236}">
              <a16:creationId xmlns:a16="http://schemas.microsoft.com/office/drawing/2014/main" id="{FF24F1AE-5FF5-77E8-6B04-90052DB37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0">
            <a:extLst>
              <a:ext uri="{FF2B5EF4-FFF2-40B4-BE49-F238E27FC236}">
                <a16:creationId xmlns:a16="http://schemas.microsoft.com/office/drawing/2014/main" id="{268369D4-F241-28E6-00E6-1334B74552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dirty="0"/>
              <a:t>Priority Queues</a:t>
            </a:r>
            <a:endParaRPr sz="2900" dirty="0"/>
          </a:p>
        </p:txBody>
      </p:sp>
      <p:sp>
        <p:nvSpPr>
          <p:cNvPr id="394" name="Google Shape;394;p40">
            <a:extLst>
              <a:ext uri="{FF2B5EF4-FFF2-40B4-BE49-F238E27FC236}">
                <a16:creationId xmlns:a16="http://schemas.microsoft.com/office/drawing/2014/main" id="{9BE73C77-628B-A5D6-EEDE-A25BB9F18B64}"/>
              </a:ext>
            </a:extLst>
          </p:cNvPr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0">
            <a:extLst>
              <a:ext uri="{FF2B5EF4-FFF2-40B4-BE49-F238E27FC236}">
                <a16:creationId xmlns:a16="http://schemas.microsoft.com/office/drawing/2014/main" id="{B1A23CDC-CC58-FC08-0F43-EB8524791111}"/>
              </a:ext>
            </a:extLst>
          </p:cNvPr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FEEE9E81-15A5-BE4E-D217-434E6F864648}"/>
              </a:ext>
            </a:extLst>
          </p:cNvPr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0">
            <a:extLst>
              <a:ext uri="{FF2B5EF4-FFF2-40B4-BE49-F238E27FC236}">
                <a16:creationId xmlns:a16="http://schemas.microsoft.com/office/drawing/2014/main" id="{FC686240-4DCA-4839-DE82-AB7B8AE4AB85}"/>
              </a:ext>
            </a:extLst>
          </p:cNvPr>
          <p:cNvSpPr txBox="1"/>
          <p:nvPr/>
        </p:nvSpPr>
        <p:spPr>
          <a:xfrm>
            <a:off x="457200" y="1101856"/>
            <a:ext cx="808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5FA058-D5CA-204C-CCEB-B4166F0EB470}"/>
              </a:ext>
            </a:extLst>
          </p:cNvPr>
          <p:cNvSpPr txBox="1"/>
          <p:nvPr/>
        </p:nvSpPr>
        <p:spPr>
          <a:xfrm>
            <a:off x="312637" y="3096692"/>
            <a:ext cx="817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2999450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3"/>
          <p:cNvSpPr txBox="1">
            <a:spLocks noGrp="1"/>
          </p:cNvSpPr>
          <p:nvPr>
            <p:ph type="title"/>
          </p:nvPr>
        </p:nvSpPr>
        <p:spPr>
          <a:xfrm>
            <a:off x="457200" y="159654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404040"/>
                </a:solidFill>
              </a:rPr>
              <a:t>Q &amp; A</a:t>
            </a:r>
            <a:endParaRPr/>
          </a:p>
        </p:txBody>
      </p:sp>
      <p:sp>
        <p:nvSpPr>
          <p:cNvPr id="533" name="Google Shape;533;p53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53"/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3"/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3"/>
          <p:cNvSpPr txBox="1"/>
          <p:nvPr/>
        </p:nvSpPr>
        <p:spPr>
          <a:xfrm>
            <a:off x="703007" y="1358998"/>
            <a:ext cx="5127521" cy="1064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699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Lecture-Code:</a:t>
            </a:r>
            <a:endParaRPr/>
          </a:p>
          <a:p>
            <a:pPr marL="927100" marR="0" lvl="1" indent="-457200" algn="l" rtl="0"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13.1 - 13.7</a:t>
            </a:r>
            <a:endParaRPr sz="2600" b="0" i="0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7" name="Google Shape;537;p53" descr="PPT - Overview of DBMS recovery and concurrency control: PowerPoint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1371600"/>
            <a:ext cx="4038600" cy="30289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538" name="Google Shape;538;p53" descr="Funny Questions Comments or Concern Sign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67200" y="1523373"/>
            <a:ext cx="3811254" cy="3811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2168</Words>
  <Application>Microsoft Office PowerPoint</Application>
  <PresentationFormat>On-screen Show (4:3)</PresentationFormat>
  <Paragraphs>279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Calibri</vt:lpstr>
      <vt:lpstr>Inter</vt:lpstr>
      <vt:lpstr>Arial</vt:lpstr>
      <vt:lpstr>Noto Sans Symbols</vt:lpstr>
      <vt:lpstr>Consolas</vt:lpstr>
      <vt:lpstr>Office Theme</vt:lpstr>
      <vt:lpstr>CHAPTER 6-9:CORE DATA STRUCTURES</vt:lpstr>
      <vt:lpstr>Contents</vt:lpstr>
      <vt:lpstr>Objective</vt:lpstr>
      <vt:lpstr>Motivation</vt:lpstr>
      <vt:lpstr>Motivation</vt:lpstr>
      <vt:lpstr>Motivation</vt:lpstr>
      <vt:lpstr>Stacks</vt:lpstr>
      <vt:lpstr>Stacks</vt:lpstr>
      <vt:lpstr>Stacks</vt:lpstr>
      <vt:lpstr>Stacks</vt:lpstr>
      <vt:lpstr>Stacks</vt:lpstr>
      <vt:lpstr>Stacks</vt:lpstr>
      <vt:lpstr>Stacks</vt:lpstr>
      <vt:lpstr>Stacks</vt:lpstr>
      <vt:lpstr>Queues</vt:lpstr>
      <vt:lpstr>Queues</vt:lpstr>
      <vt:lpstr>Queues</vt:lpstr>
      <vt:lpstr>Queues</vt:lpstr>
      <vt:lpstr>Queues</vt:lpstr>
      <vt:lpstr>Queues</vt:lpstr>
      <vt:lpstr>Queues</vt:lpstr>
      <vt:lpstr>Main limitations of Stack &amp; Queues</vt:lpstr>
      <vt:lpstr>Linked Lists</vt:lpstr>
      <vt:lpstr>Linked Lists</vt:lpstr>
      <vt:lpstr>Linked Lists</vt:lpstr>
      <vt:lpstr>Linked Lists</vt:lpstr>
      <vt:lpstr>Linked Lists</vt:lpstr>
      <vt:lpstr>Priority Queues</vt:lpstr>
      <vt:lpstr>Priority Queues</vt:lpstr>
      <vt:lpstr>Priority Queues</vt:lpstr>
      <vt:lpstr>Priority Queues</vt:lpstr>
      <vt:lpstr>Priority Queues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PC</dc:creator>
  <cp:lastModifiedBy>Sothea Has</cp:lastModifiedBy>
  <cp:revision>60</cp:revision>
  <dcterms:modified xsi:type="dcterms:W3CDTF">2025-02-14T03:00:04Z</dcterms:modified>
</cp:coreProperties>
</file>